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2e69abfa14444e" /><Relationship Type="http://schemas.openxmlformats.org/officeDocument/2006/relationships/extended-properties" Target="/docProps/app.xml" Id="R42f82b51f190416a" /><Relationship Type="http://schemas.openxmlformats.org/officeDocument/2006/relationships/officeDocument" Target="/ppt/presentation.xml" Id="Rabdd1285fdba43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d5cf23cfbe4452"/>
    <p:sldMasterId xmlns:r="http://schemas.openxmlformats.org/officeDocument/2006/relationships" id="2147483660" r:id="Rc1c463f1fc964e19"/>
  </p:sldMasterIdLst>
  <p:notesMasterIdLst>
    <p:notesMasterId xmlns:r="http://schemas.openxmlformats.org/officeDocument/2006/relationships" r:id="Rfded858c78db49a0"/>
  </p:notesMasterIdLst>
  <p:sldIdLst>
    <p:sldId xmlns:r="http://schemas.openxmlformats.org/officeDocument/2006/relationships" id="256" r:id="R81fee442b4a240ac"/>
    <p:sldId xmlns:r="http://schemas.openxmlformats.org/officeDocument/2006/relationships" id="257" r:id="Rf7b0f82da5c14b79"/>
    <p:sldId xmlns:r="http://schemas.openxmlformats.org/officeDocument/2006/relationships" id="258" r:id="R002dd5cbcbac4a2f"/>
    <p:sldId xmlns:r="http://schemas.openxmlformats.org/officeDocument/2006/relationships" id="259" r:id="Re452d3824edc4bb5"/>
    <p:sldId xmlns:r="http://schemas.openxmlformats.org/officeDocument/2006/relationships" id="260" r:id="R02ce591254264310"/>
    <p:sldId xmlns:r="http://schemas.openxmlformats.org/officeDocument/2006/relationships" id="261" r:id="Rcefdf7b8423d4368"/>
    <p:sldId xmlns:r="http://schemas.openxmlformats.org/officeDocument/2006/relationships" id="262" r:id="Rb613a61f1fe14173"/>
    <p:sldId xmlns:r="http://schemas.openxmlformats.org/officeDocument/2006/relationships" id="263" r:id="R48a3f879b41c45ce"/>
    <p:sldId xmlns:r="http://schemas.openxmlformats.org/officeDocument/2006/relationships" id="264" r:id="R7e69643a6dda4210"/>
    <p:sldId xmlns:r="http://schemas.openxmlformats.org/officeDocument/2006/relationships" id="265" r:id="R5dd4a8f2f808450b"/>
    <p:sldId xmlns:r="http://schemas.openxmlformats.org/officeDocument/2006/relationships" id="266" r:id="Rdb93a4c075f0493e"/>
    <p:sldId xmlns:r="http://schemas.openxmlformats.org/officeDocument/2006/relationships" id="267" r:id="Rd2f30a1662e6489c"/>
    <p:sldId xmlns:r="http://schemas.openxmlformats.org/officeDocument/2006/relationships" id="268" r:id="Rb2060a08afe74bef"/>
    <p:sldId xmlns:r="http://schemas.openxmlformats.org/officeDocument/2006/relationships" id="269" r:id="R2ca04932b11542fa"/>
    <p:sldId xmlns:r="http://schemas.openxmlformats.org/officeDocument/2006/relationships" id="270" r:id="R61ba575c677d4f95"/>
    <p:sldId xmlns:r="http://schemas.openxmlformats.org/officeDocument/2006/relationships" id="271" r:id="Ra3c23d9de0fe4305"/>
    <p:sldId xmlns:r="http://schemas.openxmlformats.org/officeDocument/2006/relationships" id="272" r:id="R83e091ef608f4390"/>
    <p:sldId xmlns:r="http://schemas.openxmlformats.org/officeDocument/2006/relationships" id="273" r:id="Ra3c0e0121d814613"/>
    <p:sldId xmlns:r="http://schemas.openxmlformats.org/officeDocument/2006/relationships" id="274" r:id="Rce3a6efd8da54fa2"/>
    <p:sldId xmlns:r="http://schemas.openxmlformats.org/officeDocument/2006/relationships" id="275" r:id="Rdf62017846b94966"/>
    <p:sldId xmlns:r="http://schemas.openxmlformats.org/officeDocument/2006/relationships" id="276" r:id="R3c10ca4730294794"/>
    <p:sldId xmlns:r="http://schemas.openxmlformats.org/officeDocument/2006/relationships" id="277" r:id="R29eb4a9c2f2441d8"/>
    <p:sldId xmlns:r="http://schemas.openxmlformats.org/officeDocument/2006/relationships" id="278" r:id="Rb7ddf1419f1b43d9"/>
    <p:sldId xmlns:r="http://schemas.openxmlformats.org/officeDocument/2006/relationships" id="279" r:id="Re022154f4d3840a4"/>
    <p:sldId xmlns:r="http://schemas.openxmlformats.org/officeDocument/2006/relationships" id="280" r:id="Ra89e38d87ad74947"/>
    <p:sldId xmlns:r="http://schemas.openxmlformats.org/officeDocument/2006/relationships" id="281" r:id="Rd91b8200fb9d4e56"/>
    <p:sldId xmlns:r="http://schemas.openxmlformats.org/officeDocument/2006/relationships" id="282" r:id="R6b140bed0b214209"/>
    <p:sldId xmlns:r="http://schemas.openxmlformats.org/officeDocument/2006/relationships" id="283" r:id="Ra12d31f87b334f21"/>
    <p:sldId xmlns:r="http://schemas.openxmlformats.org/officeDocument/2006/relationships" id="284" r:id="R6807c9430ba24c08"/>
    <p:sldId xmlns:r="http://schemas.openxmlformats.org/officeDocument/2006/relationships" id="285" r:id="R7891c279b72347a4"/>
    <p:sldId xmlns:r="http://schemas.openxmlformats.org/officeDocument/2006/relationships" id="286" r:id="Rc85a5ad1e95d471f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88f6bce29a4d18" /><Relationship Type="http://schemas.openxmlformats.org/officeDocument/2006/relationships/slideMaster" Target="/ppt/slideMasters/slideMaster1.xml" Id="Radd5cf23cfbe4452" /><Relationship Type="http://schemas.openxmlformats.org/officeDocument/2006/relationships/slideMaster" Target="/ppt/slideMasters/slideMaster2.xml" Id="Rc1c463f1fc964e19" /><Relationship Type="http://schemas.openxmlformats.org/officeDocument/2006/relationships/notesMaster" Target="/ppt/notesMasters/notesMaster1.xml" Id="Rfded858c78db49a0" /><Relationship Type="http://schemas.openxmlformats.org/officeDocument/2006/relationships/presProps" Target="/ppt/presProps.xml" Id="R5fcd22f65f9d483f" /><Relationship Type="http://schemas.openxmlformats.org/officeDocument/2006/relationships/viewProps" Target="/ppt/viewProps.xml" Id="R7ea2cad6a1254c50" /><Relationship Type="http://schemas.openxmlformats.org/officeDocument/2006/relationships/tableStyles" Target="/ppt/tableStyles.xml" Id="R00f46d93d55e4be0" /><Relationship Type="http://schemas.openxmlformats.org/officeDocument/2006/relationships/slide" Target="/ppt/slides/slide1.xml" Id="R81fee442b4a240ac" /><Relationship Type="http://schemas.openxmlformats.org/officeDocument/2006/relationships/slide" Target="/ppt/slides/slide2.xml" Id="Rf7b0f82da5c14b79" /><Relationship Type="http://schemas.openxmlformats.org/officeDocument/2006/relationships/slide" Target="/ppt/slides/slide3.xml" Id="R002dd5cbcbac4a2f" /><Relationship Type="http://schemas.openxmlformats.org/officeDocument/2006/relationships/slide" Target="/ppt/slides/slide4.xml" Id="Re452d3824edc4bb5" /><Relationship Type="http://schemas.openxmlformats.org/officeDocument/2006/relationships/slide" Target="/ppt/slides/slide5.xml" Id="R02ce591254264310" /><Relationship Type="http://schemas.openxmlformats.org/officeDocument/2006/relationships/slide" Target="/ppt/slides/slide6.xml" Id="Rcefdf7b8423d4368" /><Relationship Type="http://schemas.openxmlformats.org/officeDocument/2006/relationships/slide" Target="/ppt/slides/slide7.xml" Id="Rb613a61f1fe14173" /><Relationship Type="http://schemas.openxmlformats.org/officeDocument/2006/relationships/slide" Target="/ppt/slides/slide8.xml" Id="R48a3f879b41c45ce" /><Relationship Type="http://schemas.openxmlformats.org/officeDocument/2006/relationships/slide" Target="/ppt/slides/slide9.xml" Id="R7e69643a6dda4210" /><Relationship Type="http://schemas.openxmlformats.org/officeDocument/2006/relationships/slide" Target="/ppt/slides/slide10.xml" Id="R5dd4a8f2f808450b" /><Relationship Type="http://schemas.openxmlformats.org/officeDocument/2006/relationships/slide" Target="/ppt/slides/slide11.xml" Id="Rdb93a4c075f0493e" /><Relationship Type="http://schemas.openxmlformats.org/officeDocument/2006/relationships/slide" Target="/ppt/slides/slide12.xml" Id="Rd2f30a1662e6489c" /><Relationship Type="http://schemas.openxmlformats.org/officeDocument/2006/relationships/slide" Target="/ppt/slides/slide13.xml" Id="Rb2060a08afe74bef" /><Relationship Type="http://schemas.openxmlformats.org/officeDocument/2006/relationships/slide" Target="/ppt/slides/slide14.xml" Id="R2ca04932b11542fa" /><Relationship Type="http://schemas.openxmlformats.org/officeDocument/2006/relationships/slide" Target="/ppt/slides/slide15.xml" Id="R61ba575c677d4f95" /><Relationship Type="http://schemas.openxmlformats.org/officeDocument/2006/relationships/slide" Target="/ppt/slides/slide16.xml" Id="Ra3c23d9de0fe4305" /><Relationship Type="http://schemas.openxmlformats.org/officeDocument/2006/relationships/slide" Target="/ppt/slides/slide17.xml" Id="R83e091ef608f4390" /><Relationship Type="http://schemas.openxmlformats.org/officeDocument/2006/relationships/slide" Target="/ppt/slides/slide18.xml" Id="Ra3c0e0121d814613" /><Relationship Type="http://schemas.openxmlformats.org/officeDocument/2006/relationships/slide" Target="/ppt/slides/slide19.xml" Id="Rce3a6efd8da54fa2" /><Relationship Type="http://schemas.openxmlformats.org/officeDocument/2006/relationships/slide" Target="/ppt/slides/slide20.xml" Id="Rdf62017846b94966" /><Relationship Type="http://schemas.openxmlformats.org/officeDocument/2006/relationships/slide" Target="/ppt/slides/slide21.xml" Id="R3c10ca4730294794" /><Relationship Type="http://schemas.openxmlformats.org/officeDocument/2006/relationships/slide" Target="/ppt/slides/slide22.xml" Id="R29eb4a9c2f2441d8" /><Relationship Type="http://schemas.openxmlformats.org/officeDocument/2006/relationships/slide" Target="/ppt/slides/slide23.xml" Id="Rb7ddf1419f1b43d9" /><Relationship Type="http://schemas.openxmlformats.org/officeDocument/2006/relationships/slide" Target="/ppt/slides/slide24.xml" Id="Re022154f4d3840a4" /><Relationship Type="http://schemas.openxmlformats.org/officeDocument/2006/relationships/slide" Target="/ppt/slides/slide25.xml" Id="Ra89e38d87ad74947" /><Relationship Type="http://schemas.openxmlformats.org/officeDocument/2006/relationships/slide" Target="/ppt/slides/slide26.xml" Id="Rd91b8200fb9d4e56" /><Relationship Type="http://schemas.openxmlformats.org/officeDocument/2006/relationships/slide" Target="/ppt/slides/slide27.xml" Id="R6b140bed0b214209" /><Relationship Type="http://schemas.openxmlformats.org/officeDocument/2006/relationships/slide" Target="/ppt/slides/slide28.xml" Id="Ra12d31f87b334f21" /><Relationship Type="http://schemas.openxmlformats.org/officeDocument/2006/relationships/slide" Target="/ppt/slides/slide29.xml" Id="R6807c9430ba24c08" /><Relationship Type="http://schemas.openxmlformats.org/officeDocument/2006/relationships/slide" Target="/ppt/slides/slide30.xml" Id="R7891c279b72347a4" /><Relationship Type="http://schemas.openxmlformats.org/officeDocument/2006/relationships/slide" Target="/ppt/slides/slide31.xml" Id="Rc85a5ad1e95d47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b95d2c3de2e42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4691817cf84f5f" /><Relationship Type="http://schemas.openxmlformats.org/officeDocument/2006/relationships/notesMaster" Target="/ppt/notesMasters/notesMaster1.xml" Id="R256acef995b3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d3ba333d9f4766" /><Relationship Type="http://schemas.openxmlformats.org/officeDocument/2006/relationships/notesMaster" Target="/ppt/notesMasters/notesMaster1.xml" Id="Rdb366e31004542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d01371d8e644db" /><Relationship Type="http://schemas.openxmlformats.org/officeDocument/2006/relationships/notesMaster" Target="/ppt/notesMasters/notesMaster1.xml" Id="R3ca74ef4ea5543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62a07b46684a21" /><Relationship Type="http://schemas.openxmlformats.org/officeDocument/2006/relationships/notesMaster" Target="/ppt/notesMasters/notesMaster1.xml" Id="R89807b7f29b946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d07804269f4afd" /><Relationship Type="http://schemas.openxmlformats.org/officeDocument/2006/relationships/notesMaster" Target="/ppt/notesMasters/notesMaster1.xml" Id="Re18c2fdd60474c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ed05e6f5b44aa5" /><Relationship Type="http://schemas.openxmlformats.org/officeDocument/2006/relationships/notesMaster" Target="/ppt/notesMasters/notesMaster1.xml" Id="Rd1b3d339d86244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b647ad85194b3e" /><Relationship Type="http://schemas.openxmlformats.org/officeDocument/2006/relationships/notesMaster" Target="/ppt/notesMasters/notesMaster1.xml" Id="R162be641591848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399bf02f564fcb" /><Relationship Type="http://schemas.openxmlformats.org/officeDocument/2006/relationships/notesMaster" Target="/ppt/notesMasters/notesMaster1.xml" Id="R6bb10ffbafcb4d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7e33c1b11247e1" /><Relationship Type="http://schemas.openxmlformats.org/officeDocument/2006/relationships/notesMaster" Target="/ppt/notesMasters/notesMaster1.xml" Id="R77b4c777f7a94d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7268b51e94487f" /><Relationship Type="http://schemas.openxmlformats.org/officeDocument/2006/relationships/notesMaster" Target="/ppt/notesMasters/notesMaster1.xml" Id="Rd72eb6b8b5e745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3197ec298a460c" /><Relationship Type="http://schemas.openxmlformats.org/officeDocument/2006/relationships/notesMaster" Target="/ppt/notesMasters/notesMaster1.xml" Id="R9f5391f09d674c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5417e869634c06" /><Relationship Type="http://schemas.openxmlformats.org/officeDocument/2006/relationships/notesMaster" Target="/ppt/notesMasters/notesMaster1.xml" Id="Rc2b1c8c3bf2d41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e1ea2db31041da" /><Relationship Type="http://schemas.openxmlformats.org/officeDocument/2006/relationships/notesMaster" Target="/ppt/notesMasters/notesMaster1.xml" Id="Rce72379de3af40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e1b9a534d84ed4" /><Relationship Type="http://schemas.openxmlformats.org/officeDocument/2006/relationships/notesMaster" Target="/ppt/notesMasters/notesMaster1.xml" Id="R8952b6daeb8345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461a181a244426" /><Relationship Type="http://schemas.openxmlformats.org/officeDocument/2006/relationships/notesMaster" Target="/ppt/notesMasters/notesMaster1.xml" Id="R468e170dacd74e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880baa90c04068" /><Relationship Type="http://schemas.openxmlformats.org/officeDocument/2006/relationships/notesMaster" Target="/ppt/notesMasters/notesMaster1.xml" Id="R580c732bdbe64e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2440ae99f342b9" /><Relationship Type="http://schemas.openxmlformats.org/officeDocument/2006/relationships/notesMaster" Target="/ppt/notesMasters/notesMaster1.xml" Id="R5b4e67cc677f40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d2abada85a4deb" /><Relationship Type="http://schemas.openxmlformats.org/officeDocument/2006/relationships/notesMaster" Target="/ppt/notesMasters/notesMaster1.xml" Id="Reb9904d4fdf24e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015d7c9ae24fd1" /><Relationship Type="http://schemas.openxmlformats.org/officeDocument/2006/relationships/notesMaster" Target="/ppt/notesMasters/notesMaster1.xml" Id="R7518c77f7cee41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79280de6687486c" /><Relationship Type="http://schemas.openxmlformats.org/officeDocument/2006/relationships/notesMaster" Target="/ppt/notesMasters/notesMaster1.xml" Id="Rf04921ba3ac748e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c83144f8e747b5" /><Relationship Type="http://schemas.openxmlformats.org/officeDocument/2006/relationships/notesMaster" Target="/ppt/notesMasters/notesMaster1.xml" Id="R1f7856fbc9394a0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0f24cdfe1241b6" /><Relationship Type="http://schemas.openxmlformats.org/officeDocument/2006/relationships/notesMaster" Target="/ppt/notesMasters/notesMaster1.xml" Id="R8788c37daa9e4e1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b957c5cfcc24b8d" /><Relationship Type="http://schemas.openxmlformats.org/officeDocument/2006/relationships/notesMaster" Target="/ppt/notesMasters/notesMaster1.xml" Id="R0f60dbc842654df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544a306cfc4b8d" /><Relationship Type="http://schemas.openxmlformats.org/officeDocument/2006/relationships/notesMaster" Target="/ppt/notesMasters/notesMaster1.xml" Id="Rbb230d3e80614f0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0d3f1576a304688" /><Relationship Type="http://schemas.openxmlformats.org/officeDocument/2006/relationships/notesMaster" Target="/ppt/notesMasters/notesMaster1.xml" Id="R663c74f59ff044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6451b6fc0f64b2d" /><Relationship Type="http://schemas.openxmlformats.org/officeDocument/2006/relationships/notesMaster" Target="/ppt/notesMasters/notesMaster1.xml" Id="R4e1fa7dc915f400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7bcc0713f754867" /><Relationship Type="http://schemas.openxmlformats.org/officeDocument/2006/relationships/notesMaster" Target="/ppt/notesMasters/notesMaster1.xml" Id="R55c4b7cea6704bd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12ddefabe504a70" /><Relationship Type="http://schemas.openxmlformats.org/officeDocument/2006/relationships/notesMaster" Target="/ppt/notesMasters/notesMaster1.xml" Id="R0d6b052587f746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86813e450ef4d2a" /><Relationship Type="http://schemas.openxmlformats.org/officeDocument/2006/relationships/notesMaster" Target="/ppt/notesMasters/notesMaster1.xml" Id="Reaba0d557bab4dd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3f0ec2567b34e82" /><Relationship Type="http://schemas.openxmlformats.org/officeDocument/2006/relationships/notesMaster" Target="/ppt/notesMasters/notesMaster1.xml" Id="Rd532c9f83d74465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e3afd5ccd504ed1" /><Relationship Type="http://schemas.openxmlformats.org/officeDocument/2006/relationships/notesMaster" Target="/ppt/notesMasters/notesMaster1.xml" Id="Rcd59376bad6448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Bonjour. Review Insights+ : un POC NLP qui transforme les avis clients en décisions tracées. 45 minutes, démo incluse.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45 minutes : contexte, puis l'application en deux temps, la démo, et la trajectoire. Questions à la fin.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45 minutes : contexte, puis l'application en deux temps, la démo, et la trajectoire. Questions à la fin.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Une note de 2 étoiles ne dit pas pourquoi. Le produit était bon ; c'est la livraison qui a échoué. Le système sépare les deux et priorise l'irritant.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Une note de 2 étoiles ne dit pas pourquoi. Le produit était bon ; c'est la livraison qui a échoué. Le système sépare les deux et priorise l'irritant.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Trois jeux de données à ne pas confondre : l'ambition, la fixture d'intégration, et le benchmark. Seul le benchmark de 40 avis fonde les métriques présentées.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Trois datasets sont désormais enregistrés : gold 900, corpus réel étendu et mix final de 10 311 lignes. Le test aveugle réel de 150 avis reste verrouillé.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file:///C:/Users/franc_ppcp5lu/Documents/Review%20Insights%20POC/data/external/fabsa/gold_900_v1/manifest.json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file:///C:/Users/franc_ppcp5lu/Documents/Review%20Insights%20POC/data/external/fabsa/gold_expanded_v1/manifest.json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file:///C:/Users/franc_ppcp5lu/Documents/Review%20Insights%20POC/data/external/fabsa/training_mix_v1/manifest.json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 pipeline découpe l'inférence en deux étapes strictes : d'abord les thèmes en multi-label, ensuite le sentiment calculé uniquement sur les thèmes détectés. C'est ce qui évite la contamination.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 modèle hybride mots + caractères est le champion MLflow v8 servi par défaut. Le backend DistilBERT reste une option technique, mais n’a pas été comparé sur le blind test v2.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file:///C:/Users/franc_ppcp5lu/Documents/Review%20Insights%20POC/reports/real_mixed_cycle/RAPPORT_FINAL_FR.md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file:///C:/Users/franc_ppcp5lu/Documents/Review%20Insights%20POC/reports/real_mixed_cycle/blind_test_hybrid_lr_c4.json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 étapes de l'entrée à la gate de décision. Si la confiance est haute, action métier ; sinon, escalade en revue humaine.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Test aveugle sur 150 avis réels stratifiés. Le champion v8 franchit les gates sentiment et thèmes ; le chemin API complet escalade 4 % des avis.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file:///C:/Users/franc_ppcp5lu/Documents/Review%20Insights%20POC/reports/real_mixed_cycle/blind_test_hybrid_lr_c4.json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file:///C:/Users/franc_ppcp5lu/Documents/Review%20Insights%20POC/reports/real_mixed_cycle/RAPPORT_FINAL_FR.md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Les trois gates de promotion sont franchis. Le taux de revue humaine présenté ici correspond au chemin API réel avec garde-fou de conflit : 4 %, soit 6 avis sur 150.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file:///C:/Users/franc_ppcp5lu/Documents/Review%20Insights%20POC/reports/real_mixed_cycle/blind_test_hybrid_lr_c4.json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file:///C:/Users/franc_ppcp5lu/Documents/Review%20Insights%20POC/reports/real_mixed_cycle/promotion.json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Trois enseignements : les données réelles soutiennent désormais la décision ; le mix réel + synthétique améliore la robustesse ; le rappel livraison doit rester sous surveillance.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file:///C:/Users/franc_ppcp5lu/Documents/Review%20Insights%20POC/reports/real_mixed_cycle/RAPPORT_FINAL_FR.md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file:///C:/Users/franc_ppcp5lu/Documents/Review%20Insights%20POC/reports/real_mixed_cycle/blind_test_hybrid_lr_c4.json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Trois enseignements : le thème est plus fiable que le sentiment ; une preuve technique n'est pas une preuve statistique ; et les erreurs n'ont pas le même coût métier.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 cycle champion v8 se termine avec 126 tests passés, Ruff propre et 10 scénarios fonctionnels sur 10 validés.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file:///C:/Users/franc_ppcp5lu/Documents/Review%20Insights%20POC/docs/TESTS_FONCTIONNELS_FR.md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file:///C:/Users/franc_ppcp5lu/Documents/Review%20Insights%20POC/reports/real_mixed_cycle/RAPPORT_FINAL_FR.md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Quatre couches strictement séparées : application, orchestration, gouvernance ML, observabilité. Une action utilisateur ne peut pas contaminer le cycle de vie des modèles.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Trois outils, trois responsabilités : Dagster exécute, DVC fournit la matière première, MLflow certifie le résultat.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 modèle review-insights-project-models version 8 porte les alias champion et candidate. La version 7 reste previous_champion pour un rollback atomique.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file:///C:/Users/franc_ppcp5lu/Documents/Review%20Insights%20POC/reports/real_mixed_cycle/mlflow_registration.json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file:///C:/Users/franc_ppcp5lu/Documents/Review%20Insights%20POC/reports/real_mixed_cycle/promotion.json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 champion v8 n’est pas réentraîné en boucle sur le même test. Le prochain cycle attend 100 à 200 feedbacks réels, construit un nouveau holdout et conserve le blind actuel comme historique.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file:///C:/Users/franc_ppcp5lu/Documents/Review%20Insights%20POC/reports/real_mixed_cycle/RAPPORT_FINAL_FR.md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file:///C:/Users/franc_ppcp5lu/Documents/Review%20Insights%20POC/config/model_promotion_policy.json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Les quatre dashboards Grafana ont été contrôlés visuellement : API UP, data READY, 10 311 lignes et gate approuvé. Deux alertes de drift historiques restent visibles et nécessitent une décision humaine.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file:///C:/Users/franc_ppcp5lu/Documents/Review%20Insights%20POC/reports/real_mixed_cycle/RAPPORT_FINAL_FR.md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file:///C:/Users/franc_ppcp5lu/Documents/Review%20Insights%20POC/reports/default_evaluation.json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 cycle est complet mais volontairement interrompu : aucun cron ne relance l'apprentissage. La promotion reste un acte managérial explicite.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Trois outils, trois responsabilités : Dagster exécute, DVC fournit la matière première, MLflow certifie le résultat.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Trois outils, trois responsabilités : Dagster exécute, DVC fournit la matière première, MLflow certifie le résultat.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La feuille de route commence désormais après la promotion du champion v8 : feedbacks réels, nouveau holdout, pilote métier, puis décision go/no-go.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file:///C:/Users/franc_ppcp5lu/Documents/Review%20Insights%20POC/reports/real_mixed_cycle/RAPPORT_FINAL_FR.md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Positionnement final : une preuve de système, pas un modèle isolé. Les thèmes sont exploitables, le sentiment reste à consolider.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Quatre risques identifiés, dont deux P0 bloquants pour un usage B2C : la conformité RGPD et la sécurité des API.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 garde-fou est devenu ciblé : 4 % des avis du blind test réel passent en revue humaine sur le chemin API complet. L’automatisation totale reste conditionnée aux feedbacks du pilote.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[Sources]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file:///C:/Users/franc_ppcp5lu/Documents/Review%20Insights%20POC/reports/real_mixed_cycle/blind_test_hybrid_lr_c4.json</a:t>
            </a:r>
            <a:endParaRPr sz="9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[/Sources]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La cible garde la même logique, mais sécurisée, répliquée et scalable. Rien de tout cela n'est déployé aujourd'hui.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d407d55b44f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1bf9756d544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7e402f44c49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cdc06f9f640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8a53cada34e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6af751cd74f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09f65847847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b3f7c0112487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b1b4b7a8149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c7da3d6ec488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075b020d2452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ec4332d2e24174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D32438DF-B723-4454-9CFA-2369BF260E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0AA8306-A886-4D35-B327-16728B9AAC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9B69CA5F-8DA0-40DF-9B09-6DA05E3F4A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F942C969-7E24-4CF5-B1FB-E181B26A6B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566C75FB-0780-4968-AEBF-0255647A4A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F62F32FA-9604-45B5-BEA4-E7FEECFCDD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4592ED6D-6C7B-4058-AEE2-37554CA3C0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CB578FC-866F-4AC1-9207-57398632D3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547740A2-3E2C-4976-9A4D-01000ADE07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D8147A6D-AC3E-4124-82EF-F1BDEE6DDB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0329DA53-8C1B-453C-B2FD-CBFBA1EE5B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017F569C-9D54-4224-9DB6-26D410F0C3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663D194C-E769-447D-94ED-BCE6BFBFB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D78F6058-6CF7-40DE-8EE8-18643C1306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A440C4C-FFA6-43BC-96A6-3BA88522F2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9B06BE50-6E78-437B-A9D3-FF9154DCBF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CA39B03B-FF73-4F27-8F1C-BA886351E4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11FEE90F-0534-4F52-9973-B020E11B8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72E4B94E-5908-49C0-98BA-B5AE29DCD0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BA0F2C03-DD11-4CA4-93DB-34BCC4F7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6F35032A-315F-4FE6-AB32-5FFBD9FB5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30B2CD6E-BBCA-443D-BB63-08CFBA2BBC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A0CE9FC3-8874-4CCA-AD0C-70B2F26EE6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91A656C9-E76C-404A-8206-FC3E50FF5C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10EF1101-94F6-424F-9518-2D529FE481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B47B69E7-072A-4178-9707-CD9E6A11B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C78D5704-1674-4F87-B8FB-AE512B111CC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A23F809-89EE-4A57-8517-B683375C4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05D85786-4C7C-4A3F-B1AA-C30EDCCC95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56A20E95-8D02-44EE-B3C8-A28B32A5B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a77bdfc83a4a52" /><Relationship Type="http://schemas.openxmlformats.org/officeDocument/2006/relationships/slideLayout" Target="/ppt/slideLayouts/slideLayout1.xml" Id="Rcdc575c841654a10" /><Relationship Type="http://schemas.openxmlformats.org/officeDocument/2006/relationships/slideLayout" Target="/ppt/slideLayouts/slideLayout2.xml" Id="R95c2542a3c814e72" /><Relationship Type="http://schemas.openxmlformats.org/officeDocument/2006/relationships/slideLayout" Target="/ppt/slideLayouts/slideLayout3.xml" Id="Rd7bb5b6e529647c6" /><Relationship Type="http://schemas.openxmlformats.org/officeDocument/2006/relationships/slideLayout" Target="/ppt/slideLayouts/slideLayout4.xml" Id="Raf61b47248ec4d14" /><Relationship Type="http://schemas.openxmlformats.org/officeDocument/2006/relationships/slideLayout" Target="/ppt/slideLayouts/slideLayout5.xml" Id="R0a0ba5f788f9470b" /><Relationship Type="http://schemas.openxmlformats.org/officeDocument/2006/relationships/slideLayout" Target="/ppt/slideLayouts/slideLayout6.xml" Id="R51d2f1401f704bc4" /><Relationship Type="http://schemas.openxmlformats.org/officeDocument/2006/relationships/slideLayout" Target="/ppt/slideLayouts/slideLayout7.xml" Id="Rf27a0c22ab0242a6" /><Relationship Type="http://schemas.openxmlformats.org/officeDocument/2006/relationships/slideLayout" Target="/ppt/slideLayouts/slideLayout8.xml" Id="Rf2ef3e44e6cb4c3b" /><Relationship Type="http://schemas.openxmlformats.org/officeDocument/2006/relationships/slideLayout" Target="/ppt/slideLayouts/slideLayout9.xml" Id="Re2686942aea64c52" /><Relationship Type="http://schemas.openxmlformats.org/officeDocument/2006/relationships/slideLayout" Target="/ppt/slideLayouts/slideLayout10.xml" Id="R543217b6d3614f82" /><Relationship Type="http://schemas.openxmlformats.org/officeDocument/2006/relationships/slideLayout" Target="/ppt/slideLayouts/slideLayout11.xml" Id="Ra8cecd404f8f45d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3dab7511be044a5" /><Relationship Type="http://schemas.openxmlformats.org/officeDocument/2006/relationships/slideLayout" Target="/ppt/slideLayouts/slideLayout12.xml" Id="Ra2d4ac0d6716455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8995FB01-AE8B-4E97-8D02-6748EB1AD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7E4CFCB-3BDE-4BBA-BE57-CCA2F4FF5B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12887BDC-35B8-4EE1-B105-7066D39EE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c575c841654a10"/>
    <p:sldLayoutId xmlns:r="http://schemas.openxmlformats.org/officeDocument/2006/relationships" id="2147483650" r:id="R95c2542a3c814e72"/>
    <p:sldLayoutId xmlns:r="http://schemas.openxmlformats.org/officeDocument/2006/relationships" id="2147483651" r:id="Rd7bb5b6e529647c6"/>
    <p:sldLayoutId xmlns:r="http://schemas.openxmlformats.org/officeDocument/2006/relationships" id="2147483652" r:id="Raf61b47248ec4d14"/>
    <p:sldLayoutId xmlns:r="http://schemas.openxmlformats.org/officeDocument/2006/relationships" id="2147483653" r:id="R0a0ba5f788f9470b"/>
    <p:sldLayoutId xmlns:r="http://schemas.openxmlformats.org/officeDocument/2006/relationships" id="2147483654" r:id="R51d2f1401f704bc4"/>
    <p:sldLayoutId xmlns:r="http://schemas.openxmlformats.org/officeDocument/2006/relationships" id="2147483655" r:id="Rf27a0c22ab0242a6"/>
    <p:sldLayoutId xmlns:r="http://schemas.openxmlformats.org/officeDocument/2006/relationships" id="2147483656" r:id="Rf2ef3e44e6cb4c3b"/>
    <p:sldLayoutId xmlns:r="http://schemas.openxmlformats.org/officeDocument/2006/relationships" id="2147483657" r:id="Re2686942aea64c52"/>
    <p:sldLayoutId xmlns:r="http://schemas.openxmlformats.org/officeDocument/2006/relationships" id="2147483658" r:id="R543217b6d3614f82"/>
    <p:sldLayoutId xmlns:r="http://schemas.openxmlformats.org/officeDocument/2006/relationships" id="2147483659" r:id="Ra8cecd404f8f45d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2d4ac0d6716455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feef3ce69540e6" /><Relationship Type="http://schemas.openxmlformats.org/officeDocument/2006/relationships/image" Target="/ppt/media/image.png" Id="R18d49386163e45dd" /><Relationship Type="http://schemas.openxmlformats.org/officeDocument/2006/relationships/notesSlide" Target="/ppt/notesSlides/notesSlide1.xml" Id="R58397ab89a254a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8d0112146944c05" /><Relationship Type="http://schemas.openxmlformats.org/officeDocument/2006/relationships/notesSlide" Target="/ppt/notesSlides/notesSlide2.xml" Id="Rab110097ced049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0c7995aecd54c63" /><Relationship Type="http://schemas.openxmlformats.org/officeDocument/2006/relationships/image" Target="/ppt/media/image2.png" Id="R9b23879e73674559" /><Relationship Type="http://schemas.openxmlformats.org/officeDocument/2006/relationships/notesSlide" Target="/ppt/notesSlides/notesSlide3.xml" Id="Rae126a60f70f4e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7a1a6452bd94301" /><Relationship Type="http://schemas.openxmlformats.org/officeDocument/2006/relationships/image" Target="/ppt/media/image3.png" Id="Rd54efd255d924586" /><Relationship Type="http://schemas.openxmlformats.org/officeDocument/2006/relationships/notesSlide" Target="/ppt/notesSlides/notesSlide4.xml" Id="R44beabf37a6f4c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1d15b5e69514af6" /><Relationship Type="http://schemas.openxmlformats.org/officeDocument/2006/relationships/notesSlide" Target="/ppt/notesSlides/notesSlide5.xml" Id="R11fb2da4932d42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4c9b3a87c24ded" /><Relationship Type="http://schemas.openxmlformats.org/officeDocument/2006/relationships/image" Target="/ppt/media/image4.png" Id="R7f321feb1e6b4f05" /><Relationship Type="http://schemas.openxmlformats.org/officeDocument/2006/relationships/notesSlide" Target="/ppt/notesSlides/notesSlide6.xml" Id="R36d1b3bb651942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b620f194e34c70" /><Relationship Type="http://schemas.openxmlformats.org/officeDocument/2006/relationships/image" Target="/ppt/media/image5.png" Id="Re1c5e2e6a5c74ff6" /><Relationship Type="http://schemas.openxmlformats.org/officeDocument/2006/relationships/notesSlide" Target="/ppt/notesSlides/notesSlide7.xml" Id="R7146fef9c7c74b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d58adf2806c400d" /><Relationship Type="http://schemas.openxmlformats.org/officeDocument/2006/relationships/notesSlide" Target="/ppt/notesSlides/notesSlide8.xml" Id="Rac01fca67e0444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c88c056485d43d5" /><Relationship Type="http://schemas.openxmlformats.org/officeDocument/2006/relationships/notesSlide" Target="/ppt/notesSlides/notesSlide9.xml" Id="Rfda9645c22bf43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d76b20610b4ab7" /><Relationship Type="http://schemas.openxmlformats.org/officeDocument/2006/relationships/notesSlide" Target="/ppt/notesSlides/notesSlide10.xml" Id="R5da687c9e7024c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d82d228e6b4e04" /><Relationship Type="http://schemas.openxmlformats.org/officeDocument/2006/relationships/notesSlide" Target="/ppt/notesSlides/notesSlide11.xml" Id="R431ddf1314df46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53218d4f22340bb" /><Relationship Type="http://schemas.openxmlformats.org/officeDocument/2006/relationships/chart" Target="/ppt/slides/charts/chart1.xml" Id="Ref5f89009a24452d" /><Relationship Type="http://schemas.openxmlformats.org/officeDocument/2006/relationships/notesSlide" Target="/ppt/notesSlides/notesSlide12.xml" Id="R43b8f7d989a642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02b08e7f3c4441" /><Relationship Type="http://schemas.openxmlformats.org/officeDocument/2006/relationships/notesSlide" Target="/ppt/notesSlides/notesSlide13.xml" Id="Rd75ade5432c84d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2d1679b1034680" /><Relationship Type="http://schemas.openxmlformats.org/officeDocument/2006/relationships/notesSlide" Target="/ppt/notesSlides/notesSlide14.xml" Id="R94cbc0b1100d4b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bfe6f633a44f61" /><Relationship Type="http://schemas.openxmlformats.org/officeDocument/2006/relationships/image" Target="/ppt/media/image6.png" Id="R9b9f2ac8a7d44adc" /><Relationship Type="http://schemas.openxmlformats.org/officeDocument/2006/relationships/notesSlide" Target="/ppt/notesSlides/notesSlide15.xml" Id="R92497dba2c4a48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f68b1a051f4af2" /><Relationship Type="http://schemas.openxmlformats.org/officeDocument/2006/relationships/notesSlide" Target="/ppt/notesSlides/notesSlide16.xml" Id="Rcd018326a8184f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de82f1607c46fd" /><Relationship Type="http://schemas.openxmlformats.org/officeDocument/2006/relationships/notesSlide" Target="/ppt/notesSlides/notesSlide17.xml" Id="Rbbdb2ec325d44c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d15c7cb63d34a02" /><Relationship Type="http://schemas.openxmlformats.org/officeDocument/2006/relationships/notesSlide" Target="/ppt/notesSlides/notesSlide18.xml" Id="Re031a0ab616e4d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947d456f34541f6" /><Relationship Type="http://schemas.openxmlformats.org/officeDocument/2006/relationships/notesSlide" Target="/ppt/notesSlides/notesSlide19.xml" Id="Rfb7bc488439040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c4a6ec002884e9c" /><Relationship Type="http://schemas.openxmlformats.org/officeDocument/2006/relationships/notesSlide" Target="/ppt/notesSlides/notesSlide20.xml" Id="R5b83cc58c7e74d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592ab6f9c54fe0" /><Relationship Type="http://schemas.openxmlformats.org/officeDocument/2006/relationships/notesSlide" Target="/ppt/notesSlides/notesSlide21.xml" Id="Reccf822a3add41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73dd7bc49e4fc9" /><Relationship Type="http://schemas.openxmlformats.org/officeDocument/2006/relationships/notesSlide" Target="/ppt/notesSlides/notesSlide22.xml" Id="R8d20bb1e61834e6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6e19fa1bf444176" /><Relationship Type="http://schemas.openxmlformats.org/officeDocument/2006/relationships/image" Target="/ppt/media/image7.png" Id="R76d3d2aa50464141" /><Relationship Type="http://schemas.openxmlformats.org/officeDocument/2006/relationships/notesSlide" Target="/ppt/notesSlides/notesSlide23.xml" Id="Re26cad11e1224e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aac1a64d0064f4c" /><Relationship Type="http://schemas.openxmlformats.org/officeDocument/2006/relationships/image" Target="/ppt/media/image8.png" Id="R39c9cdd890af4596" /><Relationship Type="http://schemas.openxmlformats.org/officeDocument/2006/relationships/notesSlide" Target="/ppt/notesSlides/notesSlide24.xml" Id="R93da677fe43642b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3cfe44e1fd847a5" /><Relationship Type="http://schemas.openxmlformats.org/officeDocument/2006/relationships/image" Target="/ppt/media/image9.png" Id="R0535afd553994864" /><Relationship Type="http://schemas.openxmlformats.org/officeDocument/2006/relationships/notesSlide" Target="/ppt/notesSlides/notesSlide25.xml" Id="R5b59aaf82f7c44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4e14a1de7e497a" /><Relationship Type="http://schemas.openxmlformats.org/officeDocument/2006/relationships/image" Target="/ppt/media/image10.png" Id="Ra29bbc09ca734a63" /><Relationship Type="http://schemas.openxmlformats.org/officeDocument/2006/relationships/notesSlide" Target="/ppt/notesSlides/notesSlide26.xml" Id="Rbff23215daa3453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4fceb7f26f4dd5" /><Relationship Type="http://schemas.openxmlformats.org/officeDocument/2006/relationships/notesSlide" Target="/ppt/notesSlides/notesSlide27.xml" Id="R187480c0d5fc416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9e2308b9e548a3" /><Relationship Type="http://schemas.openxmlformats.org/officeDocument/2006/relationships/image" Target="/ppt/media/image11.png" Id="Rc474a5ae5c24472a" /><Relationship Type="http://schemas.openxmlformats.org/officeDocument/2006/relationships/notesSlide" Target="/ppt/notesSlides/notesSlide28.xml" Id="R45a8433eed1349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8a7e58cc274011" /><Relationship Type="http://schemas.openxmlformats.org/officeDocument/2006/relationships/notesSlide" Target="/ppt/notesSlides/notesSlide29.xml" Id="Red91e40fea80419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ea30b5c46314253" /><Relationship Type="http://schemas.openxmlformats.org/officeDocument/2006/relationships/notesSlide" Target="/ppt/notesSlides/notesSlide30.xml" Id="R6cd9378a99004f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64c90e5c59e4983" /><Relationship Type="http://schemas.openxmlformats.org/officeDocument/2006/relationships/notesSlide" Target="/ppt/notesSlides/notesSlide31.xml" Id="Ra681a25ac8594dc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Résultat</c:v>
          </c:tx>
          <c:spPr>
            <a:solidFill xmlns:a="http://schemas.openxmlformats.org/drawingml/2006/main">
              <a:srgbClr val="D9272E"/>
            </a:solidFill>
          </c:spPr>
          <c:cat>
            <c:strLit>
              <c:ptCount val="4"/>
              <c:pt idx="0">
                <c:v>Accuracy sentiment · 86,0 %</c:v>
              </c:pt>
              <c:pt idx="1">
                <c:v>Macro-F1 sentiment · 84,7 %</c:v>
              </c:pt>
              <c:pt idx="2">
                <c:v>Précision thèmes · 89,0 %</c:v>
              </c:pt>
              <c:pt idx="3">
                <c:v>Macro-F1 thèmes · 83,6 %</c:v>
              </c:pt>
            </c:strLit>
          </c:cat>
          <c:val>
            <c:numLit>
              <c:formatCode>General</c:formatCode>
              <c:ptCount val="4"/>
              <c:pt idx="0">
                <c:v>86</c:v>
              </c:pt>
              <c:pt idx="1">
                <c:v>84.7</c:v>
              </c:pt>
              <c:pt idx="2">
                <c:v>89</c:v>
              </c:pt>
              <c:pt idx="3">
                <c:v>83.6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33333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D3D40205-220B-43AD-B277-EFBAA30B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38" y="949420"/>
            <a:ext cx="49883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4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INTELLIGENCE CLIENT · MLOPS GOUVERNÉ</a:t>
            </a:r>
            <a:endParaRPr sz="1400" b="1" i="0" u="non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5">
            <a:extLst xmlns:a="http://schemas.openxmlformats.org/drawingml/2006/main">
              <a:ext uri="{FF2B5EF4-FFF2-40B4-BE49-F238E27FC236}">
                <a16:creationId xmlns:a16="http://schemas.microsoft.com/office/drawing/2014/main" id="{93CC971E-C135-490B-B373-C49FA617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5690"/>
            <a:ext cx="4702629" cy="616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6741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000"/>
              <a:buFont typeface="Arial"/>
              <a:buNone/>
            </a:pPr>
            <a:r>
              <a:rPr sz="4000" b="1" i="0" u="none" cap="none">
                <a:solidFill>
                  <a:srgbClr val="201E1D"/>
                </a:solidFill>
                <a:latin typeface="Arial"/>
                <a:ea typeface="Arial"/>
                <a:cs typeface="Arial"/>
              </a:rPr>
              <a:t>Review </a:t>
            </a:r>
            <a:r>
              <a:rPr sz="4000" b="1">
                <a:solidFill>
                  <a:srgbClr val="201E1D"/>
                </a:solidFill>
              </a:rPr>
              <a:t>Insights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758B0F7D-1BE7-4D2A-8F82-3C82F084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38" y="2081304"/>
            <a:ext cx="2906506" cy="304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25A1C789-74E6-45F7-A89F-68FD9424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3713"/>
            <a:ext cx="4527254" cy="456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669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 i="1">
                <a:solidFill>
                  <a:srgbClr val="201E1D"/>
                </a:solidFill>
                <a:latin typeface="Arial"/>
                <a:ea typeface="Arial"/>
                <a:cs typeface="Arial"/>
              </a:rPr>
              <a:t>Transformer les avis clients en décisions actionnables, explicables et gouvernées.</a:t>
            </a:r>
            <a:endParaRPr sz="1300" b="1" i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8" name="Google Shape;6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d49386163e45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4604" y="491565"/>
            <a:ext cx="4064297" cy="40642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88B422A8-994C-45FF-BCF9-19AAF85F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831442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007D1AC4-D36A-4B36-A4FD-C8FB1D3A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538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F95FBC7D-732E-4B1C-A536-F78EA4D3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3539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E3F67CB8-4F8F-44D5-BE71-DFE7D68F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1593"/>
            <a:ext cx="466725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300"/>
              <a:buFont typeface="Arial"/>
              <a:buNone/>
            </a:pPr>
            <a:r>
              <a:rPr sz="1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33028FFD-8599-4F55-AB2B-9445DD16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79287"/>
            <a:ext cx="7177088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27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Contexte et promesse métier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16">
            <a:extLst xmlns:a="http://schemas.openxmlformats.org/drawingml/2006/main">
              <a:ext uri="{FF2B5EF4-FFF2-40B4-BE49-F238E27FC236}">
                <a16:creationId xmlns:a16="http://schemas.microsoft.com/office/drawing/2014/main" id="{6DC498F2-68A2-44F9-8F5B-866CC568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1698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56EB7B26-E835-40B9-86E9-98EE1896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13878"/>
            <a:ext cx="466725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300"/>
              <a:buFont typeface="Arial"/>
              <a:buNone/>
            </a:pPr>
            <a:r>
              <a:rPr sz="1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A4C2775D-044D-41E7-920F-3E291662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87446"/>
            <a:ext cx="7177088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27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Données, modèles et résultats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A122C40D-4E81-4E24-B795-744E1C9C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9856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312B1C49-D4D9-4F9C-AA0F-9A87B0BA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7910"/>
            <a:ext cx="466725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300"/>
              <a:buFont typeface="Arial"/>
              <a:buNone/>
            </a:pPr>
            <a:r>
              <a:rPr sz="1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463469EA-319F-4A7F-9604-82181333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95605"/>
            <a:ext cx="7177088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27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Orchestration, gouvernance, observabilité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5343FAFE-0DAE-4AE7-BFD7-FBA180B7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8015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537DDC68-2EC7-4D4C-81A1-81CD72A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403"/>
            <a:ext cx="466725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300"/>
              <a:buFont typeface="Arial"/>
              <a:buNone/>
            </a:pPr>
            <a:r>
              <a:rPr sz="1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16">
            <a:extLst xmlns:a="http://schemas.openxmlformats.org/drawingml/2006/main">
              <a:ext uri="{FF2B5EF4-FFF2-40B4-BE49-F238E27FC236}">
                <a16:creationId xmlns:a16="http://schemas.microsoft.com/office/drawing/2014/main" id="{86DB3D97-36B7-4775-BD03-1FDE2686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3763"/>
            <a:ext cx="7177088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27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Démonstration en direct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16">
            <a:extLst xmlns:a="http://schemas.openxmlformats.org/drawingml/2006/main">
              <a:ext uri="{FF2B5EF4-FFF2-40B4-BE49-F238E27FC236}">
                <a16:creationId xmlns:a16="http://schemas.microsoft.com/office/drawing/2014/main" id="{991D0C6C-E6C5-4090-A851-D715E2E6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174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16">
            <a:extLst xmlns:a="http://schemas.openxmlformats.org/drawingml/2006/main">
              <a:ext uri="{FF2B5EF4-FFF2-40B4-BE49-F238E27FC236}">
                <a16:creationId xmlns:a16="http://schemas.microsoft.com/office/drawing/2014/main" id="{94BF3783-93BC-4B10-8BA9-78CAD6E3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2562"/>
            <a:ext cx="466725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300"/>
              <a:buFont typeface="Arial"/>
              <a:buNone/>
            </a:pPr>
            <a:r>
              <a:rPr sz="1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16">
            <a:extLst xmlns:a="http://schemas.openxmlformats.org/drawingml/2006/main">
              <a:ext uri="{FF2B5EF4-FFF2-40B4-BE49-F238E27FC236}">
                <a16:creationId xmlns:a16="http://schemas.microsoft.com/office/drawing/2014/main" id="{A2CB1E31-C75F-4C50-BE56-4AAC75D0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1922"/>
            <a:ext cx="7177088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27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Limites et prochaines étapes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16">
            <a:extLst xmlns:a="http://schemas.openxmlformats.org/drawingml/2006/main">
              <a:ext uri="{FF2B5EF4-FFF2-40B4-BE49-F238E27FC236}">
                <a16:creationId xmlns:a16="http://schemas.microsoft.com/office/drawing/2014/main" id="{09367EB0-A656-49B7-9BA5-4E8EE23B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1355"/>
            <a:ext cx="466725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300"/>
              <a:buFont typeface="Arial"/>
              <a:buNone/>
            </a:pPr>
            <a:r>
              <a:rPr sz="1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16">
            <a:extLst xmlns:a="http://schemas.openxmlformats.org/drawingml/2006/main">
              <a:ext uri="{FF2B5EF4-FFF2-40B4-BE49-F238E27FC236}">
                <a16:creationId xmlns:a16="http://schemas.microsoft.com/office/drawing/2014/main" id="{7C0DED32-A276-49C5-81B3-76B8740D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20081"/>
            <a:ext cx="7177088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27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Q&amp;A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16">
            <a:extLst xmlns:a="http://schemas.openxmlformats.org/drawingml/2006/main">
              <a:ext uri="{FF2B5EF4-FFF2-40B4-BE49-F238E27FC236}">
                <a16:creationId xmlns:a16="http://schemas.microsoft.com/office/drawing/2014/main" id="{05E67B4E-00ED-4813-A325-C4D7B8DE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4702"/>
            <a:ext cx="49883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4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INDEX</a:t>
            </a:r>
            <a:endParaRPr sz="2000" b="1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oogle Shape;87;p16">
            <a:extLst xmlns:a="http://schemas.openxmlformats.org/drawingml/2006/main">
              <a:ext uri="{FF2B5EF4-FFF2-40B4-BE49-F238E27FC236}">
                <a16:creationId xmlns:a16="http://schemas.microsoft.com/office/drawing/2014/main" id="{4F90E8A1-FA18-4677-A7D3-1A747CF5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685820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93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23879e736745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24" y="3616"/>
            <a:ext cx="9104926" cy="51242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77875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8">
            <a:extLst xmlns:a="http://schemas.openxmlformats.org/drawingml/2006/main">
              <a:ext uri="{FF2B5EF4-FFF2-40B4-BE49-F238E27FC236}">
                <a16:creationId xmlns:a16="http://schemas.microsoft.com/office/drawing/2014/main" id="{CC7CBFD1-2176-4FAA-8160-8621D0F0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174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18">
            <a:extLst xmlns:a="http://schemas.openxmlformats.org/drawingml/2006/main">
              <a:ext uri="{FF2B5EF4-FFF2-40B4-BE49-F238E27FC236}">
                <a16:creationId xmlns:a16="http://schemas.microsoft.com/office/drawing/2014/main" id="{8A25613A-4127-4E22-A83A-D3E3D6F4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953" y="3099343"/>
            <a:ext cx="1356122" cy="22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800"/>
              <a:buFont typeface="Arial"/>
              <a:buNone/>
            </a:pPr>
            <a:r>
              <a:rPr sz="8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Action : priorité Livraison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18">
            <a:extLst xmlns:a="http://schemas.openxmlformats.org/drawingml/2006/main">
              <a:ext uri="{FF2B5EF4-FFF2-40B4-BE49-F238E27FC236}">
                <a16:creationId xmlns:a16="http://schemas.microsoft.com/office/drawing/2014/main" id="{2163A8FC-2CEA-4CE4-AB4B-F682173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5445"/>
            <a:ext cx="8229600" cy="1523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 constat</a:t>
            </a:r>
            <a:br/>
            <a:r>
              <a:rPr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Une note globale ne suffit pas à expliquer l’insatisfaction client.</a:t>
            </a:r>
            <a:endParaRPr sz="7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L’objectif métier</a:t>
            </a:r>
            <a:br/>
            <a:r>
              <a:rPr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Comprendre les causes et transformer l’analyse en action.</a:t>
            </a:r>
            <a:endParaRPr sz="7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18">
            <a:extLst xmlns:a="http://schemas.openxmlformats.org/drawingml/2006/main">
              <a:ext uri="{FF2B5EF4-FFF2-40B4-BE49-F238E27FC236}">
                <a16:creationId xmlns:a16="http://schemas.microsoft.com/office/drawing/2014/main" id="{265E62E2-7C00-4D61-916C-2BD025A0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12417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CONTEXTE ET PROMESSE MÉTIER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18">
            <a:extLst xmlns:a="http://schemas.openxmlformats.org/drawingml/2006/main">
              <a:ext uri="{FF2B5EF4-FFF2-40B4-BE49-F238E27FC236}">
                <a16:creationId xmlns:a16="http://schemas.microsoft.com/office/drawing/2014/main" id="{4A2D0A5F-B75E-4144-83E2-0EA30188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3828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C1C1C"/>
                </a:solidFill>
                <a:latin typeface="Arial"/>
                <a:ea typeface="Arial"/>
                <a:cs typeface="Arial"/>
              </a:rPr>
              <a:t>Un besoin métier réel devenu projet data</a:t>
            </a:r>
            <a:endParaRPr sz="700"/>
          </a:p>
        </p:txBody>
      </p:sp>
      <p:sp>
        <p:nvSpPr>
          <p:cNvPr id="104" name="Google Shape;104;p18">
            <a:extLst xmlns:a="http://schemas.openxmlformats.org/drawingml/2006/main">
              <a:ext uri="{FF2B5EF4-FFF2-40B4-BE49-F238E27FC236}">
                <a16:creationId xmlns:a16="http://schemas.microsoft.com/office/drawing/2014/main" id="{5BB5695B-B998-47E0-8DF7-411899B1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  <p:pic>
        <p:nvPicPr>
          <p:cNvPr id="112" name="Google Shape;105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4efd255d924586">
            <a:alphaModFix/>
          </a:blip>
          <a:srcRect xmlns:a="http://schemas.openxmlformats.org/drawingml/2006/main" l="0" t="18918" r="0" b="21084"/>
          <a:stretch xmlns:a="http://schemas.openxmlformats.org/drawingml/2006/main"/>
        </p:blipFill>
        <p:spPr>
          <a:xfrm xmlns:a="http://schemas.openxmlformats.org/drawingml/2006/main">
            <a:off x="579689" y="3119675"/>
            <a:ext cx="7614162" cy="152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52990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19">
            <a:extLst xmlns:a="http://schemas.openxmlformats.org/drawingml/2006/main">
              <a:ext uri="{FF2B5EF4-FFF2-40B4-BE49-F238E27FC236}">
                <a16:creationId xmlns:a16="http://schemas.microsoft.com/office/drawing/2014/main" id="{8A9940AA-CFE0-43BF-9B05-32489B66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3828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Identifier le motif exact d'une insatisfaction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19">
            <a:extLst xmlns:a="http://schemas.openxmlformats.org/drawingml/2006/main">
              <a:ext uri="{FF2B5EF4-FFF2-40B4-BE49-F238E27FC236}">
                <a16:creationId xmlns:a16="http://schemas.microsoft.com/office/drawing/2014/main" id="{AE1717D8-AC9E-463E-A12C-FFAC074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1973"/>
            <a:ext cx="82296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62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Une mauvaise note globale ne dit pas pourquoi le client est mécontent. La lecture manuelle coûte cher et les signaux restent dispersés.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19">
            <a:extLst xmlns:a="http://schemas.openxmlformats.org/drawingml/2006/main">
              <a:ext uri="{FF2B5EF4-FFF2-40B4-BE49-F238E27FC236}">
                <a16:creationId xmlns:a16="http://schemas.microsoft.com/office/drawing/2014/main" id="{40A92937-203B-46D9-8600-04E0410C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0136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19">
            <a:extLst xmlns:a="http://schemas.openxmlformats.org/drawingml/2006/main">
              <a:ext uri="{FF2B5EF4-FFF2-40B4-BE49-F238E27FC236}">
                <a16:creationId xmlns:a16="http://schemas.microsoft.com/office/drawing/2014/main" id="{5200684B-80E4-4B8C-ADBA-5B7EA7B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1111"/>
            <a:ext cx="3900488" cy="1509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9E9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19">
            <a:extLst xmlns:a="http://schemas.openxmlformats.org/drawingml/2006/main">
              <a:ext uri="{FF2B5EF4-FFF2-40B4-BE49-F238E27FC236}">
                <a16:creationId xmlns:a16="http://schemas.microsoft.com/office/drawing/2014/main" id="{81FF5773-E913-4AA2-901E-DD2503DC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3036"/>
            <a:ext cx="3913346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100"/>
              <a:buFont typeface="Arial"/>
              <a:buNone/>
            </a:pPr>
            <a:r>
              <a:rPr sz="11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AVIS — 2 /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19">
            <a:extLst xmlns:a="http://schemas.openxmlformats.org/drawingml/2006/main">
              <a:ext uri="{FF2B5EF4-FFF2-40B4-BE49-F238E27FC236}">
                <a16:creationId xmlns:a16="http://schemas.microsoft.com/office/drawing/2014/main" id="{29CA5431-890A-4B0A-8C23-2A7FE144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4503"/>
            <a:ext cx="3664315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79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Courier New"/>
              <a:buNone/>
            </a:pPr>
            <a:r>
              <a:rPr sz="11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« Le produit est génial et marche super bien, mais le carton était déchiqueté et le livreur a été très désagréable ! »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19">
            <a:extLst xmlns:a="http://schemas.openxmlformats.org/drawingml/2006/main">
              <a:ext uri="{FF2B5EF4-FFF2-40B4-BE49-F238E27FC236}">
                <a16:creationId xmlns:a16="http://schemas.microsoft.com/office/drawing/2014/main" id="{35A1C584-D09A-43FF-8A73-A02D0E11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638" y="2001111"/>
            <a:ext cx="466725" cy="1528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0258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700"/>
              <a:buFont typeface="Arial"/>
              <a:buNone/>
            </a:pPr>
            <a:r>
              <a:rPr sz="17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→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19">
            <a:extLst xmlns:a="http://schemas.openxmlformats.org/drawingml/2006/main">
              <a:ext uri="{FF2B5EF4-FFF2-40B4-BE49-F238E27FC236}">
                <a16:creationId xmlns:a16="http://schemas.microsoft.com/office/drawing/2014/main" id="{F4AF9764-58A3-4FE0-864C-2C17EDE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001111"/>
            <a:ext cx="3900488" cy="1509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2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19">
            <a:extLst xmlns:a="http://schemas.openxmlformats.org/drawingml/2006/main">
              <a:ext uri="{FF2B5EF4-FFF2-40B4-BE49-F238E27FC236}">
                <a16:creationId xmlns:a16="http://schemas.microsoft.com/office/drawing/2014/main" id="{42762914-5671-4DE3-8549-FDBAF2C3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163036"/>
            <a:ext cx="1626394" cy="287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19">
            <a:extLst xmlns:a="http://schemas.openxmlformats.org/drawingml/2006/main">
              <a:ext uri="{FF2B5EF4-FFF2-40B4-BE49-F238E27FC236}">
                <a16:creationId xmlns:a16="http://schemas.microsoft.com/office/drawing/2014/main" id="{14FE8446-4B01-4B9B-AD9B-94F10A69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2210661"/>
            <a:ext cx="152278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Thème : Produit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19">
            <a:extLst xmlns:a="http://schemas.openxmlformats.org/drawingml/2006/main">
              <a:ext uri="{FF2B5EF4-FFF2-40B4-BE49-F238E27FC236}">
                <a16:creationId xmlns:a16="http://schemas.microsoft.com/office/drawing/2014/main" id="{9B74C346-1AD2-4D77-A97E-57FA10F6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257" y="2210661"/>
            <a:ext cx="228600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→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19">
            <a:extLst xmlns:a="http://schemas.openxmlformats.org/drawingml/2006/main">
              <a:ext uri="{FF2B5EF4-FFF2-40B4-BE49-F238E27FC236}">
                <a16:creationId xmlns:a16="http://schemas.microsoft.com/office/drawing/2014/main" id="{7F162226-8C15-496A-832C-BA612764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632" y="2210661"/>
            <a:ext cx="154183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Sentiment : Positif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19">
            <a:extLst xmlns:a="http://schemas.openxmlformats.org/drawingml/2006/main">
              <a:ext uri="{FF2B5EF4-FFF2-40B4-BE49-F238E27FC236}">
                <a16:creationId xmlns:a16="http://schemas.microsoft.com/office/drawing/2014/main" id="{9B3F25C9-2A62-4CD3-B761-0D7E6D5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535939"/>
            <a:ext cx="1626394" cy="287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EC301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19">
            <a:extLst xmlns:a="http://schemas.openxmlformats.org/drawingml/2006/main">
              <a:ext uri="{FF2B5EF4-FFF2-40B4-BE49-F238E27FC236}">
                <a16:creationId xmlns:a16="http://schemas.microsoft.com/office/drawing/2014/main" id="{C8855FCD-AFC6-4F83-B3FD-4EA105F3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2583564"/>
            <a:ext cx="1522785" cy="210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000"/>
              <a:buFont typeface="Arial"/>
              <a:buNone/>
            </a:pPr>
            <a:r>
              <a:rPr sz="1000" b="1">
                <a:solidFill>
                  <a:srgbClr val="AE1800"/>
                </a:solidFill>
                <a:latin typeface="Arial"/>
                <a:ea typeface="Arial"/>
                <a:cs typeface="Arial"/>
              </a:rPr>
              <a:t>Thème : Livraison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19">
            <a:extLst xmlns:a="http://schemas.openxmlformats.org/drawingml/2006/main">
              <a:ext uri="{FF2B5EF4-FFF2-40B4-BE49-F238E27FC236}">
                <a16:creationId xmlns:a16="http://schemas.microsoft.com/office/drawing/2014/main" id="{E889631B-9779-4128-9373-17A31888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257" y="2583564"/>
            <a:ext cx="228600" cy="210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→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19">
            <a:extLst xmlns:a="http://schemas.openxmlformats.org/drawingml/2006/main">
              <a:ext uri="{FF2B5EF4-FFF2-40B4-BE49-F238E27FC236}">
                <a16:creationId xmlns:a16="http://schemas.microsoft.com/office/drawing/2014/main" id="{8188A8FE-B022-41FB-9A4C-E667F1F9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632" y="2583564"/>
            <a:ext cx="1541835" cy="210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000"/>
              <a:buFont typeface="Arial"/>
              <a:buNone/>
            </a:pPr>
            <a:r>
              <a:rPr sz="1000" b="1">
                <a:solidFill>
                  <a:srgbClr val="AE1800"/>
                </a:solidFill>
                <a:latin typeface="Arial"/>
                <a:ea typeface="Arial"/>
                <a:cs typeface="Arial"/>
              </a:rPr>
              <a:t>Sentiment : Négatif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19">
            <a:extLst xmlns:a="http://schemas.openxmlformats.org/drawingml/2006/main">
              <a:ext uri="{FF2B5EF4-FFF2-40B4-BE49-F238E27FC236}">
                <a16:creationId xmlns:a16="http://schemas.microsoft.com/office/drawing/2014/main" id="{72F301DC-8827-41C6-9791-F842BF6C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937418"/>
            <a:ext cx="355758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E0E10CFF-1A6D-4A2C-941D-5E6E4990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3108868"/>
            <a:ext cx="96183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Confiance </a:t>
            </a:r>
            <a:r>
              <a:rPr sz="10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82 %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06BC8E48-CC5F-4E5F-AE10-A4C9FE9D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668" y="3046729"/>
            <a:ext cx="1356122" cy="296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19">
            <a:extLst xmlns:a="http://schemas.openxmlformats.org/drawingml/2006/main">
              <a:ext uri="{FF2B5EF4-FFF2-40B4-BE49-F238E27FC236}">
                <a16:creationId xmlns:a16="http://schemas.microsoft.com/office/drawing/2014/main" id="{8DAA3FAE-ED05-4C23-8AC7-688547CD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953" y="3099343"/>
            <a:ext cx="1356122" cy="22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800"/>
              <a:buFont typeface="Arial"/>
              <a:buNone/>
            </a:pPr>
            <a:r>
              <a:rPr sz="8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Action : priorité Livraison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19">
            <a:extLst xmlns:a="http://schemas.openxmlformats.org/drawingml/2006/main">
              <a:ext uri="{FF2B5EF4-FFF2-40B4-BE49-F238E27FC236}">
                <a16:creationId xmlns:a16="http://schemas.microsoft.com/office/drawing/2014/main" id="{21147449-8C60-4243-B5D6-9D17963E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1797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19">
            <a:extLst xmlns:a="http://schemas.openxmlformats.org/drawingml/2006/main">
              <a:ext uri="{FF2B5EF4-FFF2-40B4-BE49-F238E27FC236}">
                <a16:creationId xmlns:a16="http://schemas.microsoft.com/office/drawing/2014/main" id="{81425044-F8FB-4B6F-86A4-3728A7A6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5147"/>
            <a:ext cx="905256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La promesse : </a:t>
            </a: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accélérer la décision 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et prioriser les irritants métier, </a:t>
            </a: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en gardant l'humain aux commandes 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sur les cas sensibles.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19">
            <a:extLst xmlns:a="http://schemas.openxmlformats.org/drawingml/2006/main">
              <a:ext uri="{FF2B5EF4-FFF2-40B4-BE49-F238E27FC236}">
                <a16:creationId xmlns:a16="http://schemas.microsoft.com/office/drawing/2014/main" id="{E908E4A8-EA83-436A-A1F6-F759ED06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12417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CONTEXTE ET PROMESSE MÉTIER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37382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20">
            <a:extLst xmlns:a="http://schemas.openxmlformats.org/drawingml/2006/main">
              <a:ext uri="{FF2B5EF4-FFF2-40B4-BE49-F238E27FC236}">
                <a16:creationId xmlns:a16="http://schemas.microsoft.com/office/drawing/2014/main" id="{D04D80C8-0EC2-431E-BEA8-418601A3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12417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CONTEXTE ET PROMESSE MÉTIER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Google Shape;140;p20">
            <a:extLst xmlns:a="http://schemas.openxmlformats.org/drawingml/2006/main">
              <a:ext uri="{FF2B5EF4-FFF2-40B4-BE49-F238E27FC236}">
                <a16:creationId xmlns:a16="http://schemas.microsoft.com/office/drawing/2014/main" id="{2779E0CA-15E3-4393-A900-08D400B6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4443984"/>
            <a:ext cx="2948940" cy="192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 faut-il savoir pour agir 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6" name="Google Shape;141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321feb1e6b4f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7956" y="418108"/>
            <a:ext cx="7088088" cy="47253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0">
            <a:extLst xmlns:a="http://schemas.openxmlformats.org/drawingml/2006/main">
              <a:ext uri="{FF2B5EF4-FFF2-40B4-BE49-F238E27FC236}">
                <a16:creationId xmlns:a16="http://schemas.microsoft.com/office/drawing/2014/main" id="{1DC3136C-E637-4110-A7BA-12CEFBC6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649293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14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c5e2e6a5c74f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-1367"/>
            <a:ext cx="9144001" cy="51462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05469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Google Shape;154;p22">
            <a:extLst xmlns:a="http://schemas.openxmlformats.org/drawingml/2006/main">
              <a:ext uri="{FF2B5EF4-FFF2-40B4-BE49-F238E27FC236}">
                <a16:creationId xmlns:a16="http://schemas.microsoft.com/office/drawing/2014/main" id="{8E8E2D26-F2AC-46D1-90F7-C2721D51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Ambition, intégration et mesure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22">
            <a:extLst xmlns:a="http://schemas.openxmlformats.org/drawingml/2006/main">
              <a:ext uri="{FF2B5EF4-FFF2-40B4-BE49-F238E27FC236}">
                <a16:creationId xmlns:a16="http://schemas.microsoft.com/office/drawing/2014/main" id="{8C82A166-2BE0-4EC5-9010-C11E1629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22">
            <a:extLst xmlns:a="http://schemas.openxmlformats.org/drawingml/2006/main">
              <a:ext uri="{FF2B5EF4-FFF2-40B4-BE49-F238E27FC236}">
                <a16:creationId xmlns:a16="http://schemas.microsoft.com/office/drawing/2014/main" id="{D61DEA9B-748F-41EB-87E4-4E8C389C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1585"/>
            <a:ext cx="2641500" cy="264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22">
            <a:extLst xmlns:a="http://schemas.openxmlformats.org/drawingml/2006/main">
              <a:ext uri="{FF2B5EF4-FFF2-40B4-BE49-F238E27FC236}">
                <a16:creationId xmlns:a16="http://schemas.microsoft.com/office/drawing/2014/main" id="{6A9D695A-AA15-4458-8509-104D0FE7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61110"/>
            <a:ext cx="2622600" cy="3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22">
            <a:extLst xmlns:a="http://schemas.openxmlformats.org/drawingml/2006/main">
              <a:ext uri="{FF2B5EF4-FFF2-40B4-BE49-F238E27FC236}">
                <a16:creationId xmlns:a16="http://schemas.microsoft.com/office/drawing/2014/main" id="{52DD8CCF-F9E3-4A90-99B6-24F81105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46835"/>
            <a:ext cx="24726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Gold réel — validation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22">
            <a:extLst xmlns:a="http://schemas.openxmlformats.org/drawingml/2006/main">
              <a:ext uri="{FF2B5EF4-FFF2-40B4-BE49-F238E27FC236}">
                <a16:creationId xmlns:a16="http://schemas.microsoft.com/office/drawing/2014/main" id="{53B27928-596B-45E2-A6B3-98E5288A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62213"/>
            <a:ext cx="26226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22">
            <a:extLst xmlns:a="http://schemas.openxmlformats.org/drawingml/2006/main">
              <a:ext uri="{FF2B5EF4-FFF2-40B4-BE49-F238E27FC236}">
                <a16:creationId xmlns:a16="http://schemas.microsoft.com/office/drawing/2014/main" id="{4DFD79DB-5E46-4B0B-ACB0-BABEADE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63078"/>
            <a:ext cx="2633400" cy="1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JEU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22">
            <a:extLst xmlns:a="http://schemas.openxmlformats.org/drawingml/2006/main">
              <a:ext uri="{FF2B5EF4-FFF2-40B4-BE49-F238E27FC236}">
                <a16:creationId xmlns:a16="http://schemas.microsoft.com/office/drawing/2014/main" id="{7ECF138A-B9A8-49F6-97A4-09E5716B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78343"/>
            <a:ext cx="24657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900 avis réels annotés · 600 / 150 / 150.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22">
            <a:extLst xmlns:a="http://schemas.openxmlformats.org/drawingml/2006/main">
              <a:ext uri="{FF2B5EF4-FFF2-40B4-BE49-F238E27FC236}">
                <a16:creationId xmlns:a16="http://schemas.microsoft.com/office/drawing/2014/main" id="{8D6881D1-7F7D-43A3-8FA7-81C045D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74720"/>
            <a:ext cx="26226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22">
            <a:extLst xmlns:a="http://schemas.openxmlformats.org/drawingml/2006/main">
              <a:ext uri="{FF2B5EF4-FFF2-40B4-BE49-F238E27FC236}">
                <a16:creationId xmlns:a16="http://schemas.microsoft.com/office/drawing/2014/main" id="{76516502-0E43-4C87-B509-B40E4E64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95563"/>
            <a:ext cx="2633400" cy="1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RÔLE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22">
            <a:extLst xmlns:a="http://schemas.openxmlformats.org/drawingml/2006/main">
              <a:ext uri="{FF2B5EF4-FFF2-40B4-BE49-F238E27FC236}">
                <a16:creationId xmlns:a16="http://schemas.microsoft.com/office/drawing/2014/main" id="{08F6F1DD-4C29-4F2C-87B2-9E5E0A74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10828"/>
            <a:ext cx="24657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Validation, calibration et test aveugle verrouillé.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22">
            <a:extLst xmlns:a="http://schemas.openxmlformats.org/drawingml/2006/main">
              <a:ext uri="{FF2B5EF4-FFF2-40B4-BE49-F238E27FC236}">
                <a16:creationId xmlns:a16="http://schemas.microsoft.com/office/drawing/2014/main" id="{13942142-03A5-4DA5-8ACD-63D9FCF5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23072"/>
            <a:ext cx="123900" cy="1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7D7979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22">
            <a:extLst xmlns:a="http://schemas.openxmlformats.org/drawingml/2006/main">
              <a:ext uri="{FF2B5EF4-FFF2-40B4-BE49-F238E27FC236}">
                <a16:creationId xmlns:a16="http://schemas.microsoft.com/office/drawing/2014/main" id="{4D1B0292-2233-4C6E-AF65-C2E6F65A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9020"/>
            <a:ext cx="1392600" cy="2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Enregistré — réel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22">
            <a:extLst xmlns:a="http://schemas.openxmlformats.org/drawingml/2006/main">
              <a:ext uri="{FF2B5EF4-FFF2-40B4-BE49-F238E27FC236}">
                <a16:creationId xmlns:a16="http://schemas.microsoft.com/office/drawing/2014/main" id="{F9A19788-B881-4778-8210-A35E50E8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1251585"/>
            <a:ext cx="2641500" cy="264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Google Shape;168;p22">
            <a:extLst xmlns:a="http://schemas.openxmlformats.org/drawingml/2006/main">
              <a:ext uri="{FF2B5EF4-FFF2-40B4-BE49-F238E27FC236}">
                <a16:creationId xmlns:a16="http://schemas.microsoft.com/office/drawing/2014/main" id="{C91D02E0-BA72-46FB-895F-4E3667F0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725" y="1261110"/>
            <a:ext cx="2622600" cy="3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22">
            <a:extLst xmlns:a="http://schemas.openxmlformats.org/drawingml/2006/main">
              <a:ext uri="{FF2B5EF4-FFF2-40B4-BE49-F238E27FC236}">
                <a16:creationId xmlns:a16="http://schemas.microsoft.com/office/drawing/2014/main" id="{89210D08-26F4-4E04-A0F3-AB67927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1346835"/>
            <a:ext cx="24726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Corpus réel — apprentissage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22">
            <a:extLst xmlns:a="http://schemas.openxmlformats.org/drawingml/2006/main">
              <a:ext uri="{FF2B5EF4-FFF2-40B4-BE49-F238E27FC236}">
                <a16:creationId xmlns:a16="http://schemas.microsoft.com/office/drawing/2014/main" id="{47361FDF-22E5-4816-AE94-DE4C4F75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725" y="2462213"/>
            <a:ext cx="26226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Google Shape;171;p22">
            <a:extLst xmlns:a="http://schemas.openxmlformats.org/drawingml/2006/main">
              <a:ext uri="{FF2B5EF4-FFF2-40B4-BE49-F238E27FC236}">
                <a16:creationId xmlns:a16="http://schemas.microsoft.com/office/drawing/2014/main" id="{B1B84F26-7547-4F2C-947E-3283F54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1763078"/>
            <a:ext cx="2633400" cy="1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JEU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22">
            <a:extLst xmlns:a="http://schemas.openxmlformats.org/drawingml/2006/main">
              <a:ext uri="{FF2B5EF4-FFF2-40B4-BE49-F238E27FC236}">
                <a16:creationId xmlns:a16="http://schemas.microsoft.com/office/drawing/2014/main" id="{DEB6E7F6-BAF6-4735-8478-43D2E5B5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1978343"/>
            <a:ext cx="24657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6 111 avis · 5 811 lignes d’apprentissage.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22">
            <a:extLst xmlns:a="http://schemas.openxmlformats.org/drawingml/2006/main">
              <a:ext uri="{FF2B5EF4-FFF2-40B4-BE49-F238E27FC236}">
                <a16:creationId xmlns:a16="http://schemas.microsoft.com/office/drawing/2014/main" id="{1F96B09F-D19A-47FD-B021-743FF27B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725" y="3474720"/>
            <a:ext cx="26226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22">
            <a:extLst xmlns:a="http://schemas.openxmlformats.org/drawingml/2006/main">
              <a:ext uri="{FF2B5EF4-FFF2-40B4-BE49-F238E27FC236}">
                <a16:creationId xmlns:a16="http://schemas.microsoft.com/office/drawing/2014/main" id="{A27B6C34-A937-4CF0-A7D8-42152DD3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2595563"/>
            <a:ext cx="2633400" cy="1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RÔLE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22">
            <a:extLst xmlns:a="http://schemas.openxmlformats.org/drawingml/2006/main">
              <a:ext uri="{FF2B5EF4-FFF2-40B4-BE49-F238E27FC236}">
                <a16:creationId xmlns:a16="http://schemas.microsoft.com/office/drawing/2014/main" id="{D778D914-6AB3-4BFB-968D-4E215EA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2810828"/>
            <a:ext cx="2465700" cy="5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Élargit la diversité sans toucher aux jeux de validation et de test.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Google Shape;176;p22">
            <a:extLst xmlns:a="http://schemas.openxmlformats.org/drawingml/2006/main">
              <a:ext uri="{FF2B5EF4-FFF2-40B4-BE49-F238E27FC236}">
                <a16:creationId xmlns:a16="http://schemas.microsoft.com/office/drawing/2014/main" id="{0089C149-E992-4D2A-8F7C-75F74097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3623072"/>
            <a:ext cx="123900" cy="1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Google Shape;177;p22">
            <a:extLst xmlns:a="http://schemas.openxmlformats.org/drawingml/2006/main">
              <a:ext uri="{FF2B5EF4-FFF2-40B4-BE49-F238E27FC236}">
                <a16:creationId xmlns:a16="http://schemas.microsoft.com/office/drawing/2014/main" id="{F68B2838-80F7-4F0B-9BEE-508BEF9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050" y="3589020"/>
            <a:ext cx="1590000" cy="2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Enregistré — réel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Google Shape;178;p22">
            <a:extLst xmlns:a="http://schemas.openxmlformats.org/drawingml/2006/main">
              <a:ext uri="{FF2B5EF4-FFF2-40B4-BE49-F238E27FC236}">
                <a16:creationId xmlns:a16="http://schemas.microsoft.com/office/drawing/2014/main" id="{64870AB2-87FA-4FDB-92E8-6411265B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251585"/>
            <a:ext cx="2641500" cy="264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Google Shape;179;p22">
            <a:extLst xmlns:a="http://schemas.openxmlformats.org/drawingml/2006/main">
              <a:ext uri="{FF2B5EF4-FFF2-40B4-BE49-F238E27FC236}">
                <a16:creationId xmlns:a16="http://schemas.microsoft.com/office/drawing/2014/main" id="{5DE180E9-891F-4114-9CA4-A03A0A1B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725" y="1261110"/>
            <a:ext cx="2622600" cy="3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Google Shape;180;p22">
            <a:extLst xmlns:a="http://schemas.openxmlformats.org/drawingml/2006/main">
              <a:ext uri="{FF2B5EF4-FFF2-40B4-BE49-F238E27FC236}">
                <a16:creationId xmlns:a16="http://schemas.microsoft.com/office/drawing/2014/main" id="{F5BE3E03-749E-4205-9753-D0933842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1346835"/>
            <a:ext cx="24726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Mix final — champion v8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Google Shape;181;p22">
            <a:extLst xmlns:a="http://schemas.openxmlformats.org/drawingml/2006/main">
              <a:ext uri="{FF2B5EF4-FFF2-40B4-BE49-F238E27FC236}">
                <a16:creationId xmlns:a16="http://schemas.microsoft.com/office/drawing/2014/main" id="{5CDEB8A1-6E35-4493-AB70-E27A4D7D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666" y="2471738"/>
            <a:ext cx="26226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" name="Google Shape;182;p22">
            <a:extLst xmlns:a="http://schemas.openxmlformats.org/drawingml/2006/main">
              <a:ext uri="{FF2B5EF4-FFF2-40B4-BE49-F238E27FC236}">
                <a16:creationId xmlns:a16="http://schemas.microsoft.com/office/drawing/2014/main" id="{2C5C3761-8145-4EB9-9F67-DE7E579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1763078"/>
            <a:ext cx="2633400" cy="1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JEU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Google Shape;183;p22">
            <a:extLst xmlns:a="http://schemas.openxmlformats.org/drawingml/2006/main">
              <a:ext uri="{FF2B5EF4-FFF2-40B4-BE49-F238E27FC236}">
                <a16:creationId xmlns:a16="http://schemas.microsoft.com/office/drawing/2014/main" id="{099F79E0-3228-467C-AF10-3A492D4E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1978343"/>
            <a:ext cx="2633400" cy="1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10 311 lignes · 5 811 réelles + 4 500 synthétiques.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22">
            <a:extLst xmlns:a="http://schemas.openxmlformats.org/drawingml/2006/main">
              <a:ext uri="{FF2B5EF4-FFF2-40B4-BE49-F238E27FC236}">
                <a16:creationId xmlns:a16="http://schemas.microsoft.com/office/drawing/2014/main" id="{6B35806E-E9C1-4990-AFC2-22A24837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725" y="3474720"/>
            <a:ext cx="26226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22">
            <a:extLst xmlns:a="http://schemas.openxmlformats.org/drawingml/2006/main">
              <a:ext uri="{FF2B5EF4-FFF2-40B4-BE49-F238E27FC236}">
                <a16:creationId xmlns:a16="http://schemas.microsoft.com/office/drawing/2014/main" id="{464625B7-5635-4860-B1BF-6345F262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855" y="2595563"/>
            <a:ext cx="2633400" cy="1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RÔLE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" name="Google Shape;186;p22">
            <a:extLst xmlns:a="http://schemas.openxmlformats.org/drawingml/2006/main">
              <a:ext uri="{FF2B5EF4-FFF2-40B4-BE49-F238E27FC236}">
                <a16:creationId xmlns:a16="http://schemas.microsoft.com/office/drawing/2014/main" id="{84515FF5-F459-4C32-A44D-7D922DB2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855" y="2810828"/>
            <a:ext cx="2465700" cy="5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Entraîne le champion choisi sur une base stratifiée et traçable.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" name="Google Shape;187;p22">
            <a:extLst xmlns:a="http://schemas.openxmlformats.org/drawingml/2006/main">
              <a:ext uri="{FF2B5EF4-FFF2-40B4-BE49-F238E27FC236}">
                <a16:creationId xmlns:a16="http://schemas.microsoft.com/office/drawing/2014/main" id="{1137D08C-DE01-48E9-8498-39ECDBA1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3623072"/>
            <a:ext cx="123900" cy="1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22">
            <a:extLst xmlns:a="http://schemas.openxmlformats.org/drawingml/2006/main">
              <a:ext uri="{FF2B5EF4-FFF2-40B4-BE49-F238E27FC236}">
                <a16:creationId xmlns:a16="http://schemas.microsoft.com/office/drawing/2014/main" id="{8A1AD3AB-0E57-4A6B-83F9-CF8CB715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3589020"/>
            <a:ext cx="1544700" cy="2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Enregistré — training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Google Shape;189;p22">
            <a:extLst xmlns:a="http://schemas.openxmlformats.org/drawingml/2006/main">
              <a:ext uri="{FF2B5EF4-FFF2-40B4-BE49-F238E27FC236}">
                <a16:creationId xmlns:a16="http://schemas.microsoft.com/office/drawing/2014/main" id="{B77B7640-8B31-4889-9473-CE01512B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6699"/>
            <a:ext cx="82296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Google Shape;190;p22">
            <a:extLst xmlns:a="http://schemas.openxmlformats.org/drawingml/2006/main">
              <a:ext uri="{FF2B5EF4-FFF2-40B4-BE49-F238E27FC236}">
                <a16:creationId xmlns:a16="http://schemas.microsoft.com/office/drawing/2014/main" id="{C34EA224-624B-40D7-95B0-140BF328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049"/>
            <a:ext cx="90525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Test aveugle réel : 150 avis, aucun chevauchement exact avec l’apprentissage.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Google Shape;191;p22">
            <a:extLst xmlns:a="http://schemas.openxmlformats.org/drawingml/2006/main">
              <a:ext uri="{FF2B5EF4-FFF2-40B4-BE49-F238E27FC236}">
                <a16:creationId xmlns:a16="http://schemas.microsoft.com/office/drawing/2014/main" id="{278A2290-DDEE-4FB5-BA66-1D90B09B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3291900" cy="16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DONN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ÉES</a:t>
            </a: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, MODEL ET RESULTATS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Google Shape;192;p22">
            <a:extLst xmlns:a="http://schemas.openxmlformats.org/drawingml/2006/main">
              <a:ext uri="{FF2B5EF4-FFF2-40B4-BE49-F238E27FC236}">
                <a16:creationId xmlns:a16="http://schemas.microsoft.com/office/drawing/2014/main" id="{D8DA60AD-6BFB-4A86-BEB6-28012D11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00" cy="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558272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" name="Google Shape;198;p23">
            <a:extLst xmlns:a="http://schemas.openxmlformats.org/drawingml/2006/main">
              <a:ext uri="{FF2B5EF4-FFF2-40B4-BE49-F238E27FC236}">
                <a16:creationId xmlns:a16="http://schemas.microsoft.com/office/drawing/2014/main" id="{55968A34-C380-403D-8702-6589701F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Séparer les concepts pour éviter la contamination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23">
            <a:extLst xmlns:a="http://schemas.openxmlformats.org/drawingml/2006/main">
              <a:ext uri="{FF2B5EF4-FFF2-40B4-BE49-F238E27FC236}">
                <a16:creationId xmlns:a16="http://schemas.microsoft.com/office/drawing/2014/main" id="{183F603C-9046-48B8-AEF6-DB78BEEA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3460"/>
            <a:ext cx="7652385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62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Un avis négatif sur la livraison ne doit pas devenir une critique du produit. L'inférence est donc découpée en deux étapes séquentielles.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p23">
            <a:extLst xmlns:a="http://schemas.openxmlformats.org/drawingml/2006/main">
              <a:ext uri="{FF2B5EF4-FFF2-40B4-BE49-F238E27FC236}">
                <a16:creationId xmlns:a16="http://schemas.microsoft.com/office/drawing/2014/main" id="{35D0B016-C8E8-4D12-AAF5-9B6DD45B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1623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23">
            <a:extLst xmlns:a="http://schemas.openxmlformats.org/drawingml/2006/main">
              <a:ext uri="{FF2B5EF4-FFF2-40B4-BE49-F238E27FC236}">
                <a16:creationId xmlns:a16="http://schemas.microsoft.com/office/drawing/2014/main" id="{34ECAA5D-A272-4F79-AF3B-4849F73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2597"/>
            <a:ext cx="3739118" cy="2219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Google Shape;202;p23">
            <a:extLst xmlns:a="http://schemas.openxmlformats.org/drawingml/2006/main">
              <a:ext uri="{FF2B5EF4-FFF2-40B4-BE49-F238E27FC236}">
                <a16:creationId xmlns:a16="http://schemas.microsoft.com/office/drawing/2014/main" id="{8BABC870-81FE-4066-9E22-7F374834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4998"/>
            <a:ext cx="375679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000"/>
              <a:buFont typeface="Arial"/>
              <a:buNone/>
            </a:pPr>
            <a:r>
              <a:rPr sz="1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COUCHE 1 — THÈMES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23">
            <a:extLst xmlns:a="http://schemas.openxmlformats.org/drawingml/2006/main">
              <a:ext uri="{FF2B5EF4-FFF2-40B4-BE49-F238E27FC236}">
                <a16:creationId xmlns:a16="http://schemas.microsoft.com/office/drawing/2014/main" id="{D909D506-F118-44A3-938A-970396A4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702"/>
            <a:ext cx="3517727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Courier New"/>
              <a:buNone/>
            </a:pPr>
            <a:r>
              <a:rPr sz="11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TF-IDF (unigram / bigram) → régression logistique multi-label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23">
            <a:extLst xmlns:a="http://schemas.openxmlformats.org/drawingml/2006/main">
              <a:ext uri="{FF2B5EF4-FFF2-40B4-BE49-F238E27FC236}">
                <a16:creationId xmlns:a16="http://schemas.microsoft.com/office/drawing/2014/main" id="{FB3F3A26-6BA0-4395-A307-A057719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6522"/>
            <a:ext cx="3415268" cy="340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23">
            <a:extLst xmlns:a="http://schemas.openxmlformats.org/drawingml/2006/main">
              <a:ext uri="{FF2B5EF4-FFF2-40B4-BE49-F238E27FC236}">
                <a16:creationId xmlns:a16="http://schemas.microsoft.com/office/drawing/2014/main" id="{C7BC7424-8396-4A98-A0BA-2422F2A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3197"/>
            <a:ext cx="3327227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Livraison — oui / non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Google Shape;206;p23">
            <a:extLst xmlns:a="http://schemas.openxmlformats.org/drawingml/2006/main">
              <a:ext uri="{FF2B5EF4-FFF2-40B4-BE49-F238E27FC236}">
                <a16:creationId xmlns:a16="http://schemas.microsoft.com/office/drawing/2014/main" id="{25F2DE4A-A7C2-4E0B-9A26-4DC68A44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3239"/>
            <a:ext cx="3415268" cy="340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23">
            <a:extLst xmlns:a="http://schemas.openxmlformats.org/drawingml/2006/main">
              <a:ext uri="{FF2B5EF4-FFF2-40B4-BE49-F238E27FC236}">
                <a16:creationId xmlns:a16="http://schemas.microsoft.com/office/drawing/2014/main" id="{0ED72566-B54A-4501-B200-3EF10553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9914"/>
            <a:ext cx="3327227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SAV — oui / non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23">
            <a:extLst xmlns:a="http://schemas.openxmlformats.org/drawingml/2006/main">
              <a:ext uri="{FF2B5EF4-FFF2-40B4-BE49-F238E27FC236}">
                <a16:creationId xmlns:a16="http://schemas.microsoft.com/office/drawing/2014/main" id="{F8C8153B-7895-4C79-BD12-391DD052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59957"/>
            <a:ext cx="3415268" cy="340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23">
            <a:extLst xmlns:a="http://schemas.openxmlformats.org/drawingml/2006/main">
              <a:ext uri="{FF2B5EF4-FFF2-40B4-BE49-F238E27FC236}">
                <a16:creationId xmlns:a16="http://schemas.microsoft.com/office/drawing/2014/main" id="{BF6C65AA-B7E4-4354-A359-55F6D401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6631"/>
            <a:ext cx="3327227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Produit — oui / non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23">
            <a:extLst xmlns:a="http://schemas.openxmlformats.org/drawingml/2006/main">
              <a:ext uri="{FF2B5EF4-FFF2-40B4-BE49-F238E27FC236}">
                <a16:creationId xmlns:a16="http://schemas.microsoft.com/office/drawing/2014/main" id="{6FEEF21A-A9A4-4C62-A4D0-E5202D50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825" y="1732600"/>
            <a:ext cx="4458900" cy="2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9E9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23">
            <a:extLst xmlns:a="http://schemas.openxmlformats.org/drawingml/2006/main">
              <a:ext uri="{FF2B5EF4-FFF2-40B4-BE49-F238E27FC236}">
                <a16:creationId xmlns:a16="http://schemas.microsoft.com/office/drawing/2014/main" id="{2C3B844F-661C-401A-BBFB-75591B3F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44" y="1884998"/>
            <a:ext cx="437374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000"/>
              <a:buFont typeface="Arial"/>
              <a:buNone/>
            </a:pPr>
            <a:r>
              <a:rPr sz="1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COUCHE 2 — SENTIMENT PAR THÈME DÉTECTÉ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" name="Google Shape;212;p23">
            <a:extLst xmlns:a="http://schemas.openxmlformats.org/drawingml/2006/main">
              <a:ext uri="{FF2B5EF4-FFF2-40B4-BE49-F238E27FC236}">
                <a16:creationId xmlns:a16="http://schemas.microsoft.com/office/drawing/2014/main" id="{F5AE7195-AA28-4AE5-9F17-9E3B8BF2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44" y="2181702"/>
            <a:ext cx="4373745" cy="199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Courier New"/>
              <a:buNone/>
            </a:pPr>
            <a:r>
              <a:rPr sz="11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Pipeline TF-IDF spécifique → régression logistique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23">
            <a:extLst xmlns:a="http://schemas.openxmlformats.org/drawingml/2006/main">
              <a:ext uri="{FF2B5EF4-FFF2-40B4-BE49-F238E27FC236}">
                <a16:creationId xmlns:a16="http://schemas.microsoft.com/office/drawing/2014/main" id="{10BC56EE-47A1-419F-B53E-F684DCA8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44" y="2466499"/>
            <a:ext cx="1280954" cy="378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2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23">
            <a:extLst xmlns:a="http://schemas.openxmlformats.org/drawingml/2006/main">
              <a:ext uri="{FF2B5EF4-FFF2-40B4-BE49-F238E27FC236}">
                <a16:creationId xmlns:a16="http://schemas.microsoft.com/office/drawing/2014/main" id="{E42EFD21-5802-4A0F-AC66-525C94B5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779" y="2552224"/>
            <a:ext cx="1128883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Positif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p23">
            <a:extLst xmlns:a="http://schemas.openxmlformats.org/drawingml/2006/main">
              <a:ext uri="{FF2B5EF4-FFF2-40B4-BE49-F238E27FC236}">
                <a16:creationId xmlns:a16="http://schemas.microsoft.com/office/drawing/2014/main" id="{87B9FDD5-EC81-4F6C-BBBA-16E2F275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372" y="2466499"/>
            <a:ext cx="1280954" cy="378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2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23">
            <a:extLst xmlns:a="http://schemas.openxmlformats.org/drawingml/2006/main">
              <a:ext uri="{FF2B5EF4-FFF2-40B4-BE49-F238E27FC236}">
                <a16:creationId xmlns:a16="http://schemas.microsoft.com/office/drawing/2014/main" id="{35178A1D-773E-4B03-B20E-4E4CA03A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408" y="2552224"/>
            <a:ext cx="1128882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Neutre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Google Shape;217;p23">
            <a:extLst xmlns:a="http://schemas.openxmlformats.org/drawingml/2006/main">
              <a:ext uri="{FF2B5EF4-FFF2-40B4-BE49-F238E27FC236}">
                <a16:creationId xmlns:a16="http://schemas.microsoft.com/office/drawing/2014/main" id="{D96D82AE-3319-4FF8-A66E-96587605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01" y="2466499"/>
            <a:ext cx="1280954" cy="378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2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8" name="Google Shape;218;p23">
            <a:extLst xmlns:a="http://schemas.openxmlformats.org/drawingml/2006/main">
              <a:ext uri="{FF2B5EF4-FFF2-40B4-BE49-F238E27FC236}">
                <a16:creationId xmlns:a16="http://schemas.microsoft.com/office/drawing/2014/main" id="{5BBF742C-5635-44E4-9ED4-0A842297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37" y="2552224"/>
            <a:ext cx="1128882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Négatif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23">
            <a:extLst xmlns:a="http://schemas.openxmlformats.org/drawingml/2006/main">
              <a:ext uri="{FF2B5EF4-FFF2-40B4-BE49-F238E27FC236}">
                <a16:creationId xmlns:a16="http://schemas.microsoft.com/office/drawing/2014/main" id="{55555E4C-D271-4D27-9C92-75C9F064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44" y="2949416"/>
            <a:ext cx="409541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Le sentiment n'est jamais calculé globalement : il est attaché au thème qui l'a déclenché.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" name="Google Shape;220;p23">
            <a:extLst xmlns:a="http://schemas.openxmlformats.org/drawingml/2006/main">
              <a:ext uri="{FF2B5EF4-FFF2-40B4-BE49-F238E27FC236}">
                <a16:creationId xmlns:a16="http://schemas.microsoft.com/office/drawing/2014/main" id="{0F34456D-9042-40EB-B00C-6AF06BB3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3849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23">
            <a:extLst xmlns:a="http://schemas.openxmlformats.org/drawingml/2006/main">
              <a:ext uri="{FF2B5EF4-FFF2-40B4-BE49-F238E27FC236}">
                <a16:creationId xmlns:a16="http://schemas.microsoft.com/office/drawing/2014/main" id="{81D69055-01A7-4C26-BD62-B6247CDD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299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Google Shape;222;p23">
            <a:extLst xmlns:a="http://schemas.openxmlformats.org/drawingml/2006/main">
              <a:ext uri="{FF2B5EF4-FFF2-40B4-BE49-F238E27FC236}">
                <a16:creationId xmlns:a16="http://schemas.microsoft.com/office/drawing/2014/main" id="{F4F4ACDC-8D55-4613-89E9-4F07157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57199"/>
            <a:ext cx="8250841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Implémenté : 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runtime de référence en scikit-learn, moteur heuristique en fallback. DistilBERT / RoBERTa sont en Backend avancé</a:t>
            </a:r>
            <a:r>
              <a:rPr sz="1100">
                <a:solidFill>
                  <a:srgbClr val="201E1D"/>
                </a:solidFill>
              </a:rPr>
              <a:t> 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optionnel, pas le modèle servi aujourd'hui.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23">
            <a:extLst xmlns:a="http://schemas.openxmlformats.org/drawingml/2006/main">
              <a:ext uri="{FF2B5EF4-FFF2-40B4-BE49-F238E27FC236}">
                <a16:creationId xmlns:a16="http://schemas.microsoft.com/office/drawing/2014/main" id="{69CB16F1-2049-4E93-AD51-5DF5F2F5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DONN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ÉES</a:t>
            </a: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, MODEL ET </a:t>
            </a:r>
            <a:r>
              <a:rPr sz="1200" b="1">
                <a:solidFill>
                  <a:srgbClr val="F12C16"/>
                </a:solidFill>
              </a:rPr>
              <a:t>RÉSULTATS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Google Shape;224;p23">
            <a:extLst xmlns:a="http://schemas.openxmlformats.org/drawingml/2006/main">
              <a:ext uri="{FF2B5EF4-FFF2-40B4-BE49-F238E27FC236}">
                <a16:creationId xmlns:a16="http://schemas.microsoft.com/office/drawing/2014/main" id="{6508A6B8-BC7C-4F11-9875-3C8DAB6E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0010636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0" name="Google Shape;230;p24">
            <a:extLst xmlns:a="http://schemas.openxmlformats.org/drawingml/2006/main">
              <a:ext uri="{FF2B5EF4-FFF2-40B4-BE49-F238E27FC236}">
                <a16:creationId xmlns:a16="http://schemas.microsoft.com/office/drawing/2014/main" id="{CEB8EAAC-765C-45B5-A0F0-C33B1B0E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Le moteur à double vitesse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1" name="Google Shape;231;p24">
            <a:extLst xmlns:a="http://schemas.openxmlformats.org/drawingml/2006/main">
              <a:ext uri="{FF2B5EF4-FFF2-40B4-BE49-F238E27FC236}">
                <a16:creationId xmlns:a16="http://schemas.microsoft.com/office/drawing/2014/main" id="{316D4D1F-B074-4849-A96A-F02A60C7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2" name="Google Shape;232;p24">
            <a:extLst xmlns:a="http://schemas.openxmlformats.org/drawingml/2006/main">
              <a:ext uri="{FF2B5EF4-FFF2-40B4-BE49-F238E27FC236}">
                <a16:creationId xmlns:a16="http://schemas.microsoft.com/office/drawing/2014/main" id="{F10FD8AD-B12C-4796-AD1A-9DDB3749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4016"/>
            <a:ext cx="197508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3" name="Google Shape;233;p24">
            <a:extLst xmlns:a="http://schemas.openxmlformats.org/drawingml/2006/main">
              <a:ext uri="{FF2B5EF4-FFF2-40B4-BE49-F238E27FC236}">
                <a16:creationId xmlns:a16="http://schemas.microsoft.com/office/drawing/2014/main" id="{45E8AF20-ECF1-4C60-80D3-6FFFEFE3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6835"/>
            <a:ext cx="1805741" cy="230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CRITÈRE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4" name="Google Shape;234;p24">
            <a:extLst xmlns:a="http://schemas.openxmlformats.org/drawingml/2006/main">
              <a:ext uri="{FF2B5EF4-FFF2-40B4-BE49-F238E27FC236}">
                <a16:creationId xmlns:a16="http://schemas.microsoft.com/office/drawing/2014/main" id="{1D91D29D-1639-4269-96B9-218DF691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288" y="1251585"/>
            <a:ext cx="2938383" cy="411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Google Shape;235;p24">
            <a:extLst xmlns:a="http://schemas.openxmlformats.org/drawingml/2006/main">
              <a:ext uri="{FF2B5EF4-FFF2-40B4-BE49-F238E27FC236}">
                <a16:creationId xmlns:a16="http://schemas.microsoft.com/office/drawing/2014/main" id="{B3CADAAE-7EE4-4E5E-A2B2-8AC2147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588" y="1346835"/>
            <a:ext cx="2797935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Champion v8 — servi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Google Shape;236;p24">
            <a:extLst xmlns:a="http://schemas.openxmlformats.org/drawingml/2006/main">
              <a:ext uri="{FF2B5EF4-FFF2-40B4-BE49-F238E27FC236}">
                <a16:creationId xmlns:a16="http://schemas.microsoft.com/office/drawing/2014/main" id="{EFF896C4-782E-46D0-8B1D-880BB3D9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671" y="1251585"/>
            <a:ext cx="3316128" cy="411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7" name="Google Shape;237;p24">
            <a:extLst xmlns:a="http://schemas.openxmlformats.org/drawingml/2006/main">
              <a:ext uri="{FF2B5EF4-FFF2-40B4-BE49-F238E27FC236}">
                <a16:creationId xmlns:a16="http://schemas.microsoft.com/office/drawing/2014/main" id="{200B9B21-B68C-464B-A213-37FFE1A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71" y="1346835"/>
            <a:ext cx="3187012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DistilBERT — optionnel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Google Shape;238;p24">
            <a:extLst xmlns:a="http://schemas.openxmlformats.org/drawingml/2006/main">
              <a:ext uri="{FF2B5EF4-FFF2-40B4-BE49-F238E27FC236}">
                <a16:creationId xmlns:a16="http://schemas.microsoft.com/office/drawing/2014/main" id="{C461A329-2AC3-4830-9263-36B4107E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8834"/>
            <a:ext cx="197508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9" name="Google Shape;239;p24">
            <a:extLst xmlns:a="http://schemas.openxmlformats.org/drawingml/2006/main">
              <a:ext uri="{FF2B5EF4-FFF2-40B4-BE49-F238E27FC236}">
                <a16:creationId xmlns:a16="http://schemas.microsoft.com/office/drawing/2014/main" id="{7B020CD8-9150-444C-932D-11FD4C5B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7841"/>
            <a:ext cx="1805741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Architecture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0" name="Google Shape;240;p24">
            <a:extLst xmlns:a="http://schemas.openxmlformats.org/drawingml/2006/main">
              <a:ext uri="{FF2B5EF4-FFF2-40B4-BE49-F238E27FC236}">
                <a16:creationId xmlns:a16="http://schemas.microsoft.com/office/drawing/2014/main" id="{78A619B0-BAB3-43BA-BA71-C0B418EC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288" y="2098834"/>
            <a:ext cx="29383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Google Shape;241;p24">
            <a:extLst xmlns:a="http://schemas.openxmlformats.org/drawingml/2006/main">
              <a:ext uri="{FF2B5EF4-FFF2-40B4-BE49-F238E27FC236}">
                <a16:creationId xmlns:a16="http://schemas.microsoft.com/office/drawing/2014/main" id="{564B9D2D-007E-4C77-91C3-8F897216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588" y="1777841"/>
            <a:ext cx="2797935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TF-IDF mots + caractères · régression logistique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2" name="Google Shape;242;p24">
            <a:extLst xmlns:a="http://schemas.openxmlformats.org/drawingml/2006/main">
              <a:ext uri="{FF2B5EF4-FFF2-40B4-BE49-F238E27FC236}">
                <a16:creationId xmlns:a16="http://schemas.microsoft.com/office/drawing/2014/main" id="{6B7E7B34-6280-4796-82D0-307221BD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671" y="2098834"/>
            <a:ext cx="33161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24">
            <a:extLst xmlns:a="http://schemas.openxmlformats.org/drawingml/2006/main">
              <a:ext uri="{FF2B5EF4-FFF2-40B4-BE49-F238E27FC236}">
                <a16:creationId xmlns:a16="http://schemas.microsoft.com/office/drawing/2014/main" id="{B1D5F92D-43E0-424D-A72B-FC667AC6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71" y="1777841"/>
            <a:ext cx="3187012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DistilBERT  quantifié (Hugging Face Hub)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Google Shape;244;p24">
            <a:extLst xmlns:a="http://schemas.openxmlformats.org/drawingml/2006/main">
              <a:ext uri="{FF2B5EF4-FFF2-40B4-BE49-F238E27FC236}">
                <a16:creationId xmlns:a16="http://schemas.microsoft.com/office/drawing/2014/main" id="{BEE61012-F7FF-4ED0-ACA0-EA2D25E6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0817"/>
            <a:ext cx="197508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24">
            <a:extLst xmlns:a="http://schemas.openxmlformats.org/drawingml/2006/main">
              <a:ext uri="{FF2B5EF4-FFF2-40B4-BE49-F238E27FC236}">
                <a16:creationId xmlns:a16="http://schemas.microsoft.com/office/drawing/2014/main" id="{7C179AF8-27E5-4DDC-9B41-80956DC0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6155"/>
            <a:ext cx="801290" cy="16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Performance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Google Shape;246;p24">
            <a:extLst xmlns:a="http://schemas.openxmlformats.org/drawingml/2006/main">
              <a:ext uri="{FF2B5EF4-FFF2-40B4-BE49-F238E27FC236}">
                <a16:creationId xmlns:a16="http://schemas.microsoft.com/office/drawing/2014/main" id="{3D77BB61-387F-4516-93D3-6438D7D7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4114"/>
            <a:ext cx="1921137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>
                <a:solidFill>
                  <a:srgbClr val="605D5D"/>
                </a:solidFill>
                <a:latin typeface="Arial"/>
                <a:ea typeface="Arial"/>
                <a:cs typeface="Arial"/>
              </a:rPr>
              <a:t>test aveugle réel · 150 avis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24">
            <a:extLst xmlns:a="http://schemas.openxmlformats.org/drawingml/2006/main">
              <a:ext uri="{FF2B5EF4-FFF2-40B4-BE49-F238E27FC236}">
                <a16:creationId xmlns:a16="http://schemas.microsoft.com/office/drawing/2014/main" id="{1D0BCA75-3F0B-4F2F-B02E-3CF5BE26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288" y="2720817"/>
            <a:ext cx="29383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8" name="Google Shape;248;p24">
            <a:extLst xmlns:a="http://schemas.openxmlformats.org/drawingml/2006/main">
              <a:ext uri="{FF2B5EF4-FFF2-40B4-BE49-F238E27FC236}">
                <a16:creationId xmlns:a16="http://schemas.microsoft.com/office/drawing/2014/main" id="{4BB4CB55-CF0D-40C1-8B7D-1EDBC50B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588" y="2222659"/>
            <a:ext cx="2797935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Courier New"/>
              <a:buNone/>
            </a:pPr>
            <a:r>
              <a:rPr sz="11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Accuracy 0,860 / F1 0,847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24">
            <a:extLst xmlns:a="http://schemas.openxmlformats.org/drawingml/2006/main">
              <a:ext uri="{FF2B5EF4-FFF2-40B4-BE49-F238E27FC236}">
                <a16:creationId xmlns:a16="http://schemas.microsoft.com/office/drawing/2014/main" id="{C2852E2E-E63A-44C5-9C37-1083DC96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671" y="2720817"/>
            <a:ext cx="33161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0" name="Google Shape;250;p24">
            <a:extLst xmlns:a="http://schemas.openxmlformats.org/drawingml/2006/main">
              <a:ext uri="{FF2B5EF4-FFF2-40B4-BE49-F238E27FC236}">
                <a16:creationId xmlns:a16="http://schemas.microsoft.com/office/drawing/2014/main" id="{2DF85EA9-1E3C-401D-A0DA-DB460BCE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71" y="2222659"/>
            <a:ext cx="3187012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Courier New"/>
              <a:buNone/>
            </a:pPr>
            <a:r>
              <a:rPr sz="11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Non comparé sur le blind v2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24">
            <a:extLst xmlns:a="http://schemas.openxmlformats.org/drawingml/2006/main">
              <a:ext uri="{FF2B5EF4-FFF2-40B4-BE49-F238E27FC236}">
                <a16:creationId xmlns:a16="http://schemas.microsoft.com/office/drawing/2014/main" id="{2AE212F9-C40F-44DD-A55E-1849BD5A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2799"/>
            <a:ext cx="197508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24">
            <a:extLst xmlns:a="http://schemas.openxmlformats.org/drawingml/2006/main">
              <a:ext uri="{FF2B5EF4-FFF2-40B4-BE49-F238E27FC236}">
                <a16:creationId xmlns:a16="http://schemas.microsoft.com/office/drawing/2014/main" id="{A023B967-9810-4B78-8D70-8433916F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8150"/>
            <a:ext cx="621000" cy="1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Latenc</a:t>
            </a:r>
            <a:r>
              <a:rPr sz="1100" b="1">
                <a:solidFill>
                  <a:srgbClr val="201E1D"/>
                </a:solidFill>
              </a:rPr>
              <a:t>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3" name="Google Shape;253;p24">
            <a:extLst xmlns:a="http://schemas.openxmlformats.org/drawingml/2006/main">
              <a:ext uri="{FF2B5EF4-FFF2-40B4-BE49-F238E27FC236}">
                <a16:creationId xmlns:a16="http://schemas.microsoft.com/office/drawing/2014/main" id="{0B5E9FCB-12C2-428F-A8B9-E2B979CB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0" y="3096522"/>
            <a:ext cx="1921200" cy="1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>
                <a:solidFill>
                  <a:srgbClr val="605D5D"/>
                </a:solidFill>
              </a:rPr>
              <a:t>C</a:t>
            </a:r>
            <a:r>
              <a:rPr sz="900">
                <a:solidFill>
                  <a:srgbClr val="605D5D"/>
                </a:solidFill>
                <a:latin typeface="Arial"/>
                <a:ea typeface="Arial"/>
                <a:cs typeface="Arial"/>
              </a:rPr>
              <a:t>PU après cache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" name="Google Shape;254;p24">
            <a:extLst xmlns:a="http://schemas.openxmlformats.org/drawingml/2006/main">
              <a:ext uri="{FF2B5EF4-FFF2-40B4-BE49-F238E27FC236}">
                <a16:creationId xmlns:a16="http://schemas.microsoft.com/office/drawing/2014/main" id="{7049FF0B-C1E6-411E-A3EA-178565FD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288" y="3342799"/>
            <a:ext cx="29383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24">
            <a:extLst xmlns:a="http://schemas.openxmlformats.org/drawingml/2006/main">
              <a:ext uri="{FF2B5EF4-FFF2-40B4-BE49-F238E27FC236}">
                <a16:creationId xmlns:a16="http://schemas.microsoft.com/office/drawing/2014/main" id="{FDFF9C6B-375A-495C-B0C8-C90BC8F1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588" y="2844641"/>
            <a:ext cx="2797935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Service local · garde-fous actifs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24">
            <a:extLst xmlns:a="http://schemas.openxmlformats.org/drawingml/2006/main">
              <a:ext uri="{FF2B5EF4-FFF2-40B4-BE49-F238E27FC236}">
                <a16:creationId xmlns:a16="http://schemas.microsoft.com/office/drawing/2014/main" id="{3F3C8036-8967-404B-BA55-43E42CCA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671" y="3342799"/>
            <a:ext cx="33161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24">
            <a:extLst xmlns:a="http://schemas.openxmlformats.org/drawingml/2006/main">
              <a:ext uri="{FF2B5EF4-FFF2-40B4-BE49-F238E27FC236}">
                <a16:creationId xmlns:a16="http://schemas.microsoft.com/office/drawing/2014/main" id="{D9493506-5DE7-44EB-B780-AA27AD30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71" y="2844641"/>
            <a:ext cx="3187012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35,3 ms par avis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24">
            <a:extLst xmlns:a="http://schemas.openxmlformats.org/drawingml/2006/main">
              <a:ext uri="{FF2B5EF4-FFF2-40B4-BE49-F238E27FC236}">
                <a16:creationId xmlns:a16="http://schemas.microsoft.com/office/drawing/2014/main" id="{0549CC03-59E2-4FB7-9A4C-C728A62A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6624"/>
            <a:ext cx="1805741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Rôle dans le POC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24">
            <a:extLst xmlns:a="http://schemas.openxmlformats.org/drawingml/2006/main">
              <a:ext uri="{FF2B5EF4-FFF2-40B4-BE49-F238E27FC236}">
                <a16:creationId xmlns:a16="http://schemas.microsoft.com/office/drawing/2014/main" id="{E09E452F-1FF5-46A6-9248-AA64D89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588" y="3466624"/>
            <a:ext cx="2797935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Activé par défaut · champion v8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Google Shape;260;p24">
            <a:extLst xmlns:a="http://schemas.openxmlformats.org/drawingml/2006/main">
              <a:ext uri="{FF2B5EF4-FFF2-40B4-BE49-F238E27FC236}">
                <a16:creationId xmlns:a16="http://schemas.microsoft.com/office/drawing/2014/main" id="{0B217567-6A4F-4A19-B37A-B1F1568D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71" y="3466624"/>
            <a:ext cx="3187012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Courier New"/>
              <a:buNone/>
            </a:pPr>
            <a:r>
              <a:rPr sz="11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Opt-in — MODEL_SOURCE=hf_hub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1" name="Google Shape;261;p24">
            <a:extLst xmlns:a="http://schemas.openxmlformats.org/drawingml/2006/main">
              <a:ext uri="{FF2B5EF4-FFF2-40B4-BE49-F238E27FC236}">
                <a16:creationId xmlns:a16="http://schemas.microsoft.com/office/drawing/2014/main" id="{EC3978B5-6000-476B-8192-97C931E2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3829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Google Shape;262;p24">
            <a:extLst xmlns:a="http://schemas.openxmlformats.org/drawingml/2006/main">
              <a:ext uri="{FF2B5EF4-FFF2-40B4-BE49-F238E27FC236}">
                <a16:creationId xmlns:a16="http://schemas.microsoft.com/office/drawing/2014/main" id="{9106C809-867A-4C8E-B382-0E2DB66C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7179"/>
            <a:ext cx="905256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Le </a:t>
            </a: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contrat de l'API REST 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reste strictement identique quel que soit le moteur branché.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3" name="Google Shape;263;p24">
            <a:extLst xmlns:a="http://schemas.openxmlformats.org/drawingml/2006/main">
              <a:ext uri="{FF2B5EF4-FFF2-40B4-BE49-F238E27FC236}">
                <a16:creationId xmlns:a16="http://schemas.microsoft.com/office/drawing/2014/main" id="{F99174C5-8331-473A-A6B8-1248676B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DONN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ÉES</a:t>
            </a: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, MODEL ET </a:t>
            </a:r>
            <a:r>
              <a:rPr sz="1200" b="1">
                <a:solidFill>
                  <a:srgbClr val="F12C16"/>
                </a:solidFill>
              </a:rPr>
              <a:t>RÉSULTATS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Google Shape;264;p24">
            <a:extLst xmlns:a="http://schemas.openxmlformats.org/drawingml/2006/main">
              <a:ext uri="{FF2B5EF4-FFF2-40B4-BE49-F238E27FC236}">
                <a16:creationId xmlns:a16="http://schemas.microsoft.com/office/drawing/2014/main" id="{BADD9579-1BCC-418F-B9B1-7C16E1FD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020354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Google Shape;270;p25">
            <a:extLst xmlns:a="http://schemas.openxmlformats.org/drawingml/2006/main">
              <a:ext uri="{FF2B5EF4-FFF2-40B4-BE49-F238E27FC236}">
                <a16:creationId xmlns:a16="http://schemas.microsoft.com/office/drawing/2014/main" id="{6CAD3DA1-A546-4ECA-BEEF-136E04C4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Le parcours d'une décision, du verbatim à l'action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25">
            <a:extLst xmlns:a="http://schemas.openxmlformats.org/drawingml/2006/main">
              <a:ext uri="{FF2B5EF4-FFF2-40B4-BE49-F238E27FC236}">
                <a16:creationId xmlns:a16="http://schemas.microsoft.com/office/drawing/2014/main" id="{08DEA011-7FF6-42DD-80BE-6418E99D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25">
            <a:extLst xmlns:a="http://schemas.openxmlformats.org/drawingml/2006/main">
              <a:ext uri="{FF2B5EF4-FFF2-40B4-BE49-F238E27FC236}">
                <a16:creationId xmlns:a16="http://schemas.microsoft.com/office/drawing/2014/main" id="{974AF435-BFCD-45B5-B970-98963825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1585"/>
            <a:ext cx="1554480" cy="1286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Google Shape;273;p25">
            <a:extLst xmlns:a="http://schemas.openxmlformats.org/drawingml/2006/main">
              <a:ext uri="{FF2B5EF4-FFF2-40B4-BE49-F238E27FC236}">
                <a16:creationId xmlns:a16="http://schemas.microsoft.com/office/drawing/2014/main" id="{CA328184-5D94-49B7-9F6E-B7A3E19E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75410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100"/>
              <a:buFont typeface="Arial"/>
              <a:buNone/>
            </a:pPr>
            <a:r>
              <a:rPr sz="11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25">
            <a:extLst xmlns:a="http://schemas.openxmlformats.org/drawingml/2006/main">
              <a:ext uri="{FF2B5EF4-FFF2-40B4-BE49-F238E27FC236}">
                <a16:creationId xmlns:a16="http://schemas.microsoft.com/office/drawing/2014/main" id="{F77577B7-3290-489B-ACAF-07BF4862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63541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Entrée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25">
            <a:extLst xmlns:a="http://schemas.openxmlformats.org/drawingml/2006/main">
              <a:ext uri="{FF2B5EF4-FFF2-40B4-BE49-F238E27FC236}">
                <a16:creationId xmlns:a16="http://schemas.microsoft.com/office/drawing/2014/main" id="{3FCF6DED-8C5B-4FD9-8E51-BF689E08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51673"/>
            <a:ext cx="134603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L'avis est ingéré via Streamlit ou l'API.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6" name="Google Shape;276;p25">
            <a:extLst xmlns:a="http://schemas.openxmlformats.org/drawingml/2006/main">
              <a:ext uri="{FF2B5EF4-FFF2-40B4-BE49-F238E27FC236}">
                <a16:creationId xmlns:a16="http://schemas.microsoft.com/office/drawing/2014/main" id="{2F85D09F-E645-488C-84DD-4DB2EE5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80" y="1251585"/>
            <a:ext cx="1554480" cy="1286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" name="Google Shape;277;p25">
            <a:extLst xmlns:a="http://schemas.openxmlformats.org/drawingml/2006/main">
              <a:ext uri="{FF2B5EF4-FFF2-40B4-BE49-F238E27FC236}">
                <a16:creationId xmlns:a16="http://schemas.microsoft.com/office/drawing/2014/main" id="{853D8217-0159-466F-8EE0-62FDA300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805" y="1375410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100"/>
              <a:buFont typeface="Arial"/>
              <a:buNone/>
            </a:pPr>
            <a:r>
              <a:rPr sz="11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Google Shape;278;p25">
            <a:extLst xmlns:a="http://schemas.openxmlformats.org/drawingml/2006/main">
              <a:ext uri="{FF2B5EF4-FFF2-40B4-BE49-F238E27FC236}">
                <a16:creationId xmlns:a16="http://schemas.microsoft.com/office/drawing/2014/main" id="{0FD1FEE8-7DFD-4D7E-B4E9-403B6999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805" y="1663541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Validation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Google Shape;279;p25">
            <a:extLst xmlns:a="http://schemas.openxmlformats.org/drawingml/2006/main">
              <a:ext uri="{FF2B5EF4-FFF2-40B4-BE49-F238E27FC236}">
                <a16:creationId xmlns:a16="http://schemas.microsoft.com/office/drawing/2014/main" id="{5A179016-37F6-4987-A0D0-8F30E18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805" y="1951673"/>
            <a:ext cx="134603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Screening et contrôle de format.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Google Shape;280;p25">
            <a:extLst xmlns:a="http://schemas.openxmlformats.org/drawingml/2006/main">
              <a:ext uri="{FF2B5EF4-FFF2-40B4-BE49-F238E27FC236}">
                <a16:creationId xmlns:a16="http://schemas.microsoft.com/office/drawing/2014/main" id="{4C019308-CA5C-49D9-BF88-6BBB4B2A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251585"/>
            <a:ext cx="1554480" cy="1286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Google Shape;281;p25">
            <a:extLst xmlns:a="http://schemas.openxmlformats.org/drawingml/2006/main">
              <a:ext uri="{FF2B5EF4-FFF2-40B4-BE49-F238E27FC236}">
                <a16:creationId xmlns:a16="http://schemas.microsoft.com/office/drawing/2014/main" id="{CA84E943-7263-4D23-81CD-A68D924E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585" y="1375410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100"/>
              <a:buFont typeface="Arial"/>
              <a:buNone/>
            </a:pPr>
            <a:r>
              <a:rPr sz="11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2" name="Google Shape;282;p25">
            <a:extLst xmlns:a="http://schemas.openxmlformats.org/drawingml/2006/main">
              <a:ext uri="{FF2B5EF4-FFF2-40B4-BE49-F238E27FC236}">
                <a16:creationId xmlns:a16="http://schemas.microsoft.com/office/drawing/2014/main" id="{FE608D03-B8DB-4371-9592-AB345828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585" y="1663541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Extraction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3" name="Google Shape;283;p25">
            <a:extLst xmlns:a="http://schemas.openxmlformats.org/drawingml/2006/main">
              <a:ext uri="{FF2B5EF4-FFF2-40B4-BE49-F238E27FC236}">
                <a16:creationId xmlns:a16="http://schemas.microsoft.com/office/drawing/2014/main" id="{3DCCAB33-72F4-42B1-A2C3-FBD011ED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585" y="1951673"/>
            <a:ext cx="134603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Détection multi-label : livraison, SAV, produit.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Google Shape;284;p25">
            <a:extLst xmlns:a="http://schemas.openxmlformats.org/drawingml/2006/main">
              <a:ext uri="{FF2B5EF4-FFF2-40B4-BE49-F238E27FC236}">
                <a16:creationId xmlns:a16="http://schemas.microsoft.com/office/drawing/2014/main" id="{0257A48A-953D-482B-B1BB-3A4B959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540" y="1251585"/>
            <a:ext cx="1554480" cy="1286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Google Shape;285;p25">
            <a:extLst xmlns:a="http://schemas.openxmlformats.org/drawingml/2006/main">
              <a:ext uri="{FF2B5EF4-FFF2-40B4-BE49-F238E27FC236}">
                <a16:creationId xmlns:a16="http://schemas.microsoft.com/office/drawing/2014/main" id="{927DCCE0-A0E4-4BAC-8210-C1F6BEFF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65" y="1375410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100"/>
              <a:buFont typeface="Arial"/>
              <a:buNone/>
            </a:pPr>
            <a:r>
              <a:rPr sz="11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6" name="Google Shape;286;p25">
            <a:extLst xmlns:a="http://schemas.openxmlformats.org/drawingml/2006/main">
              <a:ext uri="{FF2B5EF4-FFF2-40B4-BE49-F238E27FC236}">
                <a16:creationId xmlns:a16="http://schemas.microsoft.com/office/drawing/2014/main" id="{961B9CE2-A26E-4D11-AC4E-8BD99D0E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65" y="1663541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Ciblage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25">
            <a:extLst xmlns:a="http://schemas.openxmlformats.org/drawingml/2006/main">
              <a:ext uri="{FF2B5EF4-FFF2-40B4-BE49-F238E27FC236}">
                <a16:creationId xmlns:a16="http://schemas.microsoft.com/office/drawing/2014/main" id="{FC48672D-B3CF-4E5D-87EF-9A6122AC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65" y="1951673"/>
            <a:ext cx="1346035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Sentiment calculé sur les thèmes détecté</a:t>
            </a:r>
            <a:r>
              <a:rPr sz="900">
                <a:solidFill>
                  <a:srgbClr val="444141"/>
                </a:solidFill>
              </a:rPr>
              <a:t>e</a:t>
            </a: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Google Shape;288;p25">
            <a:extLst xmlns:a="http://schemas.openxmlformats.org/drawingml/2006/main">
              <a:ext uri="{FF2B5EF4-FFF2-40B4-BE49-F238E27FC236}">
                <a16:creationId xmlns:a16="http://schemas.microsoft.com/office/drawing/2014/main" id="{E1D15CEE-79EF-4E45-97C3-8D04ECBD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51585"/>
            <a:ext cx="1554480" cy="1286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25">
            <a:extLst xmlns:a="http://schemas.openxmlformats.org/drawingml/2006/main">
              <a:ext uri="{FF2B5EF4-FFF2-40B4-BE49-F238E27FC236}">
                <a16:creationId xmlns:a16="http://schemas.microsoft.com/office/drawing/2014/main" id="{319BB7BE-D462-47A2-BCBC-AA20B431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1375410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100"/>
              <a:buFont typeface="Arial"/>
              <a:buNone/>
            </a:pPr>
            <a:r>
              <a:rPr sz="11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25">
            <a:extLst xmlns:a="http://schemas.openxmlformats.org/drawingml/2006/main">
              <a:ext uri="{FF2B5EF4-FFF2-40B4-BE49-F238E27FC236}">
                <a16:creationId xmlns:a16="http://schemas.microsoft.com/office/drawing/2014/main" id="{FE02953F-D49A-4F55-B999-E67E5A76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1663541"/>
            <a:ext cx="143751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Confiance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1" name="Google Shape;291;p25">
            <a:extLst xmlns:a="http://schemas.openxmlformats.org/drawingml/2006/main">
              <a:ext uri="{FF2B5EF4-FFF2-40B4-BE49-F238E27FC236}">
                <a16:creationId xmlns:a16="http://schemas.microsoft.com/office/drawing/2014/main" id="{C1C1321F-5221-442B-A03C-99388C1F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1951673"/>
            <a:ext cx="1346035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Combinaison des scores et vérification des contradictions.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2" name="Google Shape;292;p25">
            <a:extLst xmlns:a="http://schemas.openxmlformats.org/drawingml/2006/main">
              <a:ext uri="{FF2B5EF4-FFF2-40B4-BE49-F238E27FC236}">
                <a16:creationId xmlns:a16="http://schemas.microsoft.com/office/drawing/2014/main" id="{A74CF21C-96E2-4118-9280-98667051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0813"/>
            <a:ext cx="1619250" cy="923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3" name="Google Shape;293;p25">
            <a:extLst xmlns:a="http://schemas.openxmlformats.org/drawingml/2006/main">
              <a:ext uri="{FF2B5EF4-FFF2-40B4-BE49-F238E27FC236}">
                <a16:creationId xmlns:a16="http://schemas.microsoft.com/office/drawing/2014/main" id="{632CD447-BCBB-401B-8816-CFE14C15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33688"/>
            <a:ext cx="1466850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000"/>
              <a:buFont typeface="Arial"/>
              <a:buNone/>
            </a:pPr>
            <a:r>
              <a:rPr sz="10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ÉTAPE 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4" name="Google Shape;294;p25">
            <a:extLst xmlns:a="http://schemas.openxmlformats.org/drawingml/2006/main">
              <a:ext uri="{FF2B5EF4-FFF2-40B4-BE49-F238E27FC236}">
                <a16:creationId xmlns:a16="http://schemas.microsoft.com/office/drawing/2014/main" id="{7CF988A3-6ACB-42B3-AC4B-8967D878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73241"/>
            <a:ext cx="1373505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7407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400"/>
              <a:buFont typeface="Arial"/>
              <a:buNone/>
            </a:pPr>
            <a:r>
              <a:rPr sz="14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Gate de décision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" name="Google Shape;295;p25">
            <a:extLst xmlns:a="http://schemas.openxmlformats.org/drawingml/2006/main">
              <a:ext uri="{FF2B5EF4-FFF2-40B4-BE49-F238E27FC236}">
                <a16:creationId xmlns:a16="http://schemas.microsoft.com/office/drawing/2014/main" id="{6C4F1C9E-D31A-414E-A619-C3E00CEA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90813"/>
            <a:ext cx="6457950" cy="423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6" name="Google Shape;296;p25">
            <a:extLst xmlns:a="http://schemas.openxmlformats.org/drawingml/2006/main">
              <a:ext uri="{FF2B5EF4-FFF2-40B4-BE49-F238E27FC236}">
                <a16:creationId xmlns:a16="http://schemas.microsoft.com/office/drawing/2014/main" id="{5B0E8A59-33F2-465C-B9DF-EB79E8D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99239"/>
            <a:ext cx="247650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100"/>
              <a:buFont typeface="Arial"/>
              <a:buNone/>
            </a:pPr>
            <a:r>
              <a:rPr sz="11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25">
            <a:extLst xmlns:a="http://schemas.openxmlformats.org/drawingml/2006/main">
              <a:ext uri="{FF2B5EF4-FFF2-40B4-BE49-F238E27FC236}">
                <a16:creationId xmlns:a16="http://schemas.microsoft.com/office/drawing/2014/main" id="{580E4281-BBA3-4CC3-90F7-7FE875F6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799250"/>
            <a:ext cx="11811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Confiance haute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8" name="Google Shape;298;p25">
            <a:extLst xmlns:a="http://schemas.openxmlformats.org/drawingml/2006/main">
              <a:ext uri="{FF2B5EF4-FFF2-40B4-BE49-F238E27FC236}">
                <a16:creationId xmlns:a16="http://schemas.microsoft.com/office/drawing/2014/main" id="{473B548B-6A16-47C3-B769-5D1B6D6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610" y="2796801"/>
            <a:ext cx="1716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Google Shape;299;p25">
            <a:extLst xmlns:a="http://schemas.openxmlformats.org/drawingml/2006/main">
              <a:ext uri="{FF2B5EF4-FFF2-40B4-BE49-F238E27FC236}">
                <a16:creationId xmlns:a16="http://schemas.microsoft.com/office/drawing/2014/main" id="{09C4089E-1FBE-4331-A2F4-219B92FA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571" y="2805945"/>
            <a:ext cx="25269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Décision et action métier automatiques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0" name="Google Shape;300;p25">
            <a:extLst xmlns:a="http://schemas.openxmlformats.org/drawingml/2006/main">
              <a:ext uri="{FF2B5EF4-FFF2-40B4-BE49-F238E27FC236}">
                <a16:creationId xmlns:a16="http://schemas.microsoft.com/office/drawing/2014/main" id="{61453141-AEFF-4CFD-A4ED-8ECCD410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90637"/>
            <a:ext cx="6457950" cy="423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9050" cmpd="sng">
            <a:solidFill>
              <a:srgbClr val="EC301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1" name="Google Shape;301;p25">
            <a:extLst xmlns:a="http://schemas.openxmlformats.org/drawingml/2006/main">
              <a:ext uri="{FF2B5EF4-FFF2-40B4-BE49-F238E27FC236}">
                <a16:creationId xmlns:a16="http://schemas.microsoft.com/office/drawing/2014/main" id="{2750E49D-4A10-4F9D-A386-8F7086C8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9063"/>
            <a:ext cx="2476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100"/>
              <a:buFont typeface="Arial"/>
              <a:buNone/>
            </a:pPr>
            <a:r>
              <a:rPr sz="11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2" name="Google Shape;302;p25">
            <a:extLst xmlns:a="http://schemas.openxmlformats.org/drawingml/2006/main">
              <a:ext uri="{FF2B5EF4-FFF2-40B4-BE49-F238E27FC236}">
                <a16:creationId xmlns:a16="http://schemas.microsoft.com/office/drawing/2014/main" id="{376B767D-B9AB-4562-A8AF-E9160D41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99075"/>
            <a:ext cx="23010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100"/>
              <a:buFont typeface="Arial"/>
              <a:buNone/>
            </a:pPr>
            <a:r>
              <a:rPr sz="1100" b="1">
                <a:solidFill>
                  <a:srgbClr val="AE1800"/>
                </a:solidFill>
                <a:latin typeface="Arial"/>
                <a:ea typeface="Arial"/>
                <a:cs typeface="Arial"/>
              </a:rPr>
              <a:t>Contradiction ou confiance basse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3" name="Google Shape;303;p25">
            <a:extLst xmlns:a="http://schemas.openxmlformats.org/drawingml/2006/main">
              <a:ext uri="{FF2B5EF4-FFF2-40B4-BE49-F238E27FC236}">
                <a16:creationId xmlns:a16="http://schemas.microsoft.com/office/drawing/2014/main" id="{D02CCB5C-5979-40BC-AFA0-28DD48F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147" y="3295117"/>
            <a:ext cx="1716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100"/>
              <a:buFont typeface="Arial"/>
              <a:buNone/>
            </a:pPr>
            <a:r>
              <a:rPr sz="1100">
                <a:solidFill>
                  <a:srgbClr val="AE1800"/>
                </a:solidFill>
                <a:latin typeface="Arial"/>
                <a:ea typeface="Arial"/>
                <a:cs typeface="Arial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4" name="Google Shape;304;p25">
            <a:extLst xmlns:a="http://schemas.openxmlformats.org/drawingml/2006/main">
              <a:ext uri="{FF2B5EF4-FFF2-40B4-BE49-F238E27FC236}">
                <a16:creationId xmlns:a16="http://schemas.microsoft.com/office/drawing/2014/main" id="{5B94ED1F-FE34-4004-94F8-17002B9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50" y="3301467"/>
            <a:ext cx="26901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100"/>
              <a:buFont typeface="Arial"/>
              <a:buNone/>
            </a:pPr>
            <a:r>
              <a:rPr sz="1100">
                <a:solidFill>
                  <a:srgbClr val="AE1800"/>
                </a:solidFill>
                <a:latin typeface="Arial"/>
                <a:ea typeface="Arial"/>
                <a:cs typeface="Arial"/>
              </a:rPr>
              <a:t>Revue humaine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Google Shape;305;p25">
            <a:extLst xmlns:a="http://schemas.openxmlformats.org/drawingml/2006/main">
              <a:ext uri="{FF2B5EF4-FFF2-40B4-BE49-F238E27FC236}">
                <a16:creationId xmlns:a16="http://schemas.microsoft.com/office/drawing/2014/main" id="{072098EE-A1AD-4817-9B80-CEFFBC57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5712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6" name="Google Shape;306;p25">
            <a:extLst xmlns:a="http://schemas.openxmlformats.org/drawingml/2006/main">
              <a:ext uri="{FF2B5EF4-FFF2-40B4-BE49-F238E27FC236}">
                <a16:creationId xmlns:a16="http://schemas.microsoft.com/office/drawing/2014/main" id="{098C5710-5B6D-4056-9951-A31EE6A8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9061"/>
            <a:ext cx="905256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Le système ne force pas une décision lorsqu'il doute : il transforme l'incertitude en </a:t>
            </a: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escalade contrôlée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7" name="Google Shape;307;p25">
            <a:extLst xmlns:a="http://schemas.openxmlformats.org/drawingml/2006/main">
              <a:ext uri="{FF2B5EF4-FFF2-40B4-BE49-F238E27FC236}">
                <a16:creationId xmlns:a16="http://schemas.microsoft.com/office/drawing/2014/main" id="{42D029DE-62ED-4426-AFFA-F2600E5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DONN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ÉES</a:t>
            </a: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, MODEL ET RESULTATS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Google Shape;308;p25">
            <a:extLst xmlns:a="http://schemas.openxmlformats.org/drawingml/2006/main">
              <a:ext uri="{FF2B5EF4-FFF2-40B4-BE49-F238E27FC236}">
                <a16:creationId xmlns:a16="http://schemas.microsoft.com/office/drawing/2014/main" id="{5301740D-0B3F-40A3-B5C4-9CDD8ED1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9684410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4" name="Google Shape;314;p26">
            <a:extLst xmlns:a="http://schemas.openxmlformats.org/drawingml/2006/main">
              <a:ext uri="{FF2B5EF4-FFF2-40B4-BE49-F238E27FC236}">
                <a16:creationId xmlns:a16="http://schemas.microsoft.com/office/drawing/2014/main" id="{24BEAEFE-82C1-4605-92A2-9A1248A2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Le champion v8 franchit tous les gates du test aveugle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5" name="Google Shape;315;p26">
            <a:extLst xmlns:a="http://schemas.openxmlformats.org/drawingml/2006/main">
              <a:ext uri="{FF2B5EF4-FFF2-40B4-BE49-F238E27FC236}">
                <a16:creationId xmlns:a16="http://schemas.microsoft.com/office/drawing/2014/main" id="{FDE84D57-7BAB-4DD5-80DB-94465B04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1650365"/>
            <a:ext cx="2720848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Sentiment — accuracy 0,860 et macro-F1 0,847. Les deux gates sont franchies.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6" name="Google Shape;316;p26">
            <a:extLst xmlns:a="http://schemas.openxmlformats.org/drawingml/2006/main">
              <a:ext uri="{FF2B5EF4-FFF2-40B4-BE49-F238E27FC236}">
                <a16:creationId xmlns:a16="http://schemas.microsoft.com/office/drawing/2014/main" id="{7271C5D3-F6C4-4923-8394-6E842DBA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2375535"/>
            <a:ext cx="2720848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Thèmes — précision 0,890 et macro-F1 0,836. Le modèle reste équilibré.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7" name="Google Shape;317;p26">
            <a:extLst xmlns:a="http://schemas.openxmlformats.org/drawingml/2006/main">
              <a:ext uri="{FF2B5EF4-FFF2-40B4-BE49-F238E27FC236}">
                <a16:creationId xmlns:a16="http://schemas.microsoft.com/office/drawing/2014/main" id="{D84B8293-F423-40F9-A639-291773F4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104198"/>
            <a:ext cx="2720848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Garde-fou API — 4 % des avis sont escaladés vers une revue humaine.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" name="Google Shape;319;p26">
            <a:extLst xmlns:a="http://schemas.openxmlformats.org/drawingml/2006/main">
              <a:ext uri="{FF2B5EF4-FFF2-40B4-BE49-F238E27FC236}">
                <a16:creationId xmlns:a16="http://schemas.microsoft.com/office/drawing/2014/main" id="{E83A1869-F4EB-43B5-8A21-DC8F287F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DONN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ÉES</a:t>
            </a: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, MODEL ET RESULTATS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Google Shape;320;p26">
            <a:extLst xmlns:a="http://schemas.openxmlformats.org/drawingml/2006/main">
              <a:ext uri="{FF2B5EF4-FFF2-40B4-BE49-F238E27FC236}">
                <a16:creationId xmlns:a16="http://schemas.microsoft.com/office/drawing/2014/main" id="{AB980C5E-5E5B-41AC-B812-9C604768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  <p:graphicFrame>
        <p:nvGraphicFramePr>
          <p:cNvPr id="328" name="Résultats du test aveugle réel — champion v8"/>
          <p:cNvGraphicFramePr/>
          <p:nvPr/>
        </p:nvGraphicFramePr>
        <p:xfrm>
          <a:off xmlns:a="http://schemas.openxmlformats.org/drawingml/2006/main" x="457200" y="1183386"/>
          <a:ext xmlns:a="http://schemas.openxmlformats.org/drawingml/2006/main" cx="5689568" cy="32021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5f89009a24452d"/>
          </a:graphicData>
        </a:graphic>
      </p:graphicFrame>
    </p:spTree>
    <p:extLst>
      <p:ext uri="{BB962C8B-B14F-4D97-AF65-F5344CB8AC3E}">
        <p14:creationId xmlns:p14="http://schemas.microsoft.com/office/powerpoint/2010/main" val="8226145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Google Shape;326;p27">
            <a:extLst xmlns:a="http://schemas.openxmlformats.org/drawingml/2006/main">
              <a:ext uri="{FF2B5EF4-FFF2-40B4-BE49-F238E27FC236}">
                <a16:creationId xmlns:a16="http://schemas.microsoft.com/office/drawing/2014/main" id="{BA0B5A86-7F0D-4669-A1A2-EEE0C764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Des métriques solides sur un test aveugle réel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7" name="Google Shape;327;p27">
            <a:extLst xmlns:a="http://schemas.openxmlformats.org/drawingml/2006/main">
              <a:ext uri="{FF2B5EF4-FFF2-40B4-BE49-F238E27FC236}">
                <a16:creationId xmlns:a16="http://schemas.microsoft.com/office/drawing/2014/main" id="{FAE6D798-EE14-4EF0-8703-A5CC013F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8" name="Google Shape;328;p27">
            <a:extLst xmlns:a="http://schemas.openxmlformats.org/drawingml/2006/main">
              <a:ext uri="{FF2B5EF4-FFF2-40B4-BE49-F238E27FC236}">
                <a16:creationId xmlns:a16="http://schemas.microsoft.com/office/drawing/2014/main" id="{ABCBCB38-C32C-4493-A07C-B52A0384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1585"/>
            <a:ext cx="2641600" cy="1961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9" name="Google Shape;329;p27">
            <a:extLst xmlns:a="http://schemas.openxmlformats.org/drawingml/2006/main">
              <a:ext uri="{FF2B5EF4-FFF2-40B4-BE49-F238E27FC236}">
                <a16:creationId xmlns:a16="http://schemas.microsoft.com/office/drawing/2014/main" id="{E36DD1DF-807F-46F8-9C3C-C7A65074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61110"/>
            <a:ext cx="2622550" cy="3781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0" name="Google Shape;330;p27">
            <a:extLst xmlns:a="http://schemas.openxmlformats.org/drawingml/2006/main">
              <a:ext uri="{FF2B5EF4-FFF2-40B4-BE49-F238E27FC236}">
                <a16:creationId xmlns:a16="http://schemas.microsoft.com/office/drawing/2014/main" id="{DB86A080-7BBE-4991-846B-2FC8AAB9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46835"/>
            <a:ext cx="2472627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Thèmes — multi-label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1" name="Google Shape;331;p27">
            <a:extLst xmlns:a="http://schemas.openxmlformats.org/drawingml/2006/main">
              <a:ext uri="{FF2B5EF4-FFF2-40B4-BE49-F238E27FC236}">
                <a16:creationId xmlns:a16="http://schemas.microsoft.com/office/drawing/2014/main" id="{8980D85E-1AA4-4E87-91C9-0573EE81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82128"/>
            <a:ext cx="263334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839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Courier New"/>
              <a:buNone/>
            </a:pPr>
            <a:r>
              <a:rPr sz="23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0,836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2" name="Google Shape;332;p27">
            <a:extLst xmlns:a="http://schemas.openxmlformats.org/drawingml/2006/main">
              <a:ext uri="{FF2B5EF4-FFF2-40B4-BE49-F238E27FC236}">
                <a16:creationId xmlns:a16="http://schemas.microsoft.com/office/drawing/2014/main" id="{082A34CF-26DF-4CF6-A950-D2F5F985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53603"/>
            <a:ext cx="263334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>
                <a:solidFill>
                  <a:srgbClr val="605D5D"/>
                </a:solidFill>
                <a:latin typeface="Arial"/>
                <a:ea typeface="Arial"/>
                <a:cs typeface="Arial"/>
              </a:rPr>
              <a:t>Macro-F1 · gate ≥ 0,82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p27">
            <a:extLst xmlns:a="http://schemas.openxmlformats.org/drawingml/2006/main">
              <a:ext uri="{FF2B5EF4-FFF2-40B4-BE49-F238E27FC236}">
                <a16:creationId xmlns:a16="http://schemas.microsoft.com/office/drawing/2014/main" id="{A21C308B-95A4-4C01-AEAD-7BB9DF6F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50307"/>
            <a:ext cx="2633345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100"/>
              <a:buFont typeface="Arial"/>
              <a:buNone/>
            </a:pPr>
            <a:r>
              <a:rPr sz="1100" b="1">
                <a:solidFill>
                  <a:srgbClr val="AE1800"/>
                </a:solidFill>
                <a:latin typeface="Arial"/>
                <a:ea typeface="Arial"/>
                <a:cs typeface="Arial"/>
              </a:rPr>
              <a:t>Gate franchie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4" name="Google Shape;334;p27">
            <a:extLst xmlns:a="http://schemas.openxmlformats.org/drawingml/2006/main">
              <a:ext uri="{FF2B5EF4-FFF2-40B4-BE49-F238E27FC236}">
                <a16:creationId xmlns:a16="http://schemas.microsoft.com/office/drawing/2014/main" id="{46FF7D33-5608-485A-B42E-1616068D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14149"/>
            <a:ext cx="2465769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Précision 0,890 · rappel 0,803.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5" name="Google Shape;335;p27">
            <a:extLst xmlns:a="http://schemas.openxmlformats.org/drawingml/2006/main">
              <a:ext uri="{FF2B5EF4-FFF2-40B4-BE49-F238E27FC236}">
                <a16:creationId xmlns:a16="http://schemas.microsoft.com/office/drawing/2014/main" id="{2B900E73-1D35-4DFB-9B4F-2D18E4BC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1251585"/>
            <a:ext cx="2641600" cy="1961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6" name="Google Shape;336;p27">
            <a:extLst xmlns:a="http://schemas.openxmlformats.org/drawingml/2006/main">
              <a:ext uri="{FF2B5EF4-FFF2-40B4-BE49-F238E27FC236}">
                <a16:creationId xmlns:a16="http://schemas.microsoft.com/office/drawing/2014/main" id="{E0366BE5-345D-4B22-B4B0-723FB35C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725" y="1261110"/>
            <a:ext cx="2622550" cy="3781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Google Shape;337;p27">
            <a:extLst xmlns:a="http://schemas.openxmlformats.org/drawingml/2006/main">
              <a:ext uri="{FF2B5EF4-FFF2-40B4-BE49-F238E27FC236}">
                <a16:creationId xmlns:a16="http://schemas.microsoft.com/office/drawing/2014/main" id="{FA233CCB-5871-4DBF-B652-FA774856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1346835"/>
            <a:ext cx="2472627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Sentiment aspectuel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8" name="Google Shape;338;p27">
            <a:extLst xmlns:a="http://schemas.openxmlformats.org/drawingml/2006/main">
              <a:ext uri="{FF2B5EF4-FFF2-40B4-BE49-F238E27FC236}">
                <a16:creationId xmlns:a16="http://schemas.microsoft.com/office/drawing/2014/main" id="{C30E987E-4147-4C80-9230-3ADEFE4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1782128"/>
            <a:ext cx="263334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839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Courier New"/>
              <a:buNone/>
            </a:pPr>
            <a:r>
              <a:rPr sz="23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0,847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9" name="Google Shape;339;p27">
            <a:extLst xmlns:a="http://schemas.openxmlformats.org/drawingml/2006/main">
              <a:ext uri="{FF2B5EF4-FFF2-40B4-BE49-F238E27FC236}">
                <a16:creationId xmlns:a16="http://schemas.microsoft.com/office/drawing/2014/main" id="{0FD43B03-B58F-49D5-BEE4-0AAA9D90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2153603"/>
            <a:ext cx="263334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>
                <a:solidFill>
                  <a:srgbClr val="605D5D"/>
                </a:solidFill>
                <a:latin typeface="Arial"/>
                <a:ea typeface="Arial"/>
                <a:cs typeface="Arial"/>
              </a:rPr>
              <a:t>Macro-F1 · gate ≥ 0,80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0" name="Google Shape;340;p27">
            <a:extLst xmlns:a="http://schemas.openxmlformats.org/drawingml/2006/main">
              <a:ext uri="{FF2B5EF4-FFF2-40B4-BE49-F238E27FC236}">
                <a16:creationId xmlns:a16="http://schemas.microsoft.com/office/drawing/2014/main" id="{2CB57B6F-CD85-46BF-8EA2-718F647C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2450307"/>
            <a:ext cx="2633345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100"/>
              <a:buFont typeface="Arial"/>
              <a:buNone/>
            </a:pPr>
            <a:r>
              <a:rPr sz="1100" b="1">
                <a:solidFill>
                  <a:srgbClr val="AE1800"/>
                </a:solidFill>
                <a:latin typeface="Arial"/>
                <a:ea typeface="Arial"/>
                <a:cs typeface="Arial"/>
              </a:rPr>
              <a:t>Gate franchie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1" name="Google Shape;341;p27">
            <a:extLst xmlns:a="http://schemas.openxmlformats.org/drawingml/2006/main">
              <a:ext uri="{FF2B5EF4-FFF2-40B4-BE49-F238E27FC236}">
                <a16:creationId xmlns:a16="http://schemas.microsoft.com/office/drawing/2014/main" id="{330E5A09-F540-448F-A2D6-B79E8693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2714149"/>
            <a:ext cx="263334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Accuracy 0,860 sur 150 avis réels.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2" name="Google Shape;342;p27">
            <a:extLst xmlns:a="http://schemas.openxmlformats.org/drawingml/2006/main">
              <a:ext uri="{FF2B5EF4-FFF2-40B4-BE49-F238E27FC236}">
                <a16:creationId xmlns:a16="http://schemas.microsoft.com/office/drawing/2014/main" id="{AEC7BBDD-E16E-49AC-818E-D213BEE4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251585"/>
            <a:ext cx="2641600" cy="1961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3" name="Google Shape;343;p27">
            <a:extLst xmlns:a="http://schemas.openxmlformats.org/drawingml/2006/main">
              <a:ext uri="{FF2B5EF4-FFF2-40B4-BE49-F238E27FC236}">
                <a16:creationId xmlns:a16="http://schemas.microsoft.com/office/drawing/2014/main" id="{C63A7614-A288-407C-B728-FCDAE90C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725" y="1261110"/>
            <a:ext cx="2622550" cy="3781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4" name="Google Shape;344;p27">
            <a:extLst xmlns:a="http://schemas.openxmlformats.org/drawingml/2006/main">
              <a:ext uri="{FF2B5EF4-FFF2-40B4-BE49-F238E27FC236}">
                <a16:creationId xmlns:a16="http://schemas.microsoft.com/office/drawing/2014/main" id="{A62C96E8-BA04-4230-BC64-2D7743DC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1346835"/>
            <a:ext cx="2472627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Taux de revue humaine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5" name="Google Shape;345;p27">
            <a:extLst xmlns:a="http://schemas.openxmlformats.org/drawingml/2006/main">
              <a:ext uri="{FF2B5EF4-FFF2-40B4-BE49-F238E27FC236}">
                <a16:creationId xmlns:a16="http://schemas.microsoft.com/office/drawing/2014/main" id="{497AEA68-66A3-462E-A14D-12225509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1782128"/>
            <a:ext cx="263334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839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Courier New"/>
              <a:buNone/>
            </a:pPr>
            <a:r>
              <a:rPr sz="23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4 %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6" name="Google Shape;346;p27">
            <a:extLst xmlns:a="http://schemas.openxmlformats.org/drawingml/2006/main">
              <a:ext uri="{FF2B5EF4-FFF2-40B4-BE49-F238E27FC236}">
                <a16:creationId xmlns:a16="http://schemas.microsoft.com/office/drawing/2014/main" id="{0427D987-FC4A-432D-99EA-1DF85E5B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153603"/>
            <a:ext cx="263334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>
                <a:solidFill>
                  <a:srgbClr val="605D5D"/>
                </a:solidFill>
                <a:latin typeface="Arial"/>
                <a:ea typeface="Arial"/>
                <a:cs typeface="Arial"/>
              </a:rPr>
              <a:t>Gate ≤ 10 %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7" name="Google Shape;347;p27">
            <a:extLst xmlns:a="http://schemas.openxmlformats.org/drawingml/2006/main">
              <a:ext uri="{FF2B5EF4-FFF2-40B4-BE49-F238E27FC236}">
                <a16:creationId xmlns:a16="http://schemas.microsoft.com/office/drawing/2014/main" id="{50B97430-F4EC-458A-926C-DBA5EF1F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450307"/>
            <a:ext cx="2633345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100"/>
              <a:buFont typeface="Arial"/>
              <a:buNone/>
            </a:pPr>
            <a:r>
              <a:rPr sz="1100" b="1">
                <a:solidFill>
                  <a:srgbClr val="AE1800"/>
                </a:solidFill>
                <a:latin typeface="Arial"/>
                <a:ea typeface="Arial"/>
                <a:cs typeface="Arial"/>
              </a:rPr>
              <a:t>Prudence maîtrisée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8" name="Google Shape;348;p27">
            <a:extLst xmlns:a="http://schemas.openxmlformats.org/drawingml/2006/main">
              <a:ext uri="{FF2B5EF4-FFF2-40B4-BE49-F238E27FC236}">
                <a16:creationId xmlns:a16="http://schemas.microsoft.com/office/drawing/2014/main" id="{D659D468-3765-4744-A492-B796EDA3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714149"/>
            <a:ext cx="263334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6 avis sur 150 escaladés par l’API.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9" name="Google Shape;349;p27">
            <a:extLst xmlns:a="http://schemas.openxmlformats.org/drawingml/2006/main">
              <a:ext uri="{FF2B5EF4-FFF2-40B4-BE49-F238E27FC236}">
                <a16:creationId xmlns:a16="http://schemas.microsoft.com/office/drawing/2014/main" id="{7C5126DB-DC4E-44E8-8779-3CAA03E0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4709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0" name="Google Shape;350;p27">
            <a:extLst xmlns:a="http://schemas.openxmlformats.org/drawingml/2006/main">
              <a:ext uri="{FF2B5EF4-FFF2-40B4-BE49-F238E27FC236}">
                <a16:creationId xmlns:a16="http://schemas.microsoft.com/office/drawing/2014/main" id="{767D13CA-361A-491E-8D69-D55D03FA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8059"/>
            <a:ext cx="7946708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Tous les gates de promotion sont franchis. Le prochain axe reste ciblé : améliorer le rappel du thème livraison, actuellement à 0,66, sans dégrader la précision ni réutiliser le blind test.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1" name="Google Shape;351;p27">
            <a:extLst xmlns:a="http://schemas.openxmlformats.org/drawingml/2006/main">
              <a:ext uri="{FF2B5EF4-FFF2-40B4-BE49-F238E27FC236}">
                <a16:creationId xmlns:a16="http://schemas.microsoft.com/office/drawing/2014/main" id="{F4B8D68F-7730-4E83-B398-9BA2F48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DONN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ÉES</a:t>
            </a: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, MODEL ET RESULTATS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2" name="Google Shape;352;p27">
            <a:extLst xmlns:a="http://schemas.openxmlformats.org/drawingml/2006/main">
              <a:ext uri="{FF2B5EF4-FFF2-40B4-BE49-F238E27FC236}">
                <a16:creationId xmlns:a16="http://schemas.microsoft.com/office/drawing/2014/main" id="{ECC02CD5-41E6-4FDA-A3BE-5BE91891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8199070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8" name="Google Shape;358;p28">
            <a:extLst xmlns:a="http://schemas.openxmlformats.org/drawingml/2006/main">
              <a:ext uri="{FF2B5EF4-FFF2-40B4-BE49-F238E27FC236}">
                <a16:creationId xmlns:a16="http://schemas.microsoft.com/office/drawing/2014/main" id="{F8B55A14-59F4-4AE2-9821-33D02CA6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Trois choses à retenir des chiffres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9" name="Google Shape;359;p28">
            <a:extLst xmlns:a="http://schemas.openxmlformats.org/drawingml/2006/main">
              <a:ext uri="{FF2B5EF4-FFF2-40B4-BE49-F238E27FC236}">
                <a16:creationId xmlns:a16="http://schemas.microsoft.com/office/drawing/2014/main" id="{EA01550A-5E90-4977-B5B0-6D21B09E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8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0" name="Google Shape;360;p28">
            <a:extLst xmlns:a="http://schemas.openxmlformats.org/drawingml/2006/main">
              <a:ext uri="{FF2B5EF4-FFF2-40B4-BE49-F238E27FC236}">
                <a16:creationId xmlns:a16="http://schemas.microsoft.com/office/drawing/2014/main" id="{42CA42CA-8873-42B2-8D90-3CF608D9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1575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1" name="Google Shape;361;p28">
            <a:extLst xmlns:a="http://schemas.openxmlformats.org/drawingml/2006/main">
              <a:ext uri="{FF2B5EF4-FFF2-40B4-BE49-F238E27FC236}">
                <a16:creationId xmlns:a16="http://schemas.microsoft.com/office/drawing/2014/main" id="{C56D4142-0AC0-4656-9253-C45893F5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873250"/>
            <a:ext cx="657225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866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2300"/>
              <a:buFont typeface="Arial"/>
              <a:buNone/>
            </a:pPr>
            <a:r>
              <a:rPr sz="2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1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2" name="Google Shape;362;p28">
            <a:extLst xmlns:a="http://schemas.openxmlformats.org/drawingml/2006/main">
              <a:ext uri="{FF2B5EF4-FFF2-40B4-BE49-F238E27FC236}">
                <a16:creationId xmlns:a16="http://schemas.microsoft.com/office/drawing/2014/main" id="{98935D99-C881-44FB-9D2A-E3838F78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778635"/>
            <a:ext cx="8182928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117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500"/>
              <a:buFont typeface="Arial"/>
              <a:buNone/>
            </a:pPr>
            <a:r>
              <a:rPr sz="15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Le réel remplace l’hypothèse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3" name="Google Shape;363;p28">
            <a:extLst xmlns:a="http://schemas.openxmlformats.org/drawingml/2006/main">
              <a:ext uri="{FF2B5EF4-FFF2-40B4-BE49-F238E27FC236}">
                <a16:creationId xmlns:a16="http://schemas.microsoft.com/office/drawing/2014/main" id="{C49B5318-33F9-429D-B80C-BA7B9306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064385"/>
            <a:ext cx="73342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Trois datasets enregistrés et un blind test verrouillé fondent désormais la décision.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" name="Google Shape;364;p28">
            <a:extLst xmlns:a="http://schemas.openxmlformats.org/drawingml/2006/main">
              <a:ext uri="{FF2B5EF4-FFF2-40B4-BE49-F238E27FC236}">
                <a16:creationId xmlns:a16="http://schemas.microsoft.com/office/drawing/2014/main" id="{83E54194-C293-46A3-8426-6B3638AA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454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Google Shape;365;p28">
            <a:extLst xmlns:a="http://schemas.openxmlformats.org/drawingml/2006/main">
              <a:ext uri="{FF2B5EF4-FFF2-40B4-BE49-F238E27FC236}">
                <a16:creationId xmlns:a16="http://schemas.microsoft.com/office/drawing/2014/main" id="{21B60F13-9DB5-4603-89C0-2FD74EF6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705100"/>
            <a:ext cx="657225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866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2300"/>
              <a:buFont typeface="Arial"/>
              <a:buNone/>
            </a:pPr>
            <a:r>
              <a:rPr sz="2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2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Google Shape;366;p28">
            <a:extLst xmlns:a="http://schemas.openxmlformats.org/drawingml/2006/main">
              <a:ext uri="{FF2B5EF4-FFF2-40B4-BE49-F238E27FC236}">
                <a16:creationId xmlns:a16="http://schemas.microsoft.com/office/drawing/2014/main" id="{D422AB17-8178-49F4-8062-5FCA2405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641600"/>
            <a:ext cx="8182928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117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500"/>
              <a:buFont typeface="Arial"/>
              <a:buNone/>
            </a:pPr>
            <a:r>
              <a:rPr sz="15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Le mix maximise la robustesse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7" name="Google Shape;367;p28">
            <a:extLst xmlns:a="http://schemas.openxmlformats.org/drawingml/2006/main">
              <a:ext uri="{FF2B5EF4-FFF2-40B4-BE49-F238E27FC236}">
                <a16:creationId xmlns:a16="http://schemas.microsoft.com/office/drawing/2014/main" id="{79C5E40D-170E-4603-B928-CD45C0B6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27350"/>
            <a:ext cx="73342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5 811 avis réels + 4 500 synthétiques entraînent le champion v8 sans fuite vers le test.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8" name="Google Shape;368;p28">
            <a:extLst xmlns:a="http://schemas.openxmlformats.org/drawingml/2006/main">
              <a:ext uri="{FF2B5EF4-FFF2-40B4-BE49-F238E27FC236}">
                <a16:creationId xmlns:a16="http://schemas.microsoft.com/office/drawing/2014/main" id="{9902426C-1476-4E19-88C1-78CB5BD3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563620"/>
            <a:ext cx="657225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866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2300"/>
              <a:buFont typeface="Arial"/>
              <a:buNone/>
            </a:pPr>
            <a:r>
              <a:rPr sz="2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3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9" name="Google Shape;369;p28">
            <a:extLst xmlns:a="http://schemas.openxmlformats.org/drawingml/2006/main">
              <a:ext uri="{FF2B5EF4-FFF2-40B4-BE49-F238E27FC236}">
                <a16:creationId xmlns:a16="http://schemas.microsoft.com/office/drawing/2014/main" id="{9F26CE7A-09D5-4C15-B5D3-9796DA2C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04565"/>
            <a:ext cx="8182928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117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500"/>
              <a:buFont typeface="Arial"/>
              <a:buNone/>
            </a:pPr>
            <a:r>
              <a:rPr sz="15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Une moyenne ne suffit toujours pas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Google Shape;370;p28">
            <a:extLst xmlns:a="http://schemas.openxmlformats.org/drawingml/2006/main">
              <a:ext uri="{FF2B5EF4-FFF2-40B4-BE49-F238E27FC236}">
                <a16:creationId xmlns:a16="http://schemas.microsoft.com/office/drawing/2014/main" id="{D1F6748E-A76F-4000-A5D3-A6F9D37D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90315"/>
            <a:ext cx="73342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Le rappel livraison à 0,66 reste le principal garde-fou malgré tous les gates franchis.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1" name="Google Shape;371;p28">
            <a:extLst xmlns:a="http://schemas.openxmlformats.org/drawingml/2006/main">
              <a:ext uri="{FF2B5EF4-FFF2-40B4-BE49-F238E27FC236}">
                <a16:creationId xmlns:a16="http://schemas.microsoft.com/office/drawing/2014/main" id="{BF24DA56-F456-44B0-91B7-DDEBA599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DONN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ÉES</a:t>
            </a: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, MODEL ET RESULTATS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2" name="Google Shape;372;p28">
            <a:extLst xmlns:a="http://schemas.openxmlformats.org/drawingml/2006/main">
              <a:ext uri="{FF2B5EF4-FFF2-40B4-BE49-F238E27FC236}">
                <a16:creationId xmlns:a16="http://schemas.microsoft.com/office/drawing/2014/main" id="{AE9EA735-5E31-4598-81E2-E824C094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6143980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378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9f2ac8a7d44ad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" y="1"/>
            <a:ext cx="9141568" cy="51448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997668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Google Shape;384;p30">
            <a:extLst xmlns:a="http://schemas.openxmlformats.org/drawingml/2006/main">
              <a:ext uri="{FF2B5EF4-FFF2-40B4-BE49-F238E27FC236}">
                <a16:creationId xmlns:a16="http://schemas.microsoft.com/office/drawing/2014/main" id="{94B5DDCC-9DFD-458F-A45B-CBCC9A12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</a:rPr>
              <a:t>CI GitHub Actions pour v</a:t>
            </a: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érifier chaque changement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5" name="Google Shape;385;p30">
            <a:extLst xmlns:a="http://schemas.openxmlformats.org/drawingml/2006/main">
              <a:ext uri="{FF2B5EF4-FFF2-40B4-BE49-F238E27FC236}">
                <a16:creationId xmlns:a16="http://schemas.microsoft.com/office/drawing/2014/main" id="{38928761-C58F-480C-83C5-8F058443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3460"/>
            <a:ext cx="7858125" cy="211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62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Une chaîne courte bloque automatiquement les erreurs avant toute fusion.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6" name="Google Shape;386;p30">
            <a:extLst xmlns:a="http://schemas.openxmlformats.org/drawingml/2006/main">
              <a:ext uri="{FF2B5EF4-FFF2-40B4-BE49-F238E27FC236}">
                <a16:creationId xmlns:a16="http://schemas.microsoft.com/office/drawing/2014/main" id="{19CDCFF1-AFF3-4856-8641-51D22812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8741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7" name="Google Shape;387;p30">
            <a:extLst xmlns:a="http://schemas.openxmlformats.org/drawingml/2006/main">
              <a:ext uri="{FF2B5EF4-FFF2-40B4-BE49-F238E27FC236}">
                <a16:creationId xmlns:a16="http://schemas.microsoft.com/office/drawing/2014/main" id="{5207821A-8789-4248-8487-B2CA0BF4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9716"/>
            <a:ext cx="1957388" cy="130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8" name="Google Shape;388;p30">
            <a:extLst xmlns:a="http://schemas.openxmlformats.org/drawingml/2006/main">
              <a:ext uri="{FF2B5EF4-FFF2-40B4-BE49-F238E27FC236}">
                <a16:creationId xmlns:a16="http://schemas.microsoft.com/office/drawing/2014/main" id="{B79A1FAC-52F6-4A4E-BDA8-DE30553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2116"/>
            <a:ext cx="18597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2000"/>
              <a:buFont typeface="Arial"/>
              <a:buNone/>
            </a:pPr>
            <a:r>
              <a:rPr sz="2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9" name="Google Shape;389;p30">
            <a:extLst xmlns:a="http://schemas.openxmlformats.org/drawingml/2006/main">
              <a:ext uri="{FF2B5EF4-FFF2-40B4-BE49-F238E27FC236}">
                <a16:creationId xmlns:a16="http://schemas.microsoft.com/office/drawing/2014/main" id="{73394C7F-B607-4E77-9FA1-DCDD7E5B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5966"/>
            <a:ext cx="1859756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Changement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0" name="Google Shape;390;p30">
            <a:extLst xmlns:a="http://schemas.openxmlformats.org/drawingml/2006/main">
              <a:ext uri="{FF2B5EF4-FFF2-40B4-BE49-F238E27FC236}">
                <a16:creationId xmlns:a16="http://schemas.microsoft.com/office/drawing/2014/main" id="{8E37A17E-692A-44EF-9CF3-B8C725FA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859756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Push ou pull request.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1" name="Google Shape;391;p30">
            <a:extLst xmlns:a="http://schemas.openxmlformats.org/drawingml/2006/main">
              <a:ext uri="{FF2B5EF4-FFF2-40B4-BE49-F238E27FC236}">
                <a16:creationId xmlns:a16="http://schemas.microsoft.com/office/drawing/2014/main" id="{1B2CBB59-1DDB-4CB4-ACFF-2B2392C9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8" y="1539716"/>
            <a:ext cx="1957388" cy="130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2" name="Google Shape;392;p30">
            <a:extLst xmlns:a="http://schemas.openxmlformats.org/drawingml/2006/main">
              <a:ext uri="{FF2B5EF4-FFF2-40B4-BE49-F238E27FC236}">
                <a16:creationId xmlns:a16="http://schemas.microsoft.com/office/drawing/2014/main" id="{0DCA8B6D-9947-49B0-A53D-09E8701F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1692116"/>
            <a:ext cx="18597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2000"/>
              <a:buFont typeface="Arial"/>
              <a:buNone/>
            </a:pPr>
            <a:r>
              <a:rPr sz="2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3" name="Google Shape;393;p30">
            <a:extLst xmlns:a="http://schemas.openxmlformats.org/drawingml/2006/main">
              <a:ext uri="{FF2B5EF4-FFF2-40B4-BE49-F238E27FC236}">
                <a16:creationId xmlns:a16="http://schemas.microsoft.com/office/drawing/2014/main" id="{EB1FE096-90CD-4EF6-A7DF-F0CEDDD1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2015966"/>
            <a:ext cx="1859756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Tests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4" name="Google Shape;394;p30">
            <a:extLst xmlns:a="http://schemas.openxmlformats.org/drawingml/2006/main">
              <a:ext uri="{FF2B5EF4-FFF2-40B4-BE49-F238E27FC236}">
                <a16:creationId xmlns:a16="http://schemas.microsoft.com/office/drawing/2014/main" id="{10C3CEB0-7BBD-49C1-B26C-9FB96EF6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2343150"/>
            <a:ext cx="1741408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126 tests Pytest, Ruff propre, gates de qualité.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5" name="Google Shape;395;p30">
            <a:extLst xmlns:a="http://schemas.openxmlformats.org/drawingml/2006/main">
              <a:ext uri="{FF2B5EF4-FFF2-40B4-BE49-F238E27FC236}">
                <a16:creationId xmlns:a16="http://schemas.microsoft.com/office/drawing/2014/main" id="{AE20BE38-BE7D-44C2-A6A7-F20D8445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39716"/>
            <a:ext cx="1957388" cy="130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6" name="Google Shape;396;p30">
            <a:extLst xmlns:a="http://schemas.openxmlformats.org/drawingml/2006/main">
              <a:ext uri="{FF2B5EF4-FFF2-40B4-BE49-F238E27FC236}">
                <a16:creationId xmlns:a16="http://schemas.microsoft.com/office/drawing/2014/main" id="{4ED79074-7715-4017-A87F-6CDF9C52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92116"/>
            <a:ext cx="18597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2000"/>
              <a:buFont typeface="Arial"/>
              <a:buNone/>
            </a:pPr>
            <a:r>
              <a:rPr sz="2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7" name="Google Shape;397;p30">
            <a:extLst xmlns:a="http://schemas.openxmlformats.org/drawingml/2006/main">
              <a:ext uri="{FF2B5EF4-FFF2-40B4-BE49-F238E27FC236}">
                <a16:creationId xmlns:a16="http://schemas.microsoft.com/office/drawing/2014/main" id="{CC890609-44D6-4767-A244-F895BE3C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15966"/>
            <a:ext cx="1859756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Validation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8" name="Google Shape;398;p30">
            <a:extLst xmlns:a="http://schemas.openxmlformats.org/drawingml/2006/main">
              <a:ext uri="{FF2B5EF4-FFF2-40B4-BE49-F238E27FC236}">
                <a16:creationId xmlns:a16="http://schemas.microsoft.com/office/drawing/2014/main" id="{A26680A6-634F-4253-AF39-48957A0C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43150"/>
            <a:ext cx="1741408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Évaluation du modèle, build Docker Compose.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9" name="Google Shape;399;p30">
            <a:extLst xmlns:a="http://schemas.openxmlformats.org/drawingml/2006/main">
              <a:ext uri="{FF2B5EF4-FFF2-40B4-BE49-F238E27FC236}">
                <a16:creationId xmlns:a16="http://schemas.microsoft.com/office/drawing/2014/main" id="{8D553B85-DB56-470C-A671-BF697468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1539716"/>
            <a:ext cx="1957388" cy="130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0" name="Google Shape;400;p30">
            <a:extLst xmlns:a="http://schemas.openxmlformats.org/drawingml/2006/main">
              <a:ext uri="{FF2B5EF4-FFF2-40B4-BE49-F238E27FC236}">
                <a16:creationId xmlns:a16="http://schemas.microsoft.com/office/drawing/2014/main" id="{5C1428BC-A52F-4DEE-AD43-A9068AEB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1692116"/>
            <a:ext cx="18597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2000"/>
              <a:buFont typeface="Arial"/>
              <a:buNone/>
            </a:pPr>
            <a:r>
              <a:rPr sz="2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1" name="Google Shape;401;p30">
            <a:extLst xmlns:a="http://schemas.openxmlformats.org/drawingml/2006/main">
              <a:ext uri="{FF2B5EF4-FFF2-40B4-BE49-F238E27FC236}">
                <a16:creationId xmlns:a16="http://schemas.microsoft.com/office/drawing/2014/main" id="{14CD7905-FF72-4769-8684-2DD2CF2B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2015966"/>
            <a:ext cx="1859756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Smoke tests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2" name="Google Shape;402;p30">
            <a:extLst xmlns:a="http://schemas.openxmlformats.org/drawingml/2006/main">
              <a:ext uri="{FF2B5EF4-FFF2-40B4-BE49-F238E27FC236}">
                <a16:creationId xmlns:a16="http://schemas.microsoft.com/office/drawing/2014/main" id="{F89946D8-E4AE-4CAE-871B-372D8D9C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2343150"/>
            <a:ext cx="1741408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10/10 · API · data · MLflow · monitoring.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3" name="Google Shape;403;p30">
            <a:extLst xmlns:a="http://schemas.openxmlformats.org/drawingml/2006/main">
              <a:ext uri="{FF2B5EF4-FFF2-40B4-BE49-F238E27FC236}">
                <a16:creationId xmlns:a16="http://schemas.microsoft.com/office/drawing/2014/main" id="{AB226FAA-C9D5-4AC2-A774-519231E6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37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Google Shape;404;p30">
            <a:extLst xmlns:a="http://schemas.openxmlformats.org/drawingml/2006/main">
              <a:ext uri="{FF2B5EF4-FFF2-40B4-BE49-F238E27FC236}">
                <a16:creationId xmlns:a16="http://schemas.microsoft.com/office/drawing/2014/main" id="{7874ABD7-80BC-41E5-8EE7-851E3800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7060"/>
            <a:ext cx="4421505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100"/>
              <a:buFont typeface="Arial"/>
              <a:buNone/>
            </a:pPr>
            <a:r>
              <a:rPr sz="1100" b="1">
                <a:solidFill>
                  <a:srgbClr val="AE1800"/>
                </a:solidFill>
                <a:latin typeface="Arial"/>
                <a:ea typeface="Arial"/>
                <a:cs typeface="Arial"/>
              </a:rPr>
              <a:t>Échec : 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correction nécessaire, la fusion est bloquée.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5" name="Google Shape;405;p30">
            <a:extLst xmlns:a="http://schemas.openxmlformats.org/drawingml/2006/main">
              <a:ext uri="{FF2B5EF4-FFF2-40B4-BE49-F238E27FC236}">
                <a16:creationId xmlns:a16="http://schemas.microsoft.com/office/drawing/2014/main" id="{02FE099A-6549-4DA7-A48D-FAD7E0C0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7060"/>
            <a:ext cx="4421505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Succès : 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changement validé et traçable.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6" name="Google Shape;406;p30">
            <a:extLst xmlns:a="http://schemas.openxmlformats.org/drawingml/2006/main">
              <a:ext uri="{FF2B5EF4-FFF2-40B4-BE49-F238E27FC236}">
                <a16:creationId xmlns:a16="http://schemas.microsoft.com/office/drawing/2014/main" id="{635215BE-6BD9-4C69-B216-24A6DB9C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ORCHESTRATION, GOUVERNANCE ET OBSERVABILIT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7" name="Google Shape;407;p30">
            <a:extLst xmlns:a="http://schemas.openxmlformats.org/drawingml/2006/main">
              <a:ext uri="{FF2B5EF4-FFF2-40B4-BE49-F238E27FC236}">
                <a16:creationId xmlns:a16="http://schemas.microsoft.com/office/drawing/2014/main" id="{30A10AE6-37B1-464F-B3EA-BBEF2F4C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1692045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3" name="Google Shape;413;p31">
            <a:extLst xmlns:a="http://schemas.openxmlformats.org/drawingml/2006/main">
              <a:ext uri="{FF2B5EF4-FFF2-40B4-BE49-F238E27FC236}">
                <a16:creationId xmlns:a16="http://schemas.microsoft.com/office/drawing/2014/main" id="{3B798AE1-B6A3-4ADC-B784-327CCF7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Séparer l'exécution métier de la gouvernance ML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4" name="Google Shape;414;p31">
            <a:extLst xmlns:a="http://schemas.openxmlformats.org/drawingml/2006/main">
              <a:ext uri="{FF2B5EF4-FFF2-40B4-BE49-F238E27FC236}">
                <a16:creationId xmlns:a16="http://schemas.microsoft.com/office/drawing/2014/main" id="{70773CB8-29FA-47F9-9706-AC9A460C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5" name="Google Shape;415;p31">
            <a:extLst xmlns:a="http://schemas.openxmlformats.org/drawingml/2006/main">
              <a:ext uri="{FF2B5EF4-FFF2-40B4-BE49-F238E27FC236}">
                <a16:creationId xmlns:a16="http://schemas.microsoft.com/office/drawing/2014/main" id="{B710D286-0F3C-4612-9040-0BA8CD6E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7845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6" name="Google Shape;416;p31">
            <a:extLst xmlns:a="http://schemas.openxmlformats.org/drawingml/2006/main">
              <a:ext uri="{FF2B5EF4-FFF2-40B4-BE49-F238E27FC236}">
                <a16:creationId xmlns:a16="http://schemas.microsoft.com/office/drawing/2014/main" id="{26A1CE26-DDF3-4252-9068-3E7EEB4E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3010"/>
            <a:ext cx="2095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41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Couche application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7" name="Google Shape;417;p31">
            <a:extLst xmlns:a="http://schemas.openxmlformats.org/drawingml/2006/main">
              <a:ext uri="{FF2B5EF4-FFF2-40B4-BE49-F238E27FC236}">
                <a16:creationId xmlns:a16="http://schemas.microsoft.com/office/drawing/2014/main" id="{4C4ED1DA-8EDB-4318-B482-88507DCD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7805"/>
            <a:ext cx="2095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>
                <a:solidFill>
                  <a:srgbClr val="605D5D"/>
                </a:solidFill>
                <a:latin typeface="Arial"/>
                <a:ea typeface="Arial"/>
                <a:cs typeface="Arial"/>
              </a:rPr>
              <a:t>USER PATH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8" name="Google Shape;418;p31">
            <a:extLst xmlns:a="http://schemas.openxmlformats.org/drawingml/2006/main">
              <a:ext uri="{FF2B5EF4-FFF2-40B4-BE49-F238E27FC236}">
                <a16:creationId xmlns:a16="http://schemas.microsoft.com/office/drawing/2014/main" id="{AE5A6022-70F6-4FA2-B7D9-DA10A4C8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271826"/>
            <a:ext cx="1476375" cy="344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9" name="Google Shape;419;p31">
            <a:extLst xmlns:a="http://schemas.openxmlformats.org/drawingml/2006/main">
              <a:ext uri="{FF2B5EF4-FFF2-40B4-BE49-F238E27FC236}">
                <a16:creationId xmlns:a16="http://schemas.microsoft.com/office/drawing/2014/main" id="{A9B0CCCA-C595-4626-95E4-3F4F872E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348026"/>
            <a:ext cx="1330167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Streamlit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0" name="Google Shape;420;p31">
            <a:extLst xmlns:a="http://schemas.openxmlformats.org/drawingml/2006/main">
              <a:ext uri="{FF2B5EF4-FFF2-40B4-BE49-F238E27FC236}">
                <a16:creationId xmlns:a16="http://schemas.microsoft.com/office/drawing/2014/main" id="{EADC0CC2-BC48-46BF-9E9C-9C00C034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71826"/>
            <a:ext cx="1476375" cy="344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1" name="Google Shape;421;p31">
            <a:extLst xmlns:a="http://schemas.openxmlformats.org/drawingml/2006/main">
              <a:ext uri="{FF2B5EF4-FFF2-40B4-BE49-F238E27FC236}">
                <a16:creationId xmlns:a16="http://schemas.microsoft.com/office/drawing/2014/main" id="{BFC70950-5CEC-446E-A01D-1A7BF39C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348026"/>
            <a:ext cx="1330167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FastAPI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2" name="Google Shape;422;p31">
            <a:extLst xmlns:a="http://schemas.openxmlformats.org/drawingml/2006/main">
              <a:ext uri="{FF2B5EF4-FFF2-40B4-BE49-F238E27FC236}">
                <a16:creationId xmlns:a16="http://schemas.microsoft.com/office/drawing/2014/main" id="{27A21B57-737B-4C33-8F7C-CDD0004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508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3" name="Google Shape;423;p31">
            <a:extLst xmlns:a="http://schemas.openxmlformats.org/drawingml/2006/main">
              <a:ext uri="{FF2B5EF4-FFF2-40B4-BE49-F238E27FC236}">
                <a16:creationId xmlns:a16="http://schemas.microsoft.com/office/drawing/2014/main" id="{C2B1BD39-F8B7-42CB-89E0-28817CCE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0245"/>
            <a:ext cx="2095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41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Couche orchestration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4" name="Google Shape;424;p31">
            <a:extLst xmlns:a="http://schemas.openxmlformats.org/drawingml/2006/main">
              <a:ext uri="{FF2B5EF4-FFF2-40B4-BE49-F238E27FC236}">
                <a16:creationId xmlns:a16="http://schemas.microsoft.com/office/drawing/2014/main" id="{D549EB56-4D55-4B64-AB0D-A8D77176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5040"/>
            <a:ext cx="2095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>
                <a:solidFill>
                  <a:srgbClr val="605D5D"/>
                </a:solidFill>
              </a:rPr>
              <a:t>EXÉCUTION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5" name="Google Shape;425;p31">
            <a:extLst xmlns:a="http://schemas.openxmlformats.org/drawingml/2006/main">
              <a:ext uri="{FF2B5EF4-FFF2-40B4-BE49-F238E27FC236}">
                <a16:creationId xmlns:a16="http://schemas.microsoft.com/office/drawing/2014/main" id="{C781678A-777B-4ED8-97EA-3CA03C3E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09060"/>
            <a:ext cx="6134100" cy="344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9E9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6" name="Google Shape;426;p31">
            <a:extLst xmlns:a="http://schemas.openxmlformats.org/drawingml/2006/main">
              <a:ext uri="{FF2B5EF4-FFF2-40B4-BE49-F238E27FC236}">
                <a16:creationId xmlns:a16="http://schemas.microsoft.com/office/drawing/2014/main" id="{4F61BF55-18F3-48BE-A851-0AB450E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85260"/>
            <a:ext cx="6127623" cy="210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Dagster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7" name="Google Shape;427;p31">
            <a:extLst xmlns:a="http://schemas.openxmlformats.org/drawingml/2006/main">
              <a:ext uri="{FF2B5EF4-FFF2-40B4-BE49-F238E27FC236}">
                <a16:creationId xmlns:a16="http://schemas.microsoft.com/office/drawing/2014/main" id="{5BFF4D75-EF2C-488D-A5F6-16480C05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2315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8" name="Google Shape;428;p31">
            <a:extLst xmlns:a="http://schemas.openxmlformats.org/drawingml/2006/main">
              <a:ext uri="{FF2B5EF4-FFF2-40B4-BE49-F238E27FC236}">
                <a16:creationId xmlns:a16="http://schemas.microsoft.com/office/drawing/2014/main" id="{9BEC4261-6E46-42F2-B0B7-CA107968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2095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41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Couche gouvernance 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9" name="Google Shape;429;p31">
            <a:extLst xmlns:a="http://schemas.openxmlformats.org/drawingml/2006/main">
              <a:ext uri="{FF2B5EF4-FFF2-40B4-BE49-F238E27FC236}">
                <a16:creationId xmlns:a16="http://schemas.microsoft.com/office/drawing/2014/main" id="{1274422D-4CF3-425B-81A7-CF955EC7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2095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>
                <a:solidFill>
                  <a:srgbClr val="605D5D"/>
                </a:solidFill>
                <a:latin typeface="Arial"/>
                <a:ea typeface="Arial"/>
                <a:cs typeface="Arial"/>
              </a:rPr>
              <a:t>STATE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0" name="Google Shape;430;p31">
            <a:extLst xmlns:a="http://schemas.openxmlformats.org/drawingml/2006/main">
              <a:ext uri="{FF2B5EF4-FFF2-40B4-BE49-F238E27FC236}">
                <a16:creationId xmlns:a16="http://schemas.microsoft.com/office/drawing/2014/main" id="{817ECB82-D810-401B-A4E1-1DDE7ED1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6296"/>
            <a:ext cx="1993900" cy="344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1" name="Google Shape;431;p31">
            <a:extLst xmlns:a="http://schemas.openxmlformats.org/drawingml/2006/main">
              <a:ext uri="{FF2B5EF4-FFF2-40B4-BE49-F238E27FC236}">
                <a16:creationId xmlns:a16="http://schemas.microsoft.com/office/drawing/2014/main" id="{9BF90C78-8A54-45DE-9F01-1593504C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22496"/>
            <a:ext cx="1863217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MLflow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2" name="Google Shape;432;p31">
            <a:extLst xmlns:a="http://schemas.openxmlformats.org/drawingml/2006/main">
              <a:ext uri="{FF2B5EF4-FFF2-40B4-BE49-F238E27FC236}">
                <a16:creationId xmlns:a16="http://schemas.microsoft.com/office/drawing/2014/main" id="{3E841AB2-314D-4594-969F-28F87F44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4715"/>
            <a:ext cx="2095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41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Couche observabilité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3" name="Google Shape;433;p31">
            <a:extLst xmlns:a="http://schemas.openxmlformats.org/drawingml/2006/main">
              <a:ext uri="{FF2B5EF4-FFF2-40B4-BE49-F238E27FC236}">
                <a16:creationId xmlns:a16="http://schemas.microsoft.com/office/drawing/2014/main" id="{E1FD0475-C427-4A3B-BB3E-38B494E2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9510"/>
            <a:ext cx="2095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>
                <a:solidFill>
                  <a:srgbClr val="605D5D"/>
                </a:solidFill>
                <a:latin typeface="Arial"/>
                <a:ea typeface="Arial"/>
                <a:cs typeface="Arial"/>
              </a:rPr>
              <a:t>TELEMETRY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4" name="Google Shape;434;p31">
            <a:extLst xmlns:a="http://schemas.openxmlformats.org/drawingml/2006/main">
              <a:ext uri="{FF2B5EF4-FFF2-40B4-BE49-F238E27FC236}">
                <a16:creationId xmlns:a16="http://schemas.microsoft.com/office/drawing/2014/main" id="{9B1DE4FF-94CC-4006-A15C-04FF3B4A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83530"/>
            <a:ext cx="1476375" cy="344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5" name="Google Shape;435;p31">
            <a:extLst xmlns:a="http://schemas.openxmlformats.org/drawingml/2006/main">
              <a:ext uri="{FF2B5EF4-FFF2-40B4-BE49-F238E27FC236}">
                <a16:creationId xmlns:a16="http://schemas.microsoft.com/office/drawing/2014/main" id="{0A8C4B91-8720-48E6-8330-7AB1A22F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59730"/>
            <a:ext cx="1330167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Prometheus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6" name="Google Shape;436;p31">
            <a:extLst xmlns:a="http://schemas.openxmlformats.org/drawingml/2006/main">
              <a:ext uri="{FF2B5EF4-FFF2-40B4-BE49-F238E27FC236}">
                <a16:creationId xmlns:a16="http://schemas.microsoft.com/office/drawing/2014/main" id="{96A10090-AAF5-4BE0-BA82-C5F51DC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483530"/>
            <a:ext cx="1476375" cy="344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7" name="Google Shape;437;p31">
            <a:extLst xmlns:a="http://schemas.openxmlformats.org/drawingml/2006/main">
              <a:ext uri="{FF2B5EF4-FFF2-40B4-BE49-F238E27FC236}">
                <a16:creationId xmlns:a16="http://schemas.microsoft.com/office/drawing/2014/main" id="{D1F03279-E8C4-490E-9BA9-0A39F5E6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9730"/>
            <a:ext cx="1330167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Grafana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8" name="Google Shape;438;p31">
            <a:extLst xmlns:a="http://schemas.openxmlformats.org/drawingml/2006/main">
              <a:ext uri="{FF2B5EF4-FFF2-40B4-BE49-F238E27FC236}">
                <a16:creationId xmlns:a16="http://schemas.microsoft.com/office/drawing/2014/main" id="{86738870-6792-4DFF-92C9-BBB2D775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83530"/>
            <a:ext cx="1476375" cy="344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9" name="Google Shape;439;p31">
            <a:extLst xmlns:a="http://schemas.openxmlformats.org/drawingml/2006/main">
              <a:ext uri="{FF2B5EF4-FFF2-40B4-BE49-F238E27FC236}">
                <a16:creationId xmlns:a16="http://schemas.microsoft.com/office/drawing/2014/main" id="{08113F42-6964-446E-BC73-196A2C01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59730"/>
            <a:ext cx="1330167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Alertmanager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0" name="Google Shape;440;p31">
            <a:extLst xmlns:a="http://schemas.openxmlformats.org/drawingml/2006/main">
              <a:ext uri="{FF2B5EF4-FFF2-40B4-BE49-F238E27FC236}">
                <a16:creationId xmlns:a16="http://schemas.microsoft.com/office/drawing/2014/main" id="{463FE4BE-6E4F-4911-A0AF-2DA7815C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1" name="Google Shape;441;p31">
            <a:extLst xmlns:a="http://schemas.openxmlformats.org/drawingml/2006/main">
              <a:ext uri="{FF2B5EF4-FFF2-40B4-BE49-F238E27FC236}">
                <a16:creationId xmlns:a16="http://schemas.microsoft.com/office/drawing/2014/main" id="{308E7B72-E230-4DCE-A38B-4D2290F4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ORCHESTRATION, GOUVERNANCE ET OBSERVABILIT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2" name="Google Shape;442;p31">
            <a:extLst xmlns:a="http://schemas.openxmlformats.org/drawingml/2006/main">
              <a:ext uri="{FF2B5EF4-FFF2-40B4-BE49-F238E27FC236}">
                <a16:creationId xmlns:a16="http://schemas.microsoft.com/office/drawing/2014/main" id="{F4E8806F-64B7-42CB-97A8-10F6197B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8425319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8" name="Google Shape;448;p32">
            <a:extLst xmlns:a="http://schemas.openxmlformats.org/drawingml/2006/main">
              <a:ext uri="{FF2B5EF4-FFF2-40B4-BE49-F238E27FC236}">
                <a16:creationId xmlns:a16="http://schemas.microsoft.com/office/drawing/2014/main" id="{8D479AE2-0288-408A-9C1E-6203FFB8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La matrice des responsabilités MLOps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9" name="Google Shape;449;p32">
            <a:extLst xmlns:a="http://schemas.openxmlformats.org/drawingml/2006/main">
              <a:ext uri="{FF2B5EF4-FFF2-40B4-BE49-F238E27FC236}">
                <a16:creationId xmlns:a16="http://schemas.microsoft.com/office/drawing/2014/main" id="{B612ECC2-231C-4A67-9129-30012D1C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0" name="Google Shape;450;p32">
            <a:extLst xmlns:a="http://schemas.openxmlformats.org/drawingml/2006/main">
              <a:ext uri="{FF2B5EF4-FFF2-40B4-BE49-F238E27FC236}">
                <a16:creationId xmlns:a16="http://schemas.microsoft.com/office/drawing/2014/main" id="{440ED7C3-1461-4FF9-98AF-921F6523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4016"/>
            <a:ext cx="181046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1" name="Google Shape;451;p32">
            <a:extLst xmlns:a="http://schemas.openxmlformats.org/drawingml/2006/main">
              <a:ext uri="{FF2B5EF4-FFF2-40B4-BE49-F238E27FC236}">
                <a16:creationId xmlns:a16="http://schemas.microsoft.com/office/drawing/2014/main" id="{D8798C3E-5ED4-48B4-A672-68EAC0F8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6835"/>
            <a:ext cx="1636179" cy="230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DIMENSION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2" name="Google Shape;452;p32">
            <a:extLst xmlns:a="http://schemas.openxmlformats.org/drawingml/2006/main">
              <a:ext uri="{FF2B5EF4-FFF2-40B4-BE49-F238E27FC236}">
                <a16:creationId xmlns:a16="http://schemas.microsoft.com/office/drawing/2014/main" id="{F69EC711-3936-48B2-90DD-7ADDE301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665" y="1251585"/>
            <a:ext cx="2090500" cy="411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3" name="Google Shape;453;p32">
            <a:extLst xmlns:a="http://schemas.openxmlformats.org/drawingml/2006/main">
              <a:ext uri="{FF2B5EF4-FFF2-40B4-BE49-F238E27FC236}">
                <a16:creationId xmlns:a16="http://schemas.microsoft.com/office/drawing/2014/main" id="{923E8EFB-D667-4D61-A413-5115DA46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964" y="1346835"/>
            <a:ext cx="1924615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Dagster — orchestration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4" name="Google Shape;454;p32">
            <a:extLst xmlns:a="http://schemas.openxmlformats.org/drawingml/2006/main">
              <a:ext uri="{FF2B5EF4-FFF2-40B4-BE49-F238E27FC236}">
                <a16:creationId xmlns:a16="http://schemas.microsoft.com/office/drawing/2014/main" id="{28314985-4A3A-4ADE-A901-25838599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163" y="1251585"/>
            <a:ext cx="2262823" cy="411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5" name="Google Shape;455;p32">
            <a:extLst xmlns:a="http://schemas.openxmlformats.org/drawingml/2006/main">
              <a:ext uri="{FF2B5EF4-FFF2-40B4-BE49-F238E27FC236}">
                <a16:creationId xmlns:a16="http://schemas.microsoft.com/office/drawing/2014/main" id="{F925953F-864E-4CEB-85CB-C632AB3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463" y="1346835"/>
            <a:ext cx="2102107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MLflow — registre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6" name="Google Shape;456;p32">
            <a:extLst xmlns:a="http://schemas.openxmlformats.org/drawingml/2006/main">
              <a:ext uri="{FF2B5EF4-FFF2-40B4-BE49-F238E27FC236}">
                <a16:creationId xmlns:a16="http://schemas.microsoft.com/office/drawing/2014/main" id="{5391F6E1-D9A3-43F6-B1C8-FEFFBB38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987" y="1251585"/>
            <a:ext cx="2065813" cy="411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7" name="Google Shape;457;p32">
            <a:extLst xmlns:a="http://schemas.openxmlformats.org/drawingml/2006/main">
              <a:ext uri="{FF2B5EF4-FFF2-40B4-BE49-F238E27FC236}">
                <a16:creationId xmlns:a16="http://schemas.microsoft.com/office/drawing/2014/main" id="{7B3D0116-5221-46F6-9B58-94AAE3B2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287" y="1346835"/>
            <a:ext cx="1899188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DVC / MinIO — données</a:t>
            </a:r>
            <a:endParaRPr sz="1100">
              <a:solidFill>
                <a:srgbClr val="F12C1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8" name="Google Shape;458;p32">
            <a:extLst xmlns:a="http://schemas.openxmlformats.org/drawingml/2006/main">
              <a:ext uri="{FF2B5EF4-FFF2-40B4-BE49-F238E27FC236}">
                <a16:creationId xmlns:a16="http://schemas.microsoft.com/office/drawing/2014/main" id="{5C34EA24-7FF1-4D10-8C98-B3D7A9BD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474"/>
            <a:ext cx="181046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9" name="Google Shape;459;p32">
            <a:extLst xmlns:a="http://schemas.openxmlformats.org/drawingml/2006/main">
              <a:ext uri="{FF2B5EF4-FFF2-40B4-BE49-F238E27FC236}">
                <a16:creationId xmlns:a16="http://schemas.microsoft.com/office/drawing/2014/main" id="{469FA9C3-416A-45C1-853E-C1D885FF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7366"/>
            <a:ext cx="1636179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Rôle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0" name="Google Shape;460;p32">
            <a:extLst xmlns:a="http://schemas.openxmlformats.org/drawingml/2006/main">
              <a:ext uri="{FF2B5EF4-FFF2-40B4-BE49-F238E27FC236}">
                <a16:creationId xmlns:a16="http://schemas.microsoft.com/office/drawing/2014/main" id="{E07526A9-5C43-44B3-A82E-48A5AE11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665" y="2266474"/>
            <a:ext cx="209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1" name="Google Shape;461;p32">
            <a:extLst xmlns:a="http://schemas.openxmlformats.org/drawingml/2006/main">
              <a:ext uri="{FF2B5EF4-FFF2-40B4-BE49-F238E27FC236}">
                <a16:creationId xmlns:a16="http://schemas.microsoft.com/office/drawing/2014/main" id="{F35143A0-06F2-4060-80BC-1339B0B3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964" y="1787366"/>
            <a:ext cx="1924615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Moteur d'exécution et orchestration des jobs.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2" name="Google Shape;462;p32">
            <a:extLst xmlns:a="http://schemas.openxmlformats.org/drawingml/2006/main">
              <a:ext uri="{FF2B5EF4-FFF2-40B4-BE49-F238E27FC236}">
                <a16:creationId xmlns:a16="http://schemas.microsoft.com/office/drawing/2014/main" id="{686AEC4F-1759-42A6-893E-BC2CD3E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163" y="2266474"/>
            <a:ext cx="22628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3" name="Google Shape;463;p32">
            <a:extLst xmlns:a="http://schemas.openxmlformats.org/drawingml/2006/main">
              <a:ext uri="{FF2B5EF4-FFF2-40B4-BE49-F238E27FC236}">
                <a16:creationId xmlns:a16="http://schemas.microsoft.com/office/drawing/2014/main" id="{B49684CD-05A9-48D6-BFD9-DB753168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463" y="1787366"/>
            <a:ext cx="2102107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Registre des modèles et tracking d'expériences.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4" name="Google Shape;464;p32">
            <a:extLst xmlns:a="http://schemas.openxmlformats.org/drawingml/2006/main">
              <a:ext uri="{FF2B5EF4-FFF2-40B4-BE49-F238E27FC236}">
                <a16:creationId xmlns:a16="http://schemas.microsoft.com/office/drawing/2014/main" id="{81E0C879-2C31-403F-899C-B2283F8C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987" y="2266474"/>
            <a:ext cx="206581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5" name="Google Shape;465;p32">
            <a:extLst xmlns:a="http://schemas.openxmlformats.org/drawingml/2006/main">
              <a:ext uri="{FF2B5EF4-FFF2-40B4-BE49-F238E27FC236}">
                <a16:creationId xmlns:a16="http://schemas.microsoft.com/office/drawing/2014/main" id="{70180A81-5A07-4452-ABAE-C2B6A2E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287" y="1787366"/>
            <a:ext cx="1899188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Versionnement des </a:t>
            </a:r>
            <a:r>
              <a:rPr sz="1100">
                <a:solidFill>
                  <a:srgbClr val="201E1D"/>
                </a:solidFill>
              </a:rPr>
              <a:t>données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 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6" name="Google Shape;466;p32">
            <a:extLst xmlns:a="http://schemas.openxmlformats.org/drawingml/2006/main">
              <a:ext uri="{FF2B5EF4-FFF2-40B4-BE49-F238E27FC236}">
                <a16:creationId xmlns:a16="http://schemas.microsoft.com/office/drawing/2014/main" id="{2F445E97-998D-4A47-9107-6FF0C5B7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3694"/>
            <a:ext cx="181046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7" name="Google Shape;467;p32">
            <a:extLst xmlns:a="http://schemas.openxmlformats.org/drawingml/2006/main">
              <a:ext uri="{FF2B5EF4-FFF2-40B4-BE49-F238E27FC236}">
                <a16:creationId xmlns:a16="http://schemas.microsoft.com/office/drawing/2014/main" id="{BC75FCE0-2C29-47F0-9DFD-5D24E2F1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9824"/>
            <a:ext cx="1636179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État tracé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8" name="Google Shape;468;p32">
            <a:extLst xmlns:a="http://schemas.openxmlformats.org/drawingml/2006/main">
              <a:ext uri="{FF2B5EF4-FFF2-40B4-BE49-F238E27FC236}">
                <a16:creationId xmlns:a16="http://schemas.microsoft.com/office/drawing/2014/main" id="{0D19426E-8C32-4DC3-9E37-ACF4A9D1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665" y="2883694"/>
            <a:ext cx="209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9" name="Google Shape;469;p32">
            <a:extLst xmlns:a="http://schemas.openxmlformats.org/drawingml/2006/main">
              <a:ext uri="{FF2B5EF4-FFF2-40B4-BE49-F238E27FC236}">
                <a16:creationId xmlns:a16="http://schemas.microsoft.com/office/drawing/2014/main" id="{175D8708-39D9-4682-9FD8-07B483A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964" y="2399824"/>
            <a:ext cx="1924615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Courier New"/>
              <a:buNone/>
            </a:pPr>
            <a:r>
              <a:rPr sz="11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Statut des runs, logs d'exécution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0" name="Google Shape;470;p32">
            <a:extLst xmlns:a="http://schemas.openxmlformats.org/drawingml/2006/main">
              <a:ext uri="{FF2B5EF4-FFF2-40B4-BE49-F238E27FC236}">
                <a16:creationId xmlns:a16="http://schemas.microsoft.com/office/drawing/2014/main" id="{73C107F7-9639-49ED-99C2-462F8362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163" y="2883694"/>
            <a:ext cx="22628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1" name="Google Shape;471;p32">
            <a:extLst xmlns:a="http://schemas.openxmlformats.org/drawingml/2006/main">
              <a:ext uri="{FF2B5EF4-FFF2-40B4-BE49-F238E27FC236}">
                <a16:creationId xmlns:a16="http://schemas.microsoft.com/office/drawing/2014/main" id="{ED126B37-1BCC-4F7C-AAF3-5B2404C0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463" y="2399824"/>
            <a:ext cx="2102107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Métriques, hyperparamètres, artefacts .joblib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2" name="Google Shape;472;p32">
            <a:extLst xmlns:a="http://schemas.openxmlformats.org/drawingml/2006/main">
              <a:ext uri="{FF2B5EF4-FFF2-40B4-BE49-F238E27FC236}">
                <a16:creationId xmlns:a16="http://schemas.microsoft.com/office/drawing/2014/main" id="{74165A3F-AAB0-4640-BFEB-A0D1F6D2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987" y="2883694"/>
            <a:ext cx="206581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3" name="Google Shape;473;p32">
            <a:extLst xmlns:a="http://schemas.openxmlformats.org/drawingml/2006/main">
              <a:ext uri="{FF2B5EF4-FFF2-40B4-BE49-F238E27FC236}">
                <a16:creationId xmlns:a16="http://schemas.microsoft.com/office/drawing/2014/main" id="{FB74E270-C3D7-4C19-9818-3D01CF1D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287" y="2399824"/>
            <a:ext cx="1899188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CSV / Parquet volumineux, checksums SHA-256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4" name="Google Shape;474;p32">
            <a:extLst xmlns:a="http://schemas.openxmlformats.org/drawingml/2006/main">
              <a:ext uri="{FF2B5EF4-FFF2-40B4-BE49-F238E27FC236}">
                <a16:creationId xmlns:a16="http://schemas.microsoft.com/office/drawing/2014/main" id="{D6A03BEE-2458-4EF4-BCEF-F4B771F8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7044"/>
            <a:ext cx="1636179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Point d'interaction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5" name="Google Shape;475;p32">
            <a:extLst xmlns:a="http://schemas.openxmlformats.org/drawingml/2006/main">
              <a:ext uri="{FF2B5EF4-FFF2-40B4-BE49-F238E27FC236}">
                <a16:creationId xmlns:a16="http://schemas.microsoft.com/office/drawing/2014/main" id="{AA92326B-E033-4616-BE5E-59D68914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964" y="3017044"/>
            <a:ext cx="1924615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Déclenchement horaire, sensors événementiels.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6" name="Google Shape;476;p32">
            <a:extLst xmlns:a="http://schemas.openxmlformats.org/drawingml/2006/main">
              <a:ext uri="{FF2B5EF4-FFF2-40B4-BE49-F238E27FC236}">
                <a16:creationId xmlns:a16="http://schemas.microsoft.com/office/drawing/2014/main" id="{77C497A6-55BC-40FA-8066-919ACF14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463" y="3017044"/>
            <a:ext cx="2102107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Promotion manuelle d'un modèle via alias dynamique.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7" name="Google Shape;477;p32">
            <a:extLst xmlns:a="http://schemas.openxmlformats.org/drawingml/2006/main">
              <a:ext uri="{FF2B5EF4-FFF2-40B4-BE49-F238E27FC236}">
                <a16:creationId xmlns:a16="http://schemas.microsoft.com/office/drawing/2014/main" id="{0AE1A3F9-181C-4E11-A482-B02A369B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275" y="3017050"/>
            <a:ext cx="1899300" cy="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Génération des splits train/test et contrats de données.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8" name="Google Shape;478;p32">
            <a:extLst xmlns:a="http://schemas.openxmlformats.org/drawingml/2006/main">
              <a:ext uri="{FF2B5EF4-FFF2-40B4-BE49-F238E27FC236}">
                <a16:creationId xmlns:a16="http://schemas.microsoft.com/office/drawing/2014/main" id="{1E5443D4-CB1D-4203-B428-672C472E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7126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9" name="Google Shape;479;p32">
            <a:extLst xmlns:a="http://schemas.openxmlformats.org/drawingml/2006/main">
              <a:ext uri="{FF2B5EF4-FFF2-40B4-BE49-F238E27FC236}">
                <a16:creationId xmlns:a16="http://schemas.microsoft.com/office/drawing/2014/main" id="{685A083E-0CAB-43C4-89F6-3020F54A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476"/>
            <a:ext cx="905256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Séparation stricte : 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Dagster exécute le travail, DVC fournit la matière première, MLflow certifie le résultat.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0" name="Google Shape;480;p32">
            <a:extLst xmlns:a="http://schemas.openxmlformats.org/drawingml/2006/main">
              <a:ext uri="{FF2B5EF4-FFF2-40B4-BE49-F238E27FC236}">
                <a16:creationId xmlns:a16="http://schemas.microsoft.com/office/drawing/2014/main" id="{BEAC8B57-0D42-4C28-9AA9-ECF9F501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ORCHESTRATION, GOUVERNANCE ET OBSERVABILIT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Google Shape;481;p32">
            <a:extLst xmlns:a="http://schemas.openxmlformats.org/drawingml/2006/main">
              <a:ext uri="{FF2B5EF4-FFF2-40B4-BE49-F238E27FC236}">
                <a16:creationId xmlns:a16="http://schemas.microsoft.com/office/drawing/2014/main" id="{7CC227D4-85DC-4471-B883-EF879EA6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0514596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7" name="Google Shape;487;p33">
            <a:extLst xmlns:a="http://schemas.openxmlformats.org/drawingml/2006/main">
              <a:ext uri="{FF2B5EF4-FFF2-40B4-BE49-F238E27FC236}">
                <a16:creationId xmlns:a16="http://schemas.microsoft.com/office/drawing/2014/main" id="{80B9EDE6-2CE8-4C7B-B1BC-018AA85B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MLflow </a:t>
            </a:r>
            <a:r>
              <a:rPr sz="2300" b="1">
                <a:solidFill>
                  <a:srgbClr val="201E1D"/>
                </a:solidFill>
              </a:rPr>
              <a:t>: Registry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8" name="Google Shape;488;p33">
            <a:extLst xmlns:a="http://schemas.openxmlformats.org/drawingml/2006/main">
              <a:ext uri="{FF2B5EF4-FFF2-40B4-BE49-F238E27FC236}">
                <a16:creationId xmlns:a16="http://schemas.microsoft.com/office/drawing/2014/main" id="{11C072E2-C936-45B9-AFD9-9C08C9FD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9" name="Google Shape;489;p33">
            <a:extLst xmlns:a="http://schemas.openxmlformats.org/drawingml/2006/main">
              <a:ext uri="{FF2B5EF4-FFF2-40B4-BE49-F238E27FC236}">
                <a16:creationId xmlns:a16="http://schemas.microsoft.com/office/drawing/2014/main" id="{5C75A34D-6DC2-4C8E-AC31-50B95AA3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4150"/>
            <a:ext cx="8229600" cy="20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0" name="Google Shape;490;p33">
            <a:extLst xmlns:a="http://schemas.openxmlformats.org/drawingml/2006/main">
              <a:ext uri="{FF2B5EF4-FFF2-40B4-BE49-F238E27FC236}">
                <a16:creationId xmlns:a16="http://schemas.microsoft.com/office/drawing/2014/main" id="{1DA7CB73-531E-4538-BE8F-EBCE2C02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36075"/>
            <a:ext cx="8696400" cy="2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MLFLOW REGISTRY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1" name="Google Shape;491;p33">
            <a:extLst xmlns:a="http://schemas.openxmlformats.org/drawingml/2006/main">
              <a:ext uri="{FF2B5EF4-FFF2-40B4-BE49-F238E27FC236}">
                <a16:creationId xmlns:a16="http://schemas.microsoft.com/office/drawing/2014/main" id="{113594B6-1D81-4063-9972-4B6FAE4B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23254"/>
            <a:ext cx="952500" cy="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2" name="Google Shape;492;p33">
            <a:extLst xmlns:a="http://schemas.openxmlformats.org/drawingml/2006/main">
              <a:ext uri="{FF2B5EF4-FFF2-40B4-BE49-F238E27FC236}">
                <a16:creationId xmlns:a16="http://schemas.microsoft.com/office/drawing/2014/main" id="{68A3395B-2711-482A-8965-C087EE0C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08979"/>
            <a:ext cx="76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6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Courier New"/>
              <a:buNone/>
            </a:pPr>
            <a:r>
              <a:rPr sz="13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V8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3" name="Google Shape;493;p33">
            <a:extLst xmlns:a="http://schemas.openxmlformats.org/drawingml/2006/main">
              <a:ext uri="{FF2B5EF4-FFF2-40B4-BE49-F238E27FC236}">
                <a16:creationId xmlns:a16="http://schemas.microsoft.com/office/drawing/2014/main" id="{B6FC3A6E-E3C6-4355-9FD0-C899B969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854924"/>
            <a:ext cx="5010300" cy="35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EC301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4" name="Google Shape;494;p33">
            <a:extLst xmlns:a="http://schemas.openxmlformats.org/drawingml/2006/main">
              <a:ext uri="{FF2B5EF4-FFF2-40B4-BE49-F238E27FC236}">
                <a16:creationId xmlns:a16="http://schemas.microsoft.com/office/drawing/2014/main" id="{52F52842-DCBE-46BD-9E49-8773800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31124"/>
            <a:ext cx="49509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625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100"/>
              <a:buFont typeface="Courier New"/>
              <a:buNone/>
            </a:pPr>
            <a:r>
              <a:rPr sz="1100" b="1">
                <a:solidFill>
                  <a:srgbClr val="AE1800"/>
                </a:solidFill>
                <a:latin typeface="Courier New"/>
                <a:ea typeface="Courier New"/>
                <a:cs typeface="Courier New"/>
              </a:rPr>
              <a:t>alias : champion + candidate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5" name="Google Shape;495;p33">
            <a:extLst xmlns:a="http://schemas.openxmlformats.org/drawingml/2006/main">
              <a:ext uri="{FF2B5EF4-FFF2-40B4-BE49-F238E27FC236}">
                <a16:creationId xmlns:a16="http://schemas.microsoft.com/office/drawing/2014/main" id="{86CEE930-03BF-47DB-96CD-D4D2FB97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31124"/>
            <a:ext cx="18861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Production validée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6" name="Google Shape;496;p33">
            <a:extLst xmlns:a="http://schemas.openxmlformats.org/drawingml/2006/main">
              <a:ext uri="{FF2B5EF4-FFF2-40B4-BE49-F238E27FC236}">
                <a16:creationId xmlns:a16="http://schemas.microsoft.com/office/drawing/2014/main" id="{AC87CA55-C158-4C85-8916-8F421EEA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0937"/>
            <a:ext cx="952500" cy="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7" name="Google Shape;497;p33">
            <a:extLst xmlns:a="http://schemas.openxmlformats.org/drawingml/2006/main">
              <a:ext uri="{FF2B5EF4-FFF2-40B4-BE49-F238E27FC236}">
                <a16:creationId xmlns:a16="http://schemas.microsoft.com/office/drawing/2014/main" id="{75289A94-9872-4B4B-82EF-B7CAE0D9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26662"/>
            <a:ext cx="76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684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300"/>
              <a:buFont typeface="Courier New"/>
              <a:buNone/>
            </a:pPr>
            <a:r>
              <a:rPr sz="1300" b="1">
                <a:solidFill>
                  <a:srgbClr val="F3F2F2"/>
                </a:solidFill>
                <a:latin typeface="Courier New"/>
                <a:ea typeface="Courier New"/>
                <a:cs typeface="Courier New"/>
              </a:rPr>
              <a:t>V7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8" name="Google Shape;498;p33">
            <a:extLst xmlns:a="http://schemas.openxmlformats.org/drawingml/2006/main">
              <a:ext uri="{FF2B5EF4-FFF2-40B4-BE49-F238E27FC236}">
                <a16:creationId xmlns:a16="http://schemas.microsoft.com/office/drawing/2014/main" id="{F6239387-A57E-49FA-889E-F6BEA5FC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372608"/>
            <a:ext cx="5010300" cy="35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9E9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9" name="Google Shape;499;p33">
            <a:extLst xmlns:a="http://schemas.openxmlformats.org/drawingml/2006/main">
              <a:ext uri="{FF2B5EF4-FFF2-40B4-BE49-F238E27FC236}">
                <a16:creationId xmlns:a16="http://schemas.microsoft.com/office/drawing/2014/main" id="{493D4396-FEC8-49E2-A7DB-AA131AE6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48808"/>
            <a:ext cx="49509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62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Courier New"/>
              <a:buNone/>
            </a:pPr>
            <a:r>
              <a:rPr sz="11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alias : previous_champion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0" name="Google Shape;500;p33">
            <a:extLst xmlns:a="http://schemas.openxmlformats.org/drawingml/2006/main">
              <a:ext uri="{FF2B5EF4-FFF2-40B4-BE49-F238E27FC236}">
                <a16:creationId xmlns:a16="http://schemas.microsoft.com/office/drawing/2014/main" id="{F8B9B363-04C3-4722-ADCE-101A84AE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48808"/>
            <a:ext cx="18861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Rollback immédiat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1" name="Google Shape;501;p33">
            <a:extLst xmlns:a="http://schemas.openxmlformats.org/drawingml/2006/main">
              <a:ext uri="{FF2B5EF4-FFF2-40B4-BE49-F238E27FC236}">
                <a16:creationId xmlns:a16="http://schemas.microsoft.com/office/drawing/2014/main" id="{FE788029-CE43-4559-A006-5293C46F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8621"/>
            <a:ext cx="952500" cy="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7D797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2" name="Google Shape;502;p33">
            <a:extLst xmlns:a="http://schemas.openxmlformats.org/drawingml/2006/main">
              <a:ext uri="{FF2B5EF4-FFF2-40B4-BE49-F238E27FC236}">
                <a16:creationId xmlns:a16="http://schemas.microsoft.com/office/drawing/2014/main" id="{51F6903D-2D06-4ABF-8B81-589C162A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44346"/>
            <a:ext cx="76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684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300"/>
              <a:buFont typeface="Courier New"/>
              <a:buNone/>
            </a:pPr>
            <a:r>
              <a:rPr sz="1300" b="1">
                <a:solidFill>
                  <a:srgbClr val="605D5D"/>
                </a:solidFill>
                <a:latin typeface="Courier New"/>
                <a:ea typeface="Courier New"/>
                <a:cs typeface="Courier New"/>
              </a:rPr>
              <a:t>V6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3" name="Google Shape;503;p33">
            <a:extLst xmlns:a="http://schemas.openxmlformats.org/drawingml/2006/main">
              <a:ext uri="{FF2B5EF4-FFF2-40B4-BE49-F238E27FC236}">
                <a16:creationId xmlns:a16="http://schemas.microsoft.com/office/drawing/2014/main" id="{880BF2E5-70C5-4C3C-B56B-0A149043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90292"/>
            <a:ext cx="5010300" cy="35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7D7979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4" name="Google Shape;504;p33">
            <a:extLst xmlns:a="http://schemas.openxmlformats.org/drawingml/2006/main">
              <a:ext uri="{FF2B5EF4-FFF2-40B4-BE49-F238E27FC236}">
                <a16:creationId xmlns:a16="http://schemas.microsoft.com/office/drawing/2014/main" id="{08E52CA8-3330-4361-B56B-D45363B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66492"/>
            <a:ext cx="49509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625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100"/>
              <a:buFont typeface="Courier New"/>
              <a:buNone/>
            </a:pPr>
            <a:r>
              <a:rPr sz="1100" b="1">
                <a:solidFill>
                  <a:srgbClr val="605D5D"/>
                </a:solidFill>
                <a:latin typeface="Courier New"/>
                <a:ea typeface="Courier New"/>
                <a:cs typeface="Courier New"/>
              </a:rPr>
              <a:t>sans alias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5" name="Google Shape;505;p33">
            <a:extLst xmlns:a="http://schemas.openxmlformats.org/drawingml/2006/main">
              <a:ext uri="{FF2B5EF4-FFF2-40B4-BE49-F238E27FC236}">
                <a16:creationId xmlns:a16="http://schemas.microsoft.com/office/drawing/2014/main" id="{5CC6CCE3-5E88-4C7A-BDEF-A3B173BF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66492"/>
            <a:ext cx="1886100" cy="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100"/>
              <a:buFont typeface="Arial"/>
              <a:buNone/>
            </a:pPr>
            <a:r>
              <a:rPr sz="1100">
                <a:solidFill>
                  <a:srgbClr val="444141"/>
                </a:solidFill>
                <a:latin typeface="Arial"/>
                <a:ea typeface="Arial"/>
                <a:cs typeface="Arial"/>
              </a:rPr>
              <a:t>Historique conservé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6" name="Google Shape;506;p33">
            <a:extLst xmlns:a="http://schemas.openxmlformats.org/drawingml/2006/main">
              <a:ext uri="{FF2B5EF4-FFF2-40B4-BE49-F238E27FC236}">
                <a16:creationId xmlns:a16="http://schemas.microsoft.com/office/drawing/2014/main" id="{7AFD4D79-B210-4E51-9E14-BC279E1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4430"/>
            <a:ext cx="82296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7" name="Google Shape;507;p33">
            <a:extLst xmlns:a="http://schemas.openxmlformats.org/drawingml/2006/main">
              <a:ext uri="{FF2B5EF4-FFF2-40B4-BE49-F238E27FC236}">
                <a16:creationId xmlns:a16="http://schemas.microsoft.com/office/drawing/2014/main" id="{D672FADB-E253-4B29-B8A2-F08E3AEC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ORCHESTRATION, GOUVERNANCE ET OBSERVABILIT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8" name="Google Shape;508;p33">
            <a:extLst xmlns:a="http://schemas.openxmlformats.org/drawingml/2006/main">
              <a:ext uri="{FF2B5EF4-FFF2-40B4-BE49-F238E27FC236}">
                <a16:creationId xmlns:a16="http://schemas.microsoft.com/office/drawing/2014/main" id="{8345B99D-575C-4BAD-9A25-0ADCA7FA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2701730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4" name="Google Shape;514;p34">
            <a:extLst xmlns:a="http://schemas.openxmlformats.org/drawingml/2006/main">
              <a:ext uri="{FF2B5EF4-FFF2-40B4-BE49-F238E27FC236}">
                <a16:creationId xmlns:a16="http://schemas.microsoft.com/office/drawing/2014/main" id="{86154EDF-25F9-4CE2-96F1-D4F822E6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100" b="1">
                <a:solidFill>
                  <a:srgbClr val="201E1D"/>
                </a:solidFill>
              </a:rPr>
              <a:t>Data Quality Gateway : les</a:t>
            </a:r>
            <a:r>
              <a:rPr sz="2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 conditions avant tout réentraînement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5" name="Google Shape;515;p34">
            <a:extLst xmlns:a="http://schemas.openxmlformats.org/drawingml/2006/main">
              <a:ext uri="{FF2B5EF4-FFF2-40B4-BE49-F238E27FC236}">
                <a16:creationId xmlns:a16="http://schemas.microsoft.com/office/drawing/2014/main" id="{09233EAC-3AC0-4CB0-B50C-2A095A2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6" name="Google Shape;516;p34">
            <a:extLst xmlns:a="http://schemas.openxmlformats.org/drawingml/2006/main">
              <a:ext uri="{FF2B5EF4-FFF2-40B4-BE49-F238E27FC236}">
                <a16:creationId xmlns:a16="http://schemas.microsoft.com/office/drawing/2014/main" id="{48EAE72C-521F-486B-A28D-B3753C0B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1585"/>
            <a:ext cx="1292225" cy="1185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7" name="Google Shape;517;p34">
            <a:extLst xmlns:a="http://schemas.openxmlformats.org/drawingml/2006/main">
              <a:ext uri="{FF2B5EF4-FFF2-40B4-BE49-F238E27FC236}">
                <a16:creationId xmlns:a16="http://schemas.microsoft.com/office/drawing/2014/main" id="{AF62F0A4-369B-4C88-B589-4EB398C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75410"/>
            <a:ext cx="119094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6098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EC3013"/>
                </a:solidFill>
                <a:latin typeface="Courier New"/>
                <a:ea typeface="Courier New"/>
                <a:cs typeface="Courier New"/>
              </a:rPr>
              <a:t>TRUE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8" name="Google Shape;518;p34">
            <a:extLst xmlns:a="http://schemas.openxmlformats.org/drawingml/2006/main">
              <a:ext uri="{FF2B5EF4-FFF2-40B4-BE49-F238E27FC236}">
                <a16:creationId xmlns:a16="http://schemas.microsoft.com/office/drawing/2014/main" id="{80F29FFA-615D-4741-9037-C5B94890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19250"/>
            <a:ext cx="1190943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85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Volume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9" name="Google Shape;519;p34">
            <a:extLst xmlns:a="http://schemas.openxmlformats.org/drawingml/2006/main">
              <a:ext uri="{FF2B5EF4-FFF2-40B4-BE49-F238E27FC236}">
                <a16:creationId xmlns:a16="http://schemas.microsoft.com/office/drawing/2014/main" id="{6B5A0B17-FA10-4A56-A00E-22391F9E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50231"/>
            <a:ext cx="112077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100–200 nouveaux feedbacks champion v8.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0" name="Google Shape;520;p34">
            <a:extLst xmlns:a="http://schemas.openxmlformats.org/drawingml/2006/main">
              <a:ext uri="{FF2B5EF4-FFF2-40B4-BE49-F238E27FC236}">
                <a16:creationId xmlns:a16="http://schemas.microsoft.com/office/drawing/2014/main" id="{DD5F759B-33D5-416C-9DB2-F6320AF8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675" y="1251585"/>
            <a:ext cx="1292225" cy="1185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1" name="Google Shape;521;p34">
            <a:extLst xmlns:a="http://schemas.openxmlformats.org/drawingml/2006/main">
              <a:ext uri="{FF2B5EF4-FFF2-40B4-BE49-F238E27FC236}">
                <a16:creationId xmlns:a16="http://schemas.microsoft.com/office/drawing/2014/main" id="{DE2ECBD9-D9FB-4AAC-9B32-33516C4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450" y="1375410"/>
            <a:ext cx="119094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6098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EC3013"/>
                </a:solidFill>
                <a:latin typeface="Courier New"/>
                <a:ea typeface="Courier New"/>
                <a:cs typeface="Courier New"/>
              </a:rPr>
              <a:t>TRUE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2" name="Google Shape;522;p34">
            <a:extLst xmlns:a="http://schemas.openxmlformats.org/drawingml/2006/main">
              <a:ext uri="{FF2B5EF4-FFF2-40B4-BE49-F238E27FC236}">
                <a16:creationId xmlns:a16="http://schemas.microsoft.com/office/drawing/2014/main" id="{E30BD247-9C2F-4013-9922-FCACAE50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450" y="1619250"/>
            <a:ext cx="1190943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85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Seuil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3" name="Google Shape;523;p34">
            <a:extLst xmlns:a="http://schemas.openxmlformats.org/drawingml/2006/main">
              <a:ext uri="{FF2B5EF4-FFF2-40B4-BE49-F238E27FC236}">
                <a16:creationId xmlns:a16="http://schemas.microsoft.com/office/drawing/2014/main" id="{28C641E7-78BA-47B3-BFBF-5A70ABF8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450" y="1850231"/>
            <a:ext cx="112077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Dérive confirmée sur données réelles.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4" name="Google Shape;524;p34">
            <a:extLst xmlns:a="http://schemas.openxmlformats.org/drawingml/2006/main">
              <a:ext uri="{FF2B5EF4-FFF2-40B4-BE49-F238E27FC236}">
                <a16:creationId xmlns:a16="http://schemas.microsoft.com/office/drawing/2014/main" id="{6C4B25EB-1368-4B5D-92F4-412066FC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50" y="1251585"/>
            <a:ext cx="1292225" cy="1185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5" name="Google Shape;525;p34">
            <a:extLst xmlns:a="http://schemas.openxmlformats.org/drawingml/2006/main">
              <a:ext uri="{FF2B5EF4-FFF2-40B4-BE49-F238E27FC236}">
                <a16:creationId xmlns:a16="http://schemas.microsoft.com/office/drawing/2014/main" id="{79ABD9E8-4DC0-4811-9815-CCE38154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25" y="1375410"/>
            <a:ext cx="119094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6098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EC3013"/>
                </a:solidFill>
                <a:latin typeface="Courier New"/>
                <a:ea typeface="Courier New"/>
                <a:cs typeface="Courier New"/>
              </a:rPr>
              <a:t>TRUE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6" name="Google Shape;526;p34">
            <a:extLst xmlns:a="http://schemas.openxmlformats.org/drawingml/2006/main">
              <a:ext uri="{FF2B5EF4-FFF2-40B4-BE49-F238E27FC236}">
                <a16:creationId xmlns:a16="http://schemas.microsoft.com/office/drawing/2014/main" id="{F31A751F-C5F7-4A27-9F4D-F9D0C1E3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25" y="1619250"/>
            <a:ext cx="1190943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85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Politique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7" name="Google Shape;527;p34">
            <a:extLst xmlns:a="http://schemas.openxmlformats.org/drawingml/2006/main">
              <a:ext uri="{FF2B5EF4-FFF2-40B4-BE49-F238E27FC236}">
                <a16:creationId xmlns:a16="http://schemas.microsoft.com/office/drawing/2014/main" id="{2E27C062-C9E8-4075-9D6A-300901BB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25" y="1850231"/>
            <a:ext cx="112077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Politique 2.0.0-real-blind autorise l’action.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8" name="Google Shape;528;p34">
            <a:extLst xmlns:a="http://schemas.openxmlformats.org/drawingml/2006/main">
              <a:ext uri="{FF2B5EF4-FFF2-40B4-BE49-F238E27FC236}">
                <a16:creationId xmlns:a16="http://schemas.microsoft.com/office/drawing/2014/main" id="{D1882BD2-EF12-4E2C-80EF-6BD75EF8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51585"/>
            <a:ext cx="1292225" cy="1185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9" name="Google Shape;529;p34">
            <a:extLst xmlns:a="http://schemas.openxmlformats.org/drawingml/2006/main">
              <a:ext uri="{FF2B5EF4-FFF2-40B4-BE49-F238E27FC236}">
                <a16:creationId xmlns:a16="http://schemas.microsoft.com/office/drawing/2014/main" id="{9B6FB46E-A403-4F7B-ACCC-BC4B47E5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75410"/>
            <a:ext cx="119094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6098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EC3013"/>
                </a:solidFill>
                <a:latin typeface="Courier New"/>
                <a:ea typeface="Courier New"/>
                <a:cs typeface="Courier New"/>
              </a:rPr>
              <a:t>TRUE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0" name="Google Shape;530;p34">
            <a:extLst xmlns:a="http://schemas.openxmlformats.org/drawingml/2006/main">
              <a:ext uri="{FF2B5EF4-FFF2-40B4-BE49-F238E27FC236}">
                <a16:creationId xmlns:a16="http://schemas.microsoft.com/office/drawing/2014/main" id="{D70AAAB4-F10C-4F02-BAEF-CF92959D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19250"/>
            <a:ext cx="1190943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85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Matière première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1" name="Google Shape;531;p34">
            <a:extLst xmlns:a="http://schemas.openxmlformats.org/drawingml/2006/main">
              <a:ext uri="{FF2B5EF4-FFF2-40B4-BE49-F238E27FC236}">
                <a16:creationId xmlns:a16="http://schemas.microsoft.com/office/drawing/2014/main" id="{3822F632-08AA-425C-A621-A450221C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50232"/>
            <a:ext cx="1120775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Nouveau jeu annoté et stratifié, jamais ingéré.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2" name="Google Shape;532;p34">
            <a:extLst xmlns:a="http://schemas.openxmlformats.org/drawingml/2006/main">
              <a:ext uri="{FF2B5EF4-FFF2-40B4-BE49-F238E27FC236}">
                <a16:creationId xmlns:a16="http://schemas.microsoft.com/office/drawing/2014/main" id="{AC70F925-01A2-42F2-A846-ABF4AE19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100" y="1251585"/>
            <a:ext cx="1292225" cy="1185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3" name="Google Shape;533;p34">
            <a:extLst xmlns:a="http://schemas.openxmlformats.org/drawingml/2006/main">
              <a:ext uri="{FF2B5EF4-FFF2-40B4-BE49-F238E27FC236}">
                <a16:creationId xmlns:a16="http://schemas.microsoft.com/office/drawing/2014/main" id="{F1643B3B-5A8F-4493-AF63-E0BF7D1C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5" y="1375410"/>
            <a:ext cx="119094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6098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EC3013"/>
                </a:solidFill>
                <a:latin typeface="Courier New"/>
                <a:ea typeface="Courier New"/>
                <a:cs typeface="Courier New"/>
              </a:rPr>
              <a:t>TRUE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4" name="Google Shape;534;p34">
            <a:extLst xmlns:a="http://schemas.openxmlformats.org/drawingml/2006/main">
              <a:ext uri="{FF2B5EF4-FFF2-40B4-BE49-F238E27FC236}">
                <a16:creationId xmlns:a16="http://schemas.microsoft.com/office/drawing/2014/main" id="{0C9FE9F2-39B2-44B3-905A-3AD4B41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5" y="1619250"/>
            <a:ext cx="1190943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85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Valeur ajoutée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5" name="Google Shape;535;p34">
            <a:extLst xmlns:a="http://schemas.openxmlformats.org/drawingml/2006/main">
              <a:ext uri="{FF2B5EF4-FFF2-40B4-BE49-F238E27FC236}">
                <a16:creationId xmlns:a16="http://schemas.microsoft.com/office/drawing/2014/main" id="{020DE097-1A62-4CBB-BCF0-817B7853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5" y="1850232"/>
            <a:ext cx="1120775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Nouveau holdout ; blind actuel préservé.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6" name="Google Shape;536;p34">
            <a:extLst xmlns:a="http://schemas.openxmlformats.org/drawingml/2006/main">
              <a:ext uri="{FF2B5EF4-FFF2-40B4-BE49-F238E27FC236}">
                <a16:creationId xmlns:a16="http://schemas.microsoft.com/office/drawing/2014/main" id="{13EFAB72-DAAC-4B41-AE51-D02B637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575" y="1251585"/>
            <a:ext cx="1292225" cy="1185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7" name="Google Shape;537;p34">
            <a:extLst xmlns:a="http://schemas.openxmlformats.org/drawingml/2006/main">
              <a:ext uri="{FF2B5EF4-FFF2-40B4-BE49-F238E27FC236}">
                <a16:creationId xmlns:a16="http://schemas.microsoft.com/office/drawing/2014/main" id="{FAFCA6C3-5A91-45DE-93C5-FF0EDE9E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1375410"/>
            <a:ext cx="119094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6098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EC3013"/>
                </a:solidFill>
                <a:latin typeface="Courier New"/>
                <a:ea typeface="Courier New"/>
                <a:cs typeface="Courier New"/>
              </a:rPr>
              <a:t>TRUE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8" name="Google Shape;538;p34">
            <a:extLst xmlns:a="http://schemas.openxmlformats.org/drawingml/2006/main">
              <a:ext uri="{FF2B5EF4-FFF2-40B4-BE49-F238E27FC236}">
                <a16:creationId xmlns:a16="http://schemas.microsoft.com/office/drawing/2014/main" id="{A9C32D17-1DC4-488B-A378-6ECEF9AE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1619250"/>
            <a:ext cx="1190943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85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Qualité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9" name="Google Shape;539;p34">
            <a:extLst xmlns:a="http://schemas.openxmlformats.org/drawingml/2006/main">
              <a:ext uri="{FF2B5EF4-FFF2-40B4-BE49-F238E27FC236}">
                <a16:creationId xmlns:a16="http://schemas.microsoft.com/office/drawing/2014/main" id="{6D20DAC6-5216-47DB-A8F1-05BCF398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1850231"/>
            <a:ext cx="112077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Le candidat bat les gates et le champion.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0" name="Google Shape;540;p34">
            <a:extLst xmlns:a="http://schemas.openxmlformats.org/drawingml/2006/main">
              <a:ext uri="{FF2B5EF4-FFF2-40B4-BE49-F238E27FC236}">
                <a16:creationId xmlns:a16="http://schemas.microsoft.com/office/drawing/2014/main" id="{853A5F88-ECB5-492D-B5E8-E0049EC1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765"/>
            <a:ext cx="119063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300"/>
              <a:buFont typeface="Arial"/>
              <a:buNone/>
            </a:pPr>
            <a:r>
              <a:rPr sz="13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1" name="Google Shape;541;p34">
            <a:extLst xmlns:a="http://schemas.openxmlformats.org/drawingml/2006/main">
              <a:ext uri="{FF2B5EF4-FFF2-40B4-BE49-F238E27FC236}">
                <a16:creationId xmlns:a16="http://schemas.microsoft.com/office/drawing/2014/main" id="{842816D1-3CB8-4DAF-B6C3-38BAD3CB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3" y="2598896"/>
            <a:ext cx="311658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2" name="Google Shape;542;p34">
            <a:extLst xmlns:a="http://schemas.openxmlformats.org/drawingml/2006/main">
              <a:ext uri="{FF2B5EF4-FFF2-40B4-BE49-F238E27FC236}">
                <a16:creationId xmlns:a16="http://schemas.microsoft.com/office/drawing/2014/main" id="{7E5FE88A-84D7-4ADF-B78F-86DB7D53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2694146"/>
            <a:ext cx="2943378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Courier New"/>
              <a:buNone/>
            </a:pPr>
            <a:r>
              <a:rPr sz="1100" b="1">
                <a:solidFill>
                  <a:srgbClr val="F3F2F2"/>
                </a:solidFill>
                <a:latin typeface="Courier New"/>
                <a:ea typeface="Courier New"/>
                <a:cs typeface="Courier New"/>
              </a:rPr>
              <a:t>Déclenchement : model_training_job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3" name="Google Shape;543;p34">
            <a:extLst xmlns:a="http://schemas.openxmlformats.org/drawingml/2006/main">
              <a:ext uri="{FF2B5EF4-FFF2-40B4-BE49-F238E27FC236}">
                <a16:creationId xmlns:a16="http://schemas.microsoft.com/office/drawing/2014/main" id="{20A064D0-0840-4A8D-A5BA-E5C2FD98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7066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4" name="Google Shape;544;p34">
            <a:extLst xmlns:a="http://schemas.openxmlformats.org/drawingml/2006/main">
              <a:ext uri="{FF2B5EF4-FFF2-40B4-BE49-F238E27FC236}">
                <a16:creationId xmlns:a16="http://schemas.microsoft.com/office/drawing/2014/main" id="{C7FD02AF-CEF2-4B50-BA69-AF3508BF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0416"/>
            <a:ext cx="9052560" cy="20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Le prochain réentraînement exige des feedbacks v8 nouveaux, un holdout immuable et une comparaison loyale au champion actuel.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5" name="Google Shape;545;p34">
            <a:extLst xmlns:a="http://schemas.openxmlformats.org/drawingml/2006/main">
              <a:ext uri="{FF2B5EF4-FFF2-40B4-BE49-F238E27FC236}">
                <a16:creationId xmlns:a16="http://schemas.microsoft.com/office/drawing/2014/main" id="{4E27EC67-A6CC-4836-9096-903E0333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ORCHESTRATION, GOUVERNANCE ET OBSERVABILIT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Google Shape;546;p34">
            <a:extLst xmlns:a="http://schemas.openxmlformats.org/drawingml/2006/main">
              <a:ext uri="{FF2B5EF4-FFF2-40B4-BE49-F238E27FC236}">
                <a16:creationId xmlns:a16="http://schemas.microsoft.com/office/drawing/2014/main" id="{5DAEC82F-5528-4A28-AA83-B161D605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2123266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2" name="Google Shape;552;p35">
            <a:extLst xmlns:a="http://schemas.openxmlformats.org/drawingml/2006/main">
              <a:ext uri="{FF2B5EF4-FFF2-40B4-BE49-F238E27FC236}">
                <a16:creationId xmlns:a16="http://schemas.microsoft.com/office/drawing/2014/main" id="{68ED7E2B-0288-4D02-A7FE-F5F477B3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Une vision unifiée de l'état du système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3" name="Google Shape;553;p35">
            <a:extLst xmlns:a="http://schemas.openxmlformats.org/drawingml/2006/main">
              <a:ext uri="{FF2B5EF4-FFF2-40B4-BE49-F238E27FC236}">
                <a16:creationId xmlns:a16="http://schemas.microsoft.com/office/drawing/2014/main" id="{83155C37-6BB9-4E2C-AA93-FB21402A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4" name="Google Shape;554;p35">
            <a:extLst xmlns:a="http://schemas.openxmlformats.org/drawingml/2006/main">
              <a:ext uri="{FF2B5EF4-FFF2-40B4-BE49-F238E27FC236}">
                <a16:creationId xmlns:a16="http://schemas.microsoft.com/office/drawing/2014/main" id="{29D341B6-E463-4B5D-B14B-AF2DF276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3010"/>
            <a:ext cx="8229600" cy="479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5" name="Google Shape;555;p35">
            <a:extLst xmlns:a="http://schemas.openxmlformats.org/drawingml/2006/main">
              <a:ext uri="{FF2B5EF4-FFF2-40B4-BE49-F238E27FC236}">
                <a16:creationId xmlns:a16="http://schemas.microsoft.com/office/drawing/2014/main" id="{0FCCA39B-A8B8-4905-B5A7-3E8826C4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37310"/>
            <a:ext cx="8190738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684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300"/>
              <a:buFont typeface="Courier New"/>
              <a:buNone/>
            </a:pPr>
            <a:r>
              <a:rPr sz="1300" b="1">
                <a:solidFill>
                  <a:srgbClr val="F3F2F2"/>
                </a:solidFill>
                <a:latin typeface="Courier New"/>
                <a:ea typeface="Courier New"/>
                <a:cs typeface="Courier New"/>
              </a:rPr>
              <a:t>Pile POC opérationnelle · 4 dashboards Grafana vérifiés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6" name="Google Shape;556;p35">
            <a:extLst xmlns:a="http://schemas.openxmlformats.org/drawingml/2006/main">
              <a:ext uri="{FF2B5EF4-FFF2-40B4-BE49-F238E27FC236}">
                <a16:creationId xmlns:a16="http://schemas.microsoft.com/office/drawing/2014/main" id="{0577FBBC-922E-48DC-85D6-F0ACDC60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4994"/>
            <a:ext cx="2641600" cy="240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7" name="Google Shape;557;p35">
            <a:extLst xmlns:a="http://schemas.openxmlformats.org/drawingml/2006/main">
              <a:ext uri="{FF2B5EF4-FFF2-40B4-BE49-F238E27FC236}">
                <a16:creationId xmlns:a16="http://schemas.microsoft.com/office/drawing/2014/main" id="{140A2672-39AA-4A8F-ABC0-7652BF55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2661"/>
            <a:ext cx="262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8" name="Google Shape;558;p35">
            <a:extLst xmlns:a="http://schemas.openxmlformats.org/drawingml/2006/main">
              <a:ext uri="{FF2B5EF4-FFF2-40B4-BE49-F238E27FC236}">
                <a16:creationId xmlns:a16="http://schemas.microsoft.com/office/drawing/2014/main" id="{B38DB8DA-FD42-419C-A635-406231A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50244"/>
            <a:ext cx="2472627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Targets &amp; santé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9" name="Google Shape;559;p35">
            <a:extLst xmlns:a="http://schemas.openxmlformats.org/drawingml/2006/main">
              <a:ext uri="{FF2B5EF4-FFF2-40B4-BE49-F238E27FC236}">
                <a16:creationId xmlns:a16="http://schemas.microsoft.com/office/drawing/2014/main" id="{D8FB9670-9938-4B39-9E91-60DEB9B9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66486"/>
            <a:ext cx="263334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api [UP]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0" name="Google Shape;560;p35">
            <a:extLst xmlns:a="http://schemas.openxmlformats.org/drawingml/2006/main">
              <a:ext uri="{FF2B5EF4-FFF2-40B4-BE49-F238E27FC236}">
                <a16:creationId xmlns:a16="http://schemas.microsoft.com/office/drawing/2014/main" id="{DBFFACE0-B3C1-4559-B8A4-5E4EF961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25090"/>
            <a:ext cx="263334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data [READY]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1" name="Google Shape;561;p35">
            <a:extLst xmlns:a="http://schemas.openxmlformats.org/drawingml/2006/main">
              <a:ext uri="{FF2B5EF4-FFF2-40B4-BE49-F238E27FC236}">
                <a16:creationId xmlns:a16="http://schemas.microsoft.com/office/drawing/2014/main" id="{919B0F5A-49C5-4F8F-8BE3-DCA45D38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83694"/>
            <a:ext cx="263334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mlflow · grafana [UP]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2" name="Google Shape;562;p35">
            <a:extLst xmlns:a="http://schemas.openxmlformats.org/drawingml/2006/main">
              <a:ext uri="{FF2B5EF4-FFF2-40B4-BE49-F238E27FC236}">
                <a16:creationId xmlns:a16="http://schemas.microsoft.com/office/drawing/2014/main" id="{9713BCB4-3EBA-42D7-8B68-FEEAD7A3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42298"/>
            <a:ext cx="263334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dagster · streamlit [UP]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3" name="Google Shape;563;p35">
            <a:extLst xmlns:a="http://schemas.openxmlformats.org/drawingml/2006/main">
              <a:ext uri="{FF2B5EF4-FFF2-40B4-BE49-F238E27FC236}">
                <a16:creationId xmlns:a16="http://schemas.microsoft.com/office/drawing/2014/main" id="{3156018E-F758-41C5-AEB2-00191017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00901"/>
            <a:ext cx="2633345" cy="210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Courier New"/>
              <a:buNone/>
            </a:pPr>
            <a:r>
              <a:rPr sz="10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prometheus · monitoring [UP]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4" name="Google Shape;564;p35">
            <a:extLst xmlns:a="http://schemas.openxmlformats.org/drawingml/2006/main">
              <a:ext uri="{FF2B5EF4-FFF2-40B4-BE49-F238E27FC236}">
                <a16:creationId xmlns:a16="http://schemas.microsoft.com/office/drawing/2014/main" id="{73D79F34-D0BE-4C38-A4F1-45A6D2FF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59505"/>
            <a:ext cx="263334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>
                <a:solidFill>
                  <a:srgbClr val="605D5D"/>
                </a:solidFill>
                <a:latin typeface="Arial"/>
                <a:ea typeface="Arial"/>
                <a:cs typeface="Arial"/>
              </a:rPr>
              <a:t>Services de contrôle actifs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5" name="Google Shape;565;p35">
            <a:extLst xmlns:a="http://schemas.openxmlformats.org/drawingml/2006/main">
              <a:ext uri="{FF2B5EF4-FFF2-40B4-BE49-F238E27FC236}">
                <a16:creationId xmlns:a16="http://schemas.microsoft.com/office/drawing/2014/main" id="{DC781A17-EDB4-4875-9B65-2D3F1854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1854994"/>
            <a:ext cx="2641600" cy="240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6" name="Google Shape;566;p35">
            <a:extLst xmlns:a="http://schemas.openxmlformats.org/drawingml/2006/main">
              <a:ext uri="{FF2B5EF4-FFF2-40B4-BE49-F238E27FC236}">
                <a16:creationId xmlns:a16="http://schemas.microsoft.com/office/drawing/2014/main" id="{2BDEABEF-E108-419B-9183-916C0603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725" y="2242661"/>
            <a:ext cx="262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7" name="Google Shape;567;p35">
            <a:extLst xmlns:a="http://schemas.openxmlformats.org/drawingml/2006/main">
              <a:ext uri="{FF2B5EF4-FFF2-40B4-BE49-F238E27FC236}">
                <a16:creationId xmlns:a16="http://schemas.microsoft.com/office/drawing/2014/main" id="{79F9CCE1-481B-45D1-BAE4-3A048B99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1950244"/>
            <a:ext cx="2472627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Alerting dérive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8" name="Google Shape;568;p35">
            <a:extLst xmlns:a="http://schemas.openxmlformats.org/drawingml/2006/main">
              <a:ext uri="{FF2B5EF4-FFF2-40B4-BE49-F238E27FC236}">
                <a16:creationId xmlns:a16="http://schemas.microsoft.com/office/drawing/2014/main" id="{ED82B23C-DC4F-45E3-B5BA-BC992261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2366486"/>
            <a:ext cx="2393950" cy="454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9" name="Google Shape;569;p35">
            <a:extLst xmlns:a="http://schemas.openxmlformats.org/drawingml/2006/main">
              <a:ext uri="{FF2B5EF4-FFF2-40B4-BE49-F238E27FC236}">
                <a16:creationId xmlns:a16="http://schemas.microsoft.com/office/drawing/2014/main" id="{DE1CFEA8-9050-4171-99A4-36A7FA4E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225" y="2433150"/>
            <a:ext cx="2465700" cy="34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53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900"/>
              <a:buFont typeface="Courier New"/>
              <a:buNone/>
            </a:pPr>
            <a:r>
              <a:rPr sz="9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2 ALERTES DRIFT HISTORIQUES · 66 PRÉDICTIONS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0" name="Google Shape;570;p35">
            <a:extLst xmlns:a="http://schemas.openxmlformats.org/drawingml/2006/main">
              <a:ext uri="{FF2B5EF4-FFF2-40B4-BE49-F238E27FC236}">
                <a16:creationId xmlns:a16="http://schemas.microsoft.com/office/drawing/2014/main" id="{4518C99A-094F-4421-ABFD-368B4AD6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2897505"/>
            <a:ext cx="2393950" cy="454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EC301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1" name="Google Shape;571;p35">
            <a:extLst xmlns:a="http://schemas.openxmlformats.org/drawingml/2006/main">
              <a:ext uri="{FF2B5EF4-FFF2-40B4-BE49-F238E27FC236}">
                <a16:creationId xmlns:a16="http://schemas.microsoft.com/office/drawing/2014/main" id="{1281847E-957D-4172-826A-5E5547F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225" y="2964180"/>
            <a:ext cx="2313368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536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900"/>
              <a:buFont typeface="Courier New"/>
              <a:buNone/>
            </a:pPr>
            <a:r>
              <a:rPr sz="900">
                <a:solidFill>
                  <a:srgbClr val="AE1800"/>
                </a:solidFill>
                <a:latin typeface="Courier New"/>
                <a:ea typeface="Courier New"/>
                <a:cs typeface="Courier New"/>
              </a:rPr>
              <a:t>14 FEEDBACKS · RÉENTRAÎNEMENT CONSEILLÉ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2" name="Google Shape;572;p35">
            <a:extLst xmlns:a="http://schemas.openxmlformats.org/drawingml/2006/main">
              <a:ext uri="{FF2B5EF4-FFF2-40B4-BE49-F238E27FC236}">
                <a16:creationId xmlns:a16="http://schemas.microsoft.com/office/drawing/2014/main" id="{F90D00EB-A431-41A0-AE10-03E7B48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3428524"/>
            <a:ext cx="2393950" cy="294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3" name="Google Shape;573;p35">
            <a:extLst xmlns:a="http://schemas.openxmlformats.org/drawingml/2006/main">
              <a:ext uri="{FF2B5EF4-FFF2-40B4-BE49-F238E27FC236}">
                <a16:creationId xmlns:a16="http://schemas.microsoft.com/office/drawing/2014/main" id="{2F13E13A-6D3A-4971-ADBF-AAB99D2D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225" y="3495199"/>
            <a:ext cx="2313368" cy="179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53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900"/>
              <a:buFont typeface="Courier New"/>
              <a:buNone/>
            </a:pPr>
            <a:r>
              <a:rPr sz="900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CHAMPION V8 · DÉCISION HUMAINE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4" name="Google Shape;574;p35">
            <a:extLst xmlns:a="http://schemas.openxmlformats.org/drawingml/2006/main">
              <a:ext uri="{FF2B5EF4-FFF2-40B4-BE49-F238E27FC236}">
                <a16:creationId xmlns:a16="http://schemas.microsoft.com/office/drawing/2014/main" id="{5A99B5FE-4B39-4A97-BA3B-DA34F748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3798808"/>
            <a:ext cx="2465768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Les alertes restent historiques ; le service demeure stable.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5" name="Google Shape;575;p35">
            <a:extLst xmlns:a="http://schemas.openxmlformats.org/drawingml/2006/main">
              <a:ext uri="{FF2B5EF4-FFF2-40B4-BE49-F238E27FC236}">
                <a16:creationId xmlns:a16="http://schemas.microsoft.com/office/drawing/2014/main" id="{9E6FF004-0A20-447A-A3A2-83B7CF87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854994"/>
            <a:ext cx="2641600" cy="240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6" name="Google Shape;576;p35">
            <a:extLst xmlns:a="http://schemas.openxmlformats.org/drawingml/2006/main">
              <a:ext uri="{FF2B5EF4-FFF2-40B4-BE49-F238E27FC236}">
                <a16:creationId xmlns:a16="http://schemas.microsoft.com/office/drawing/2014/main" id="{7B152977-FCAC-416D-865E-16DB840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725" y="2242661"/>
            <a:ext cx="262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7" name="Google Shape;577;p35">
            <a:extLst xmlns:a="http://schemas.openxmlformats.org/drawingml/2006/main">
              <a:ext uri="{FF2B5EF4-FFF2-40B4-BE49-F238E27FC236}">
                <a16:creationId xmlns:a16="http://schemas.microsoft.com/office/drawing/2014/main" id="{2662EF7A-AF66-4A10-B327-3B42C01A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1950244"/>
            <a:ext cx="2472627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Vue métier / système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8" name="Google Shape;578;p35">
            <a:extLst xmlns:a="http://schemas.openxmlformats.org/drawingml/2006/main">
              <a:ext uri="{FF2B5EF4-FFF2-40B4-BE49-F238E27FC236}">
                <a16:creationId xmlns:a16="http://schemas.microsoft.com/office/drawing/2014/main" id="{DC14E265-B835-4963-B170-187419FB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366486"/>
            <a:ext cx="999554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CPU conteneurs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9" name="Google Shape;579;p35">
            <a:extLst xmlns:a="http://schemas.openxmlformats.org/drawingml/2006/main">
              <a:ext uri="{FF2B5EF4-FFF2-40B4-BE49-F238E27FC236}">
                <a16:creationId xmlns:a16="http://schemas.microsoft.com/office/drawing/2014/main" id="{3FDE289A-5F75-4BA5-8367-CC751D7A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145" y="2366486"/>
            <a:ext cx="582930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cAdvisor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0" name="Google Shape;580;p35">
            <a:extLst xmlns:a="http://schemas.openxmlformats.org/drawingml/2006/main">
              <a:ext uri="{FF2B5EF4-FFF2-40B4-BE49-F238E27FC236}">
                <a16:creationId xmlns:a16="http://schemas.microsoft.com/office/drawing/2014/main" id="{D7A041E3-EFE1-4D6D-A066-5BB7EA82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644140"/>
            <a:ext cx="239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1" name="Google Shape;581;p35">
            <a:extLst xmlns:a="http://schemas.openxmlformats.org/drawingml/2006/main">
              <a:ext uri="{FF2B5EF4-FFF2-40B4-BE49-F238E27FC236}">
                <a16:creationId xmlns:a16="http://schemas.microsoft.com/office/drawing/2014/main" id="{C0B942F3-C46C-4BC3-BC6D-F74A40A7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739390"/>
            <a:ext cx="991782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Mémoire &amp; débit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2" name="Google Shape;582;p35">
            <a:extLst xmlns:a="http://schemas.openxmlformats.org/drawingml/2006/main">
              <a:ext uri="{FF2B5EF4-FFF2-40B4-BE49-F238E27FC236}">
                <a16:creationId xmlns:a16="http://schemas.microsoft.com/office/drawing/2014/main" id="{FE84188A-CC3B-45BF-B30C-E5A9D0EA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739390"/>
            <a:ext cx="749141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Prometheus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3" name="Google Shape;583;p35">
            <a:extLst xmlns:a="http://schemas.openxmlformats.org/drawingml/2006/main">
              <a:ext uri="{FF2B5EF4-FFF2-40B4-BE49-F238E27FC236}">
                <a16:creationId xmlns:a16="http://schemas.microsoft.com/office/drawing/2014/main" id="{F3EB76CB-7DA1-47E6-A966-ADE59119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3017044"/>
            <a:ext cx="239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4" name="Google Shape;584;p35">
            <a:extLst xmlns:a="http://schemas.openxmlformats.org/drawingml/2006/main">
              <a:ext uri="{FF2B5EF4-FFF2-40B4-BE49-F238E27FC236}">
                <a16:creationId xmlns:a16="http://schemas.microsoft.com/office/drawing/2014/main" id="{6FD189D1-6606-4057-8D0E-2A1916B0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3112294"/>
            <a:ext cx="104530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Tableaux de bord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5" name="Google Shape;585;p35">
            <a:extLst xmlns:a="http://schemas.openxmlformats.org/drawingml/2006/main">
              <a:ext uri="{FF2B5EF4-FFF2-40B4-BE49-F238E27FC236}">
                <a16:creationId xmlns:a16="http://schemas.microsoft.com/office/drawing/2014/main" id="{315E0771-081A-48B3-ADB7-82C97AB3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249" y="3112294"/>
            <a:ext cx="514826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Grafana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6" name="Google Shape;586;p35">
            <a:extLst xmlns:a="http://schemas.openxmlformats.org/drawingml/2006/main">
              <a:ext uri="{FF2B5EF4-FFF2-40B4-BE49-F238E27FC236}">
                <a16:creationId xmlns:a16="http://schemas.microsoft.com/office/drawing/2014/main" id="{56DF63F1-E375-4066-875F-E4A1F04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3389948"/>
            <a:ext cx="239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7" name="Google Shape;587;p35">
            <a:extLst xmlns:a="http://schemas.openxmlformats.org/drawingml/2006/main">
              <a:ext uri="{FF2B5EF4-FFF2-40B4-BE49-F238E27FC236}">
                <a16:creationId xmlns:a16="http://schemas.microsoft.com/office/drawing/2014/main" id="{35A10603-62A1-4131-B383-68BBF713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3485197"/>
            <a:ext cx="1416209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Taux de revue humaine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8" name="Google Shape;588;p35">
            <a:extLst xmlns:a="http://schemas.openxmlformats.org/drawingml/2006/main">
              <a:ext uri="{FF2B5EF4-FFF2-40B4-BE49-F238E27FC236}">
                <a16:creationId xmlns:a16="http://schemas.microsoft.com/office/drawing/2014/main" id="{7F9FDB14-265E-4132-A945-634A7C2D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523" y="3485197"/>
            <a:ext cx="1048798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3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900"/>
              <a:buFont typeface="Courier New"/>
              <a:buNone/>
            </a:pPr>
            <a:r>
              <a:rPr sz="900" b="1">
                <a:solidFill>
                  <a:srgbClr val="201E1D"/>
                </a:solidFill>
                <a:latin typeface="Courier New"/>
                <a:ea typeface="Courier New"/>
                <a:cs typeface="Courier New"/>
              </a:rPr>
              <a:t>Monitoring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9" name="Google Shape;589;p35">
            <a:extLst xmlns:a="http://schemas.openxmlformats.org/drawingml/2006/main">
              <a:ext uri="{FF2B5EF4-FFF2-40B4-BE49-F238E27FC236}">
                <a16:creationId xmlns:a16="http://schemas.microsoft.com/office/drawing/2014/main" id="{DF3CD0DC-5214-4025-96F2-81A6ED24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ORCHESTRATION, GOUVERNANCE ET OBSERVABILIT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Google Shape;590;p35">
            <a:extLst xmlns:a="http://schemas.openxmlformats.org/drawingml/2006/main">
              <a:ext uri="{FF2B5EF4-FFF2-40B4-BE49-F238E27FC236}">
                <a16:creationId xmlns:a16="http://schemas.microsoft.com/office/drawing/2014/main" id="{7057A8F9-270A-4FC1-B0C9-2B434F36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9372361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6" name="Google Shape;596;p36">
            <a:extLst xmlns:a="http://schemas.openxmlformats.org/drawingml/2006/main">
              <a:ext uri="{FF2B5EF4-FFF2-40B4-BE49-F238E27FC236}">
                <a16:creationId xmlns:a16="http://schemas.microsoft.com/office/drawing/2014/main" id="{58BD726E-FFBE-4A20-9303-9240F1D6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L'alerte est automatique, la décision est humaine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7" name="Google Shape;597;p36">
            <a:extLst xmlns:a="http://schemas.openxmlformats.org/drawingml/2006/main">
              <a:ext uri="{FF2B5EF4-FFF2-40B4-BE49-F238E27FC236}">
                <a16:creationId xmlns:a16="http://schemas.microsoft.com/office/drawing/2014/main" id="{02DEBA9D-7439-4EF4-80E2-6E918A6A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8" name="Google Shape;598;p36">
            <a:extLst xmlns:a="http://schemas.openxmlformats.org/drawingml/2006/main">
              <a:ext uri="{FF2B5EF4-FFF2-40B4-BE49-F238E27FC236}">
                <a16:creationId xmlns:a16="http://schemas.microsoft.com/office/drawing/2014/main" id="{2CBACA67-D867-4951-9D74-441E55BE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1585"/>
            <a:ext cx="8229600" cy="1336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9" name="Google Shape;599;p36">
            <a:extLst xmlns:a="http://schemas.openxmlformats.org/drawingml/2006/main">
              <a:ext uri="{FF2B5EF4-FFF2-40B4-BE49-F238E27FC236}">
                <a16:creationId xmlns:a16="http://schemas.microsoft.com/office/drawing/2014/main" id="{5CE5F1C9-6567-4462-B1BA-DB06F8D2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310" y="1261110"/>
            <a:ext cx="9525" cy="1317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0" name="Google Shape;600;p36">
            <a:extLst xmlns:a="http://schemas.openxmlformats.org/drawingml/2006/main">
              <a:ext uri="{FF2B5EF4-FFF2-40B4-BE49-F238E27FC236}">
                <a16:creationId xmlns:a16="http://schemas.microsoft.com/office/drawing/2014/main" id="{A0536513-1631-459E-9CAB-583E9333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4935"/>
            <a:ext cx="1565339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ÉTAPE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1" name="Google Shape;601;p36">
            <a:extLst xmlns:a="http://schemas.openxmlformats.org/drawingml/2006/main">
              <a:ext uri="{FF2B5EF4-FFF2-40B4-BE49-F238E27FC236}">
                <a16:creationId xmlns:a16="http://schemas.microsoft.com/office/drawing/2014/main" id="{69543ECA-B15F-4ADA-A449-6B270159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1565339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Monitoring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2" name="Google Shape;602;p36">
            <a:extLst xmlns:a="http://schemas.openxmlformats.org/drawingml/2006/main">
              <a:ext uri="{FF2B5EF4-FFF2-40B4-BE49-F238E27FC236}">
                <a16:creationId xmlns:a16="http://schemas.microsoft.com/office/drawing/2014/main" id="{77F44B1A-F0A4-448F-B86A-F4340028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1261110"/>
            <a:ext cx="9525" cy="1317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3" name="Google Shape;603;p36">
            <a:extLst xmlns:a="http://schemas.openxmlformats.org/drawingml/2006/main">
              <a:ext uri="{FF2B5EF4-FFF2-40B4-BE49-F238E27FC236}">
                <a16:creationId xmlns:a16="http://schemas.microsoft.com/office/drawing/2014/main" id="{1B3F8ABC-2837-427F-BC28-5E77C336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610" y="1384935"/>
            <a:ext cx="1565339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ÉTAPE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4" name="Google Shape;604;p36">
            <a:extLst xmlns:a="http://schemas.openxmlformats.org/drawingml/2006/main">
              <a:ext uri="{FF2B5EF4-FFF2-40B4-BE49-F238E27FC236}">
                <a16:creationId xmlns:a16="http://schemas.microsoft.com/office/drawing/2014/main" id="{EE4C2355-634E-4583-A2B4-D0CDD1C5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610" y="1609725"/>
            <a:ext cx="1565339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Détection de dérive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5" name="Google Shape;605;p36">
            <a:extLst xmlns:a="http://schemas.openxmlformats.org/drawingml/2006/main">
              <a:ext uri="{FF2B5EF4-FFF2-40B4-BE49-F238E27FC236}">
                <a16:creationId xmlns:a16="http://schemas.microsoft.com/office/drawing/2014/main" id="{106CD325-CE76-44A5-A170-9277352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610" y="1878806"/>
            <a:ext cx="1565339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6098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Courier New"/>
              <a:buNone/>
            </a:pPr>
            <a:r>
              <a:rPr sz="900">
                <a:solidFill>
                  <a:srgbClr val="444141"/>
                </a:solidFill>
                <a:latin typeface="Courier New"/>
                <a:ea typeface="Courier New"/>
                <a:cs typeface="Courier New"/>
              </a:rPr>
              <a:t>divergence JS &gt; 0.10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6" name="Google Shape;606;p36">
            <a:extLst xmlns:a="http://schemas.openxmlformats.org/drawingml/2006/main">
              <a:ext uri="{FF2B5EF4-FFF2-40B4-BE49-F238E27FC236}">
                <a16:creationId xmlns:a16="http://schemas.microsoft.com/office/drawing/2014/main" id="{718AFDEE-279A-47C1-B499-AF379F0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945" y="1261110"/>
            <a:ext cx="1642110" cy="1317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7" name="Google Shape;607;p36">
            <a:extLst xmlns:a="http://schemas.openxmlformats.org/drawingml/2006/main">
              <a:ext uri="{FF2B5EF4-FFF2-40B4-BE49-F238E27FC236}">
                <a16:creationId xmlns:a16="http://schemas.microsoft.com/office/drawing/2014/main" id="{2D6ADD53-FBFE-4360-832A-46B4EC43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530" y="1261110"/>
            <a:ext cx="9525" cy="1317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8" name="Google Shape;608;p36">
            <a:extLst xmlns:a="http://schemas.openxmlformats.org/drawingml/2006/main">
              <a:ext uri="{FF2B5EF4-FFF2-40B4-BE49-F238E27FC236}">
                <a16:creationId xmlns:a16="http://schemas.microsoft.com/office/drawing/2014/main" id="{D125310D-7A2F-4798-9969-35C210D9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20" y="1384935"/>
            <a:ext cx="1565339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900"/>
              <a:buFont typeface="Arial"/>
              <a:buNone/>
            </a:pPr>
            <a:r>
              <a:rPr sz="9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ARRÊT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9" name="Google Shape;609;p36">
            <a:extLst xmlns:a="http://schemas.openxmlformats.org/drawingml/2006/main">
              <a:ext uri="{FF2B5EF4-FFF2-40B4-BE49-F238E27FC236}">
                <a16:creationId xmlns:a16="http://schemas.microsoft.com/office/drawing/2014/main" id="{DBFC8176-0B2E-4BD8-9B86-20F5406A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20" y="1609725"/>
            <a:ext cx="1465726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100"/>
              <a:buFont typeface="Arial"/>
              <a:buNone/>
            </a:pPr>
            <a:r>
              <a:rPr sz="11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Action manuelle requise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0" name="Google Shape;610;p36">
            <a:extLst xmlns:a="http://schemas.openxmlformats.org/drawingml/2006/main">
              <a:ext uri="{FF2B5EF4-FFF2-40B4-BE49-F238E27FC236}">
                <a16:creationId xmlns:a16="http://schemas.microsoft.com/office/drawing/2014/main" id="{FD398323-6ED5-45E3-9C5D-EFCF8399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20" y="2100263"/>
            <a:ext cx="1465726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900"/>
              <a:buFont typeface="Arial"/>
              <a:buNone/>
            </a:pPr>
            <a:r>
              <a:rPr sz="900">
                <a:solidFill>
                  <a:srgbClr val="F3F2F2"/>
                </a:solidFill>
                <a:latin typeface="Arial"/>
                <a:ea typeface="Arial"/>
                <a:cs typeface="Arial"/>
              </a:rPr>
              <a:t>Aucun automatisme ne franchit ce point.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1" name="Google Shape;611;p36">
            <a:extLst xmlns:a="http://schemas.openxmlformats.org/drawingml/2006/main">
              <a:ext uri="{FF2B5EF4-FFF2-40B4-BE49-F238E27FC236}">
                <a16:creationId xmlns:a16="http://schemas.microsoft.com/office/drawing/2014/main" id="{149B1033-CCCD-4586-9D4C-4130FF36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1261110"/>
            <a:ext cx="9525" cy="1317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2" name="Google Shape;612;p36">
            <a:extLst xmlns:a="http://schemas.openxmlformats.org/drawingml/2006/main">
              <a:ext uri="{FF2B5EF4-FFF2-40B4-BE49-F238E27FC236}">
                <a16:creationId xmlns:a16="http://schemas.microsoft.com/office/drawing/2014/main" id="{95F273CD-A4EC-47EA-9DB1-C646C2D4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830" y="1384935"/>
            <a:ext cx="15653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ÉTAPE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3" name="Google Shape;613;p36">
            <a:extLst xmlns:a="http://schemas.openxmlformats.org/drawingml/2006/main">
              <a:ext uri="{FF2B5EF4-FFF2-40B4-BE49-F238E27FC236}">
                <a16:creationId xmlns:a16="http://schemas.microsoft.com/office/drawing/2014/main" id="{9810C721-1ADB-405F-8A4E-E277AD9F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830" y="1609725"/>
            <a:ext cx="1565338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Entraînement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4" name="Google Shape;614;p36">
            <a:extLst xmlns:a="http://schemas.openxmlformats.org/drawingml/2006/main">
              <a:ext uri="{FF2B5EF4-FFF2-40B4-BE49-F238E27FC236}">
                <a16:creationId xmlns:a16="http://schemas.microsoft.com/office/drawing/2014/main" id="{BEB15950-B2E6-4962-BCFE-97B15EF1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830" y="1878806"/>
            <a:ext cx="15653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sur CSV validé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5" name="Google Shape;615;p36">
            <a:extLst xmlns:a="http://schemas.openxmlformats.org/drawingml/2006/main">
              <a:ext uri="{FF2B5EF4-FFF2-40B4-BE49-F238E27FC236}">
                <a16:creationId xmlns:a16="http://schemas.microsoft.com/office/drawing/2014/main" id="{E6B095EE-9D61-495A-A76F-DE7DE3B7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1384935"/>
            <a:ext cx="1575816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ÉTAPE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6" name="Google Shape;616;p36">
            <a:extLst xmlns:a="http://schemas.openxmlformats.org/drawingml/2006/main">
              <a:ext uri="{FF2B5EF4-FFF2-40B4-BE49-F238E27FC236}">
                <a16:creationId xmlns:a16="http://schemas.microsoft.com/office/drawing/2014/main" id="{FC51BA0E-739C-47DC-8A70-87427312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1609725"/>
            <a:ext cx="1575816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Promotion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7" name="Google Shape;617;p36">
            <a:extLst xmlns:a="http://schemas.openxmlformats.org/drawingml/2006/main">
              <a:ext uri="{FF2B5EF4-FFF2-40B4-BE49-F238E27FC236}">
                <a16:creationId xmlns:a16="http://schemas.microsoft.com/office/drawing/2014/main" id="{E74697C8-E214-4DCD-B652-5E9CD4D1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1878806"/>
            <a:ext cx="1575816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9767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900"/>
              <a:buFont typeface="Arial"/>
              <a:buNone/>
            </a:pPr>
            <a:r>
              <a:rPr sz="900">
                <a:solidFill>
                  <a:srgbClr val="444141"/>
                </a:solidFill>
                <a:latin typeface="Arial"/>
                <a:ea typeface="Arial"/>
                <a:cs typeface="Arial"/>
              </a:rPr>
              <a:t>champion / candidate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8" name="Google Shape;618;p36">
            <a:extLst xmlns:a="http://schemas.openxmlformats.org/drawingml/2006/main">
              <a:ext uri="{FF2B5EF4-FFF2-40B4-BE49-F238E27FC236}">
                <a16:creationId xmlns:a16="http://schemas.microsoft.com/office/drawing/2014/main" id="{CCE6FBB7-5BD1-4A0A-A994-81771023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9393"/>
            <a:ext cx="264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9" name="Google Shape;619;p36">
            <a:extLst xmlns:a="http://schemas.openxmlformats.org/drawingml/2006/main">
              <a:ext uri="{FF2B5EF4-FFF2-40B4-BE49-F238E27FC236}">
                <a16:creationId xmlns:a16="http://schemas.microsoft.com/office/drawing/2014/main" id="{BD075A98-AFC8-4840-8F44-5436689C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3218"/>
            <a:ext cx="290576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La dérive n'entraîne pas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0" name="Google Shape;620;p36">
            <a:extLst xmlns:a="http://schemas.openxmlformats.org/drawingml/2006/main">
              <a:ext uri="{FF2B5EF4-FFF2-40B4-BE49-F238E27FC236}">
                <a16:creationId xmlns:a16="http://schemas.microsoft.com/office/drawing/2014/main" id="{299C18E6-2A29-4794-A8EE-A8807BA3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1351"/>
            <a:ext cx="2720848" cy="367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Aucun  trigger  relance l'apprentissage automatiquement.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1" name="Google Shape;621;p36">
            <a:extLst xmlns:a="http://schemas.openxmlformats.org/drawingml/2006/main">
              <a:ext uri="{FF2B5EF4-FFF2-40B4-BE49-F238E27FC236}">
                <a16:creationId xmlns:a16="http://schemas.microsoft.com/office/drawing/2014/main" id="{C64A795F-0221-44F9-9E8E-B4F68D64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2759393"/>
            <a:ext cx="264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2" name="Google Shape;622;p36">
            <a:extLst xmlns:a="http://schemas.openxmlformats.org/drawingml/2006/main">
              <a:ext uri="{FF2B5EF4-FFF2-40B4-BE49-F238E27FC236}">
                <a16:creationId xmlns:a16="http://schemas.microsoft.com/office/drawing/2014/main" id="{DB2316C7-6F76-4661-B4B2-2F1F4C64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2883218"/>
            <a:ext cx="290576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Anti-boucle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3" name="Google Shape;623;p36">
            <a:extLst xmlns:a="http://schemas.openxmlformats.org/drawingml/2006/main">
              <a:ext uri="{FF2B5EF4-FFF2-40B4-BE49-F238E27FC236}">
                <a16:creationId xmlns:a16="http://schemas.microsoft.com/office/drawing/2014/main" id="{F2C22E57-1A8C-4A74-860A-2A327843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3191351"/>
            <a:ext cx="2720848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Tout nouvel entraînement exige un CSV inédit, étiqueté manuellement, jamais ingéré.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4" name="Google Shape;624;p36">
            <a:extLst xmlns:a="http://schemas.openxmlformats.org/drawingml/2006/main">
              <a:ext uri="{FF2B5EF4-FFF2-40B4-BE49-F238E27FC236}">
                <a16:creationId xmlns:a16="http://schemas.microsoft.com/office/drawing/2014/main" id="{5370867F-476F-446A-8E80-EA057361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2759393"/>
            <a:ext cx="264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5" name="Google Shape;625;p36">
            <a:extLst xmlns:a="http://schemas.openxmlformats.org/drawingml/2006/main">
              <a:ext uri="{FF2B5EF4-FFF2-40B4-BE49-F238E27FC236}">
                <a16:creationId xmlns:a16="http://schemas.microsoft.com/office/drawing/2014/main" id="{96E1F128-6AC4-47FF-AD12-FE95B80D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2883218"/>
            <a:ext cx="290576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Promotion réversible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6" name="Google Shape;626;p36">
            <a:extLst xmlns:a="http://schemas.openxmlformats.org/drawingml/2006/main">
              <a:ext uri="{FF2B5EF4-FFF2-40B4-BE49-F238E27FC236}">
                <a16:creationId xmlns:a16="http://schemas.microsoft.com/office/drawing/2014/main" id="{BFA93B0E-2B4C-4751-8CC9-8949A046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191351"/>
            <a:ext cx="2720848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00"/>
              <a:buFont typeface="Arial"/>
              <a:buNone/>
            </a:pPr>
            <a:r>
              <a:rPr sz="1000">
                <a:solidFill>
                  <a:srgbClr val="201E1D"/>
                </a:solidFill>
                <a:latin typeface="Arial"/>
                <a:ea typeface="Arial"/>
                <a:cs typeface="Arial"/>
              </a:rPr>
              <a:t>Le passage de candidate à champion est un acte explicite, avec rollback natif.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7" name="Google Shape;627;p36">
            <a:extLst xmlns:a="http://schemas.openxmlformats.org/drawingml/2006/main">
              <a:ext uri="{FF2B5EF4-FFF2-40B4-BE49-F238E27FC236}">
                <a16:creationId xmlns:a16="http://schemas.microsoft.com/office/drawing/2014/main" id="{9589541E-C90F-4181-824B-578075B4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ORCHESTRATION, GOUVERNANCE ET OBSERVABILIT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8" name="Google Shape;628;p36">
            <a:extLst xmlns:a="http://schemas.openxmlformats.org/drawingml/2006/main">
              <a:ext uri="{FF2B5EF4-FFF2-40B4-BE49-F238E27FC236}">
                <a16:creationId xmlns:a16="http://schemas.microsoft.com/office/drawing/2014/main" id="{B4BBF1F4-416E-4AB7-AB88-7BC2D8CD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7046145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634;p3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d3d2aa504641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" y="12700"/>
            <a:ext cx="9139139" cy="51434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372130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640;p3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c9cdd890af45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" y="-6349"/>
            <a:ext cx="9141568" cy="51448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9517149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645;p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5afd55399486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69" y="0"/>
            <a:ext cx="9018776" cy="50757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4033441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650;p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bbc09ca734a6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369"/>
            <a:ext cx="9144001" cy="51462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271971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6" name="Google Shape;656;p41">
            <a:extLst xmlns:a="http://schemas.openxmlformats.org/drawingml/2006/main">
              <a:ext uri="{FF2B5EF4-FFF2-40B4-BE49-F238E27FC236}">
                <a16:creationId xmlns:a16="http://schemas.microsoft.com/office/drawing/2014/main" id="{0DFBAB10-063F-46D6-9183-F627D9A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La donnée d'abord, l'industrialisation ensuite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7" name="Google Shape;657;p41">
            <a:extLst xmlns:a="http://schemas.openxmlformats.org/drawingml/2006/main">
              <a:ext uri="{FF2B5EF4-FFF2-40B4-BE49-F238E27FC236}">
                <a16:creationId xmlns:a16="http://schemas.microsoft.com/office/drawing/2014/main" id="{1C5F3BE3-447B-43BF-B520-91A81865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8" name="Google Shape;658;p41">
            <a:extLst xmlns:a="http://schemas.openxmlformats.org/drawingml/2006/main">
              <a:ext uri="{FF2B5EF4-FFF2-40B4-BE49-F238E27FC236}">
                <a16:creationId xmlns:a16="http://schemas.microsoft.com/office/drawing/2014/main" id="{98700426-8E28-429D-A954-13566926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7979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9" name="Google Shape;659;p41">
            <a:extLst xmlns:a="http://schemas.openxmlformats.org/drawingml/2006/main">
              <a:ext uri="{FF2B5EF4-FFF2-40B4-BE49-F238E27FC236}">
                <a16:creationId xmlns:a16="http://schemas.microsoft.com/office/drawing/2014/main" id="{B43BF9F5-7B5E-491D-ADFD-BA72D12C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080135"/>
            <a:ext cx="9525" cy="17978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0" name="Google Shape;660;p41">
            <a:extLst xmlns:a="http://schemas.openxmlformats.org/drawingml/2006/main">
              <a:ext uri="{FF2B5EF4-FFF2-40B4-BE49-F238E27FC236}">
                <a16:creationId xmlns:a16="http://schemas.microsoft.com/office/drawing/2014/main" id="{7C2042E5-10E9-40F2-A99F-8386973A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1585"/>
            <a:ext cx="2085023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000"/>
              <a:buFont typeface="Arial"/>
              <a:buNone/>
            </a:pPr>
            <a:r>
              <a:rPr sz="1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MOIS 0–3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1" name="Google Shape;661;p41">
            <a:extLst xmlns:a="http://schemas.openxmlformats.org/drawingml/2006/main">
              <a:ext uri="{FF2B5EF4-FFF2-40B4-BE49-F238E27FC236}">
                <a16:creationId xmlns:a16="http://schemas.microsoft.com/office/drawing/2014/main" id="{7BE40E37-540C-45DD-96A2-1F5964E7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9714"/>
            <a:ext cx="1952339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74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400"/>
              <a:buFont typeface="Arial"/>
              <a:buNone/>
            </a:pPr>
            <a:r>
              <a:rPr sz="14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Feedback champion v8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2" name="Google Shape;662;p41">
            <a:extLst xmlns:a="http://schemas.openxmlformats.org/drawingml/2006/main">
              <a:ext uri="{FF2B5EF4-FFF2-40B4-BE49-F238E27FC236}">
                <a16:creationId xmlns:a16="http://schemas.microsoft.com/office/drawing/2014/main" id="{FD27F0AD-F71C-499B-B438-CC5D72F8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94059"/>
            <a:ext cx="1952339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Collecter 100–200 feedbacks réels, renforcer le neutre et les formulations implicites de livraison.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3" name="Google Shape;663;p41">
            <a:extLst xmlns:a="http://schemas.openxmlformats.org/drawingml/2006/main">
              <a:ext uri="{FF2B5EF4-FFF2-40B4-BE49-F238E27FC236}">
                <a16:creationId xmlns:a16="http://schemas.microsoft.com/office/drawing/2014/main" id="{CEA559E6-3135-4964-AD26-F0099E2C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080135"/>
            <a:ext cx="9525" cy="17978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4" name="Google Shape;664;p41">
            <a:extLst xmlns:a="http://schemas.openxmlformats.org/drawingml/2006/main">
              <a:ext uri="{FF2B5EF4-FFF2-40B4-BE49-F238E27FC236}">
                <a16:creationId xmlns:a16="http://schemas.microsoft.com/office/drawing/2014/main" id="{7D2F8318-9350-4F39-9287-807EF644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51585"/>
            <a:ext cx="1917382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000"/>
              <a:buFont typeface="Arial"/>
              <a:buNone/>
            </a:pPr>
            <a:r>
              <a:rPr sz="1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MOIS 3–6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5" name="Google Shape;665;p41">
            <a:extLst xmlns:a="http://schemas.openxmlformats.org/drawingml/2006/main">
              <a:ext uri="{FF2B5EF4-FFF2-40B4-BE49-F238E27FC236}">
                <a16:creationId xmlns:a16="http://schemas.microsoft.com/office/drawing/2014/main" id="{3760707C-C6D0-47A8-85A3-C6AB5722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19714"/>
            <a:ext cx="1917382" cy="218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74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400"/>
              <a:buFont typeface="Arial"/>
              <a:buNone/>
            </a:pPr>
            <a:r>
              <a:rPr sz="14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Nouveau holdout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6" name="Google Shape;666;p41">
            <a:extLst xmlns:a="http://schemas.openxmlformats.org/drawingml/2006/main">
              <a:ext uri="{FF2B5EF4-FFF2-40B4-BE49-F238E27FC236}">
                <a16:creationId xmlns:a16="http://schemas.microsoft.com/office/drawing/2014/main" id="{7C48352D-41AC-4B3F-BFE6-776CAC72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94986"/>
            <a:ext cx="1795368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Figer un test inédit et stratifié, analyser le drift et les hard negatives sans réutiliser le blind actuel.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7" name="Google Shape;667;p41">
            <a:extLst xmlns:a="http://schemas.openxmlformats.org/drawingml/2006/main">
              <a:ext uri="{FF2B5EF4-FFF2-40B4-BE49-F238E27FC236}">
                <a16:creationId xmlns:a16="http://schemas.microsoft.com/office/drawing/2014/main" id="{9F98BE66-85D4-468B-B06F-343ED7C1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080135"/>
            <a:ext cx="9525" cy="17978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8" name="Google Shape;668;p41">
            <a:extLst xmlns:a="http://schemas.openxmlformats.org/drawingml/2006/main">
              <a:ext uri="{FF2B5EF4-FFF2-40B4-BE49-F238E27FC236}">
                <a16:creationId xmlns:a16="http://schemas.microsoft.com/office/drawing/2014/main" id="{62703D1B-D392-4D7F-95F2-C7A20602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251585"/>
            <a:ext cx="1917382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000"/>
              <a:buFont typeface="Arial"/>
              <a:buNone/>
            </a:pPr>
            <a:r>
              <a:rPr sz="1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MOIS 6–9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9" name="Google Shape;669;p41">
            <a:extLst xmlns:a="http://schemas.openxmlformats.org/drawingml/2006/main">
              <a:ext uri="{FF2B5EF4-FFF2-40B4-BE49-F238E27FC236}">
                <a16:creationId xmlns:a16="http://schemas.microsoft.com/office/drawing/2014/main" id="{BD68596A-F139-4254-9AAA-03727F01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19714"/>
            <a:ext cx="1917382" cy="218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74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400"/>
              <a:buFont typeface="Arial"/>
              <a:buNone/>
            </a:pPr>
            <a:r>
              <a:rPr sz="14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Pilote métier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0" name="Google Shape;670;p41">
            <a:extLst xmlns:a="http://schemas.openxmlformats.org/drawingml/2006/main">
              <a:ext uri="{FF2B5EF4-FFF2-40B4-BE49-F238E27FC236}">
                <a16:creationId xmlns:a16="http://schemas.microsoft.com/office/drawing/2014/main" id="{A5AFB3E5-4E0A-4578-986C-E46267EC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4986"/>
            <a:ext cx="1795368" cy="5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Valider le SLO, OIDC, la charge et le workflow de correction avec les opérateurs.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1" name="Google Shape;671;p41">
            <a:extLst xmlns:a="http://schemas.openxmlformats.org/drawingml/2006/main">
              <a:ext uri="{FF2B5EF4-FFF2-40B4-BE49-F238E27FC236}">
                <a16:creationId xmlns:a16="http://schemas.microsoft.com/office/drawing/2014/main" id="{69FFAC3E-E8C0-4F4B-B2EF-7F5BE3FC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251585"/>
            <a:ext cx="2095500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09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000"/>
              <a:buFont typeface="Arial"/>
              <a:buNone/>
            </a:pPr>
            <a:r>
              <a:rPr sz="10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MOIS 9–12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2" name="Google Shape;672;p41">
            <a:extLst xmlns:a="http://schemas.openxmlformats.org/drawingml/2006/main">
              <a:ext uri="{FF2B5EF4-FFF2-40B4-BE49-F238E27FC236}">
                <a16:creationId xmlns:a16="http://schemas.microsoft.com/office/drawing/2014/main" id="{26C7E5CC-3634-4691-BA47-CF21A7E9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19714"/>
            <a:ext cx="2095500" cy="218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74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400"/>
              <a:buFont typeface="Arial"/>
              <a:buNone/>
            </a:pPr>
            <a:r>
              <a:rPr sz="14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Go / no-go B2C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3" name="Google Shape;673;p41">
            <a:extLst xmlns:a="http://schemas.openxmlformats.org/drawingml/2006/main">
              <a:ext uri="{FF2B5EF4-FFF2-40B4-BE49-F238E27FC236}">
                <a16:creationId xmlns:a16="http://schemas.microsoft.com/office/drawing/2014/main" id="{AA488590-AC2A-4F80-98C2-D790045E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94986"/>
            <a:ext cx="1962150" cy="5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Comparer la valeur métier, appliquer les purges RGPD et décider un déploiement progressif.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4" name="Google Shape;674;p41">
            <a:extLst xmlns:a="http://schemas.openxmlformats.org/drawingml/2006/main">
              <a:ext uri="{FF2B5EF4-FFF2-40B4-BE49-F238E27FC236}">
                <a16:creationId xmlns:a16="http://schemas.microsoft.com/office/drawing/2014/main" id="{85BA9EE7-29C0-4369-A40D-6BA62E7A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8953"/>
            <a:ext cx="9052560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882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200"/>
              <a:buFont typeface="Arial"/>
              <a:buNone/>
            </a:pPr>
            <a:r>
              <a:rPr sz="12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Le champion est prêt pour le POC ; la prochaine preuve porte sur l’usage réel, pas sur un nouveau score isolé.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5" name="Google Shape;675;p41">
            <a:extLst xmlns:a="http://schemas.openxmlformats.org/drawingml/2006/main">
              <a:ext uri="{FF2B5EF4-FFF2-40B4-BE49-F238E27FC236}">
                <a16:creationId xmlns:a16="http://schemas.microsoft.com/office/drawing/2014/main" id="{555D7F2F-2D5A-4F43-B2AA-2BF216B4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LIMITES ET PROCHAINES 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ÉTAPES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6" name="Google Shape;676;p41">
            <a:extLst xmlns:a="http://schemas.openxmlformats.org/drawingml/2006/main">
              <a:ext uri="{FF2B5EF4-FFF2-40B4-BE49-F238E27FC236}">
                <a16:creationId xmlns:a16="http://schemas.microsoft.com/office/drawing/2014/main" id="{3F032E8D-D4B8-45B0-8772-6581680E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8710000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682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74a5ae5c2447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" y="1"/>
            <a:ext cx="9141568" cy="51448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766848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8" name="Google Shape;688;p43">
            <a:extLst xmlns:a="http://schemas.openxmlformats.org/drawingml/2006/main">
              <a:ext uri="{FF2B5EF4-FFF2-40B4-BE49-F238E27FC236}">
                <a16:creationId xmlns:a16="http://schemas.microsoft.com/office/drawing/2014/main" id="{0939A885-26F3-40A4-AC25-0024E99D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Les limites de la preuve de concept avant exposition B2C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9" name="Google Shape;689;p43">
            <a:extLst xmlns:a="http://schemas.openxmlformats.org/drawingml/2006/main">
              <a:ext uri="{FF2B5EF4-FFF2-40B4-BE49-F238E27FC236}">
                <a16:creationId xmlns:a16="http://schemas.microsoft.com/office/drawing/2014/main" id="{6B7C2000-1C9D-49E2-851F-9F34C044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0" name="Google Shape;690;p43">
            <a:extLst xmlns:a="http://schemas.openxmlformats.org/drawingml/2006/main">
              <a:ext uri="{FF2B5EF4-FFF2-40B4-BE49-F238E27FC236}">
                <a16:creationId xmlns:a16="http://schemas.microsoft.com/office/drawing/2014/main" id="{856E1B85-065C-4249-9BB4-923C346D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0201"/>
            <a:ext cx="175744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1" name="Google Shape;691;p43">
            <a:extLst xmlns:a="http://schemas.openxmlformats.org/drawingml/2006/main">
              <a:ext uri="{FF2B5EF4-FFF2-40B4-BE49-F238E27FC236}">
                <a16:creationId xmlns:a16="http://schemas.microsoft.com/office/drawing/2014/main" id="{F8D46B79-5A18-4A46-AA6A-50CD34F0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7310"/>
            <a:ext cx="1581565" cy="206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332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DOMAINE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2" name="Google Shape;692;p43">
            <a:extLst xmlns:a="http://schemas.openxmlformats.org/drawingml/2006/main">
              <a:ext uri="{FF2B5EF4-FFF2-40B4-BE49-F238E27FC236}">
                <a16:creationId xmlns:a16="http://schemas.microsoft.com/office/drawing/2014/main" id="{702218DC-1909-4EAF-87A3-5897B3D7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642" y="1610201"/>
            <a:ext cx="109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3" name="Google Shape;693;p43">
            <a:extLst xmlns:a="http://schemas.openxmlformats.org/drawingml/2006/main">
              <a:ext uri="{FF2B5EF4-FFF2-40B4-BE49-F238E27FC236}">
                <a16:creationId xmlns:a16="http://schemas.microsoft.com/office/drawing/2014/main" id="{71300B19-9B99-4D20-95E1-0026AACA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942" y="1337310"/>
            <a:ext cx="904875" cy="206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332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RISQUE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4" name="Google Shape;694;p43">
            <a:extLst xmlns:a="http://schemas.openxmlformats.org/drawingml/2006/main">
              <a:ext uri="{FF2B5EF4-FFF2-40B4-BE49-F238E27FC236}">
                <a16:creationId xmlns:a16="http://schemas.microsoft.com/office/drawing/2014/main" id="{CE9E4A07-0B89-46C8-BD8D-AE68A7CA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017" y="1610201"/>
            <a:ext cx="20206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5" name="Google Shape;695;p43">
            <a:extLst xmlns:a="http://schemas.openxmlformats.org/drawingml/2006/main">
              <a:ext uri="{FF2B5EF4-FFF2-40B4-BE49-F238E27FC236}">
                <a16:creationId xmlns:a16="http://schemas.microsoft.com/office/drawing/2014/main" id="{8361F778-9886-443E-BF9B-ED36B63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317" y="1337310"/>
            <a:ext cx="1852669" cy="206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332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POC ACTUEL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6" name="Google Shape;696;p43">
            <a:extLst xmlns:a="http://schemas.openxmlformats.org/drawingml/2006/main">
              <a:ext uri="{FF2B5EF4-FFF2-40B4-BE49-F238E27FC236}">
                <a16:creationId xmlns:a16="http://schemas.microsoft.com/office/drawing/2014/main" id="{76F5FB2B-7D8C-47A1-8199-66074AA6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1610201"/>
            <a:ext cx="335613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7" name="Google Shape;697;p43">
            <a:extLst xmlns:a="http://schemas.openxmlformats.org/drawingml/2006/main">
              <a:ext uri="{FF2B5EF4-FFF2-40B4-BE49-F238E27FC236}">
                <a16:creationId xmlns:a16="http://schemas.microsoft.com/office/drawing/2014/main" id="{9715F360-EE98-48ED-AB09-4B27AAFD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967" y="1337310"/>
            <a:ext cx="3228218" cy="206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332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CIBLE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8" name="Google Shape;698;p43">
            <a:extLst xmlns:a="http://schemas.openxmlformats.org/drawingml/2006/main">
              <a:ext uri="{FF2B5EF4-FFF2-40B4-BE49-F238E27FC236}">
                <a16:creationId xmlns:a16="http://schemas.microsoft.com/office/drawing/2014/main" id="{3A5BE6DC-9A9E-42D4-9573-9C5B3F27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5019"/>
            <a:ext cx="175744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9" name="Google Shape;699;p43">
            <a:extLst xmlns:a="http://schemas.openxmlformats.org/drawingml/2006/main">
              <a:ext uri="{FF2B5EF4-FFF2-40B4-BE49-F238E27FC236}">
                <a16:creationId xmlns:a16="http://schemas.microsoft.com/office/drawing/2014/main" id="{E246142F-CCE3-4EDF-87E4-54DCC60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4027"/>
            <a:ext cx="1581565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Confidentialité &amp; RGPD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0" name="Google Shape;700;p43">
            <a:extLst xmlns:a="http://schemas.openxmlformats.org/drawingml/2006/main">
              <a:ext uri="{FF2B5EF4-FFF2-40B4-BE49-F238E27FC236}">
                <a16:creationId xmlns:a16="http://schemas.microsoft.com/office/drawing/2014/main" id="{6736901D-E2D6-4522-BBB8-954BC0AC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642" y="2055019"/>
            <a:ext cx="109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1" name="Google Shape;701;p43">
            <a:extLst xmlns:a="http://schemas.openxmlformats.org/drawingml/2006/main">
              <a:ext uri="{FF2B5EF4-FFF2-40B4-BE49-F238E27FC236}">
                <a16:creationId xmlns:a16="http://schemas.microsoft.com/office/drawing/2014/main" id="{0BE56442-99A5-4C62-986F-5F91E7A9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942" y="1735772"/>
            <a:ext cx="560229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2" name="Google Shape;702;p43">
            <a:extLst xmlns:a="http://schemas.openxmlformats.org/drawingml/2006/main">
              <a:ext uri="{FF2B5EF4-FFF2-40B4-BE49-F238E27FC236}">
                <a16:creationId xmlns:a16="http://schemas.microsoft.com/office/drawing/2014/main" id="{B010E9CD-01D9-4B40-96CC-0DF731E6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617" y="1773872"/>
            <a:ext cx="464979" cy="15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990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900"/>
              <a:buFont typeface="Arial"/>
              <a:buNone/>
            </a:pPr>
            <a:r>
              <a:rPr sz="9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P0 B2C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3" name="Google Shape;703;p43">
            <a:extLst xmlns:a="http://schemas.openxmlformats.org/drawingml/2006/main">
              <a:ext uri="{FF2B5EF4-FFF2-40B4-BE49-F238E27FC236}">
                <a16:creationId xmlns:a16="http://schemas.microsoft.com/office/drawing/2014/main" id="{0012D550-C8FD-42C5-BC1B-A9EE4D3C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017" y="2055019"/>
            <a:ext cx="20206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4" name="Google Shape;704;p43">
            <a:extLst xmlns:a="http://schemas.openxmlformats.org/drawingml/2006/main">
              <a:ext uri="{FF2B5EF4-FFF2-40B4-BE49-F238E27FC236}">
                <a16:creationId xmlns:a16="http://schemas.microsoft.com/office/drawing/2014/main" id="{F3FF1CE3-A182-41EC-B22C-C1E06A61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317" y="1734027"/>
            <a:ext cx="1852669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Screening PII basique.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5" name="Google Shape;705;p43">
            <a:extLst xmlns:a="http://schemas.openxmlformats.org/drawingml/2006/main">
              <a:ext uri="{FF2B5EF4-FFF2-40B4-BE49-F238E27FC236}">
                <a16:creationId xmlns:a16="http://schemas.microsoft.com/office/drawing/2014/main" id="{0E041F97-AABD-4F8C-B12C-4DD45C28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2055019"/>
            <a:ext cx="335613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6" name="Google Shape;706;p43">
            <a:extLst xmlns:a="http://schemas.openxmlformats.org/drawingml/2006/main">
              <a:ext uri="{FF2B5EF4-FFF2-40B4-BE49-F238E27FC236}">
                <a16:creationId xmlns:a16="http://schemas.microsoft.com/office/drawing/2014/main" id="{6A88797B-56B4-4688-B72C-65C518E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967" y="1734027"/>
            <a:ext cx="3228218" cy="225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100"/>
              <a:buFont typeface="Arial"/>
              <a:buNone/>
            </a:pPr>
            <a:r>
              <a:rPr sz="1100">
                <a:solidFill>
                  <a:srgbClr val="605D5D"/>
                </a:solidFill>
                <a:latin typeface="Arial"/>
                <a:ea typeface="Arial"/>
                <a:cs typeface="Arial"/>
              </a:rPr>
              <a:t>Purge vérifiable, gestion des droits d'accès.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7" name="Google Shape;707;p43">
            <a:extLst xmlns:a="http://schemas.openxmlformats.org/drawingml/2006/main">
              <a:ext uri="{FF2B5EF4-FFF2-40B4-BE49-F238E27FC236}">
                <a16:creationId xmlns:a16="http://schemas.microsoft.com/office/drawing/2014/main" id="{40092E92-3AF4-4A05-BCE3-2FF8B1C2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3189"/>
            <a:ext cx="175744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8" name="Google Shape;708;p43">
            <a:extLst xmlns:a="http://schemas.openxmlformats.org/drawingml/2006/main">
              <a:ext uri="{FF2B5EF4-FFF2-40B4-BE49-F238E27FC236}">
                <a16:creationId xmlns:a16="http://schemas.microsoft.com/office/drawing/2014/main" id="{8451966C-CE4A-4F56-9BBA-3B4E6FA0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8844"/>
            <a:ext cx="1581565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Sécurité des API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9" name="Google Shape;709;p43">
            <a:extLst xmlns:a="http://schemas.openxmlformats.org/drawingml/2006/main">
              <a:ext uri="{FF2B5EF4-FFF2-40B4-BE49-F238E27FC236}">
                <a16:creationId xmlns:a16="http://schemas.microsoft.com/office/drawing/2014/main" id="{65F191A3-B7B7-4576-BEAE-FEAB7F0E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642" y="2653189"/>
            <a:ext cx="109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0" name="Google Shape;710;p43">
            <a:extLst xmlns:a="http://schemas.openxmlformats.org/drawingml/2006/main">
              <a:ext uri="{FF2B5EF4-FFF2-40B4-BE49-F238E27FC236}">
                <a16:creationId xmlns:a16="http://schemas.microsoft.com/office/drawing/2014/main" id="{CD14B6B3-E8B6-4E16-9E68-E976DBC6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942" y="2257267"/>
            <a:ext cx="560229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1" name="Google Shape;711;p43">
            <a:extLst xmlns:a="http://schemas.openxmlformats.org/drawingml/2006/main">
              <a:ext uri="{FF2B5EF4-FFF2-40B4-BE49-F238E27FC236}">
                <a16:creationId xmlns:a16="http://schemas.microsoft.com/office/drawing/2014/main" id="{DA982E98-EF10-4045-810D-AEB7D980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617" y="2295367"/>
            <a:ext cx="464979" cy="15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990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900"/>
              <a:buFont typeface="Arial"/>
              <a:buNone/>
            </a:pPr>
            <a:r>
              <a:rPr sz="9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P0 B2C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2" name="Google Shape;712;p43">
            <a:extLst xmlns:a="http://schemas.openxmlformats.org/drawingml/2006/main">
              <a:ext uri="{FF2B5EF4-FFF2-40B4-BE49-F238E27FC236}">
                <a16:creationId xmlns:a16="http://schemas.microsoft.com/office/drawing/2014/main" id="{A113FABF-7748-4D25-845B-8AEDABEF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017" y="2653189"/>
            <a:ext cx="20206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3" name="Google Shape;713;p43">
            <a:extLst xmlns:a="http://schemas.openxmlformats.org/drawingml/2006/main">
              <a:ext uri="{FF2B5EF4-FFF2-40B4-BE49-F238E27FC236}">
                <a16:creationId xmlns:a16="http://schemas.microsoft.com/office/drawing/2014/main" id="{6C7AB6CD-DACE-4AD6-9258-873ACB63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317" y="2178844"/>
            <a:ext cx="1852669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Clé API locale, CORS permissif.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4" name="Google Shape;714;p43">
            <a:extLst xmlns:a="http://schemas.openxmlformats.org/drawingml/2006/main">
              <a:ext uri="{FF2B5EF4-FFF2-40B4-BE49-F238E27FC236}">
                <a16:creationId xmlns:a16="http://schemas.microsoft.com/office/drawing/2014/main" id="{A4E341C1-9CC7-49EC-AF9C-32777077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2653189"/>
            <a:ext cx="335613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5" name="Google Shape;715;p43">
            <a:extLst xmlns:a="http://schemas.openxmlformats.org/drawingml/2006/main">
              <a:ext uri="{FF2B5EF4-FFF2-40B4-BE49-F238E27FC236}">
                <a16:creationId xmlns:a16="http://schemas.microsoft.com/office/drawing/2014/main" id="{C2D6E1F2-223D-4680-9656-ADD6C834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967" y="2178844"/>
            <a:ext cx="3228218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100"/>
              <a:buFont typeface="Arial"/>
              <a:buNone/>
            </a:pPr>
            <a:r>
              <a:rPr sz="1100">
                <a:solidFill>
                  <a:srgbClr val="605D5D"/>
                </a:solidFill>
                <a:latin typeface="Arial"/>
                <a:ea typeface="Arial"/>
                <a:cs typeface="Arial"/>
              </a:rPr>
              <a:t>OIDC / OAuth2, API Gateway, WAF.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6" name="Google Shape;716;p43">
            <a:extLst xmlns:a="http://schemas.openxmlformats.org/drawingml/2006/main">
              <a:ext uri="{FF2B5EF4-FFF2-40B4-BE49-F238E27FC236}">
                <a16:creationId xmlns:a16="http://schemas.microsoft.com/office/drawing/2014/main" id="{9668AB03-4EFE-411E-900D-C8B57EA6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4699"/>
            <a:ext cx="175744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7" name="Google Shape;717;p43">
            <a:extLst xmlns:a="http://schemas.openxmlformats.org/drawingml/2006/main">
              <a:ext uri="{FF2B5EF4-FFF2-40B4-BE49-F238E27FC236}">
                <a16:creationId xmlns:a16="http://schemas.microsoft.com/office/drawing/2014/main" id="{FDDEF1DA-57E7-4414-95A3-7DB39624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77013"/>
            <a:ext cx="1581565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Persistance &amp; concurrence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8" name="Google Shape;718;p43">
            <a:extLst xmlns:a="http://schemas.openxmlformats.org/drawingml/2006/main">
              <a:ext uri="{FF2B5EF4-FFF2-40B4-BE49-F238E27FC236}">
                <a16:creationId xmlns:a16="http://schemas.microsoft.com/office/drawing/2014/main" id="{E4B99E05-FCB6-496D-B560-66C361AE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642" y="3304699"/>
            <a:ext cx="109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9" name="Google Shape;719;p43">
            <a:extLst xmlns:a="http://schemas.openxmlformats.org/drawingml/2006/main">
              <a:ext uri="{FF2B5EF4-FFF2-40B4-BE49-F238E27FC236}">
                <a16:creationId xmlns:a16="http://schemas.microsoft.com/office/drawing/2014/main" id="{C0EF3B9C-7E86-4818-870B-28CE141B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942" y="2882107"/>
            <a:ext cx="615395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0" name="Google Shape;720;p43">
            <a:extLst xmlns:a="http://schemas.openxmlformats.org/drawingml/2006/main">
              <a:ext uri="{FF2B5EF4-FFF2-40B4-BE49-F238E27FC236}">
                <a16:creationId xmlns:a16="http://schemas.microsoft.com/office/drawing/2014/main" id="{4E7E5C6F-A030-4EDF-9BC9-E4BF3D58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617" y="2920207"/>
            <a:ext cx="520145" cy="15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9909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900"/>
              <a:buFont typeface="Arial"/>
              <a:buNone/>
            </a:pPr>
            <a:r>
              <a:rPr sz="9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P0 pilote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1" name="Google Shape;721;p43">
            <a:extLst xmlns:a="http://schemas.openxmlformats.org/drawingml/2006/main">
              <a:ext uri="{FF2B5EF4-FFF2-40B4-BE49-F238E27FC236}">
                <a16:creationId xmlns:a16="http://schemas.microsoft.com/office/drawing/2014/main" id="{442F3019-964F-4893-80AC-63460B66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017" y="3304699"/>
            <a:ext cx="20206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2" name="Google Shape;722;p43">
            <a:extLst xmlns:a="http://schemas.openxmlformats.org/drawingml/2006/main">
              <a:ext uri="{FF2B5EF4-FFF2-40B4-BE49-F238E27FC236}">
                <a16:creationId xmlns:a16="http://schemas.microsoft.com/office/drawing/2014/main" id="{6B551019-20AE-483D-ABEF-7A8AE0AF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317" y="2777013"/>
            <a:ext cx="1852669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JSONL local mono-réplique.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3" name="Google Shape;723;p43">
            <a:extLst xmlns:a="http://schemas.openxmlformats.org/drawingml/2006/main">
              <a:ext uri="{FF2B5EF4-FFF2-40B4-BE49-F238E27FC236}">
                <a16:creationId xmlns:a16="http://schemas.microsoft.com/office/drawing/2014/main" id="{723F97BA-5159-4EA8-B76F-8E654F4E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3304699"/>
            <a:ext cx="335613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4" name="Google Shape;724;p43">
            <a:extLst xmlns:a="http://schemas.openxmlformats.org/drawingml/2006/main">
              <a:ext uri="{FF2B5EF4-FFF2-40B4-BE49-F238E27FC236}">
                <a16:creationId xmlns:a16="http://schemas.microsoft.com/office/drawing/2014/main" id="{797C3E54-6B79-4416-AC9D-934795BA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967" y="2777013"/>
            <a:ext cx="3228218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100"/>
              <a:buFont typeface="Arial"/>
              <a:buNone/>
            </a:pPr>
            <a:r>
              <a:rPr sz="1100">
                <a:solidFill>
                  <a:srgbClr val="605D5D"/>
                </a:solidFill>
                <a:latin typeface="Arial"/>
                <a:ea typeface="Arial"/>
                <a:cs typeface="Arial"/>
              </a:rPr>
              <a:t>Base de données managée concurrente.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5" name="Google Shape;725;p43">
            <a:extLst xmlns:a="http://schemas.openxmlformats.org/drawingml/2006/main">
              <a:ext uri="{FF2B5EF4-FFF2-40B4-BE49-F238E27FC236}">
                <a16:creationId xmlns:a16="http://schemas.microsoft.com/office/drawing/2014/main" id="{C1927DB9-DFE6-4442-973A-E4FE8B0F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8524"/>
            <a:ext cx="1581565" cy="383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33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Disponibilité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6" name="Google Shape;726;p43">
            <a:extLst xmlns:a="http://schemas.openxmlformats.org/drawingml/2006/main">
              <a:ext uri="{FF2B5EF4-FFF2-40B4-BE49-F238E27FC236}">
                <a16:creationId xmlns:a16="http://schemas.microsoft.com/office/drawing/2014/main" id="{0581FB33-8D6E-420F-8D02-9F338E2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942" y="3497421"/>
            <a:ext cx="303927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7" name="Google Shape;727;p43">
            <a:extLst xmlns:a="http://schemas.openxmlformats.org/drawingml/2006/main">
              <a:ext uri="{FF2B5EF4-FFF2-40B4-BE49-F238E27FC236}">
                <a16:creationId xmlns:a16="http://schemas.microsoft.com/office/drawing/2014/main" id="{13ABE7AB-FEEB-432F-B156-DCEF0D94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142" y="3545046"/>
            <a:ext cx="189627" cy="15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990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900"/>
              <a:buFont typeface="Arial"/>
              <a:buNone/>
            </a:pPr>
            <a:r>
              <a:rPr sz="9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8" name="Google Shape;728;p43">
            <a:extLst xmlns:a="http://schemas.openxmlformats.org/drawingml/2006/main">
              <a:ext uri="{FF2B5EF4-FFF2-40B4-BE49-F238E27FC236}">
                <a16:creationId xmlns:a16="http://schemas.microsoft.com/office/drawing/2014/main" id="{453D5C74-041A-48B4-BAC3-DE42B3AF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317" y="3428524"/>
            <a:ext cx="1852669" cy="383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Single-node stateful.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9" name="Google Shape;729;p43">
            <a:extLst xmlns:a="http://schemas.openxmlformats.org/drawingml/2006/main">
              <a:ext uri="{FF2B5EF4-FFF2-40B4-BE49-F238E27FC236}">
                <a16:creationId xmlns:a16="http://schemas.microsoft.com/office/drawing/2014/main" id="{BD65FF61-10A4-461F-9811-290E87B0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967" y="3428524"/>
            <a:ext cx="3228218" cy="383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100"/>
              <a:buFont typeface="Arial"/>
              <a:buNone/>
            </a:pPr>
            <a:r>
              <a:rPr sz="1100">
                <a:solidFill>
                  <a:srgbClr val="605D5D"/>
                </a:solidFill>
                <a:latin typeface="Arial"/>
                <a:ea typeface="Arial"/>
                <a:cs typeface="Arial"/>
              </a:rPr>
              <a:t>Stockage managé, RPO/RTO maîtrisés, tests de charge.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0" name="Google Shape;730;p43">
            <a:extLst xmlns:a="http://schemas.openxmlformats.org/drawingml/2006/main">
              <a:ext uri="{FF2B5EF4-FFF2-40B4-BE49-F238E27FC236}">
                <a16:creationId xmlns:a16="http://schemas.microsoft.com/office/drawing/2014/main" id="{242B9C6D-55D3-46A9-ABC3-844CD68D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9082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1" name="Google Shape;731;p43">
            <a:extLst xmlns:a="http://schemas.openxmlformats.org/drawingml/2006/main">
              <a:ext uri="{FF2B5EF4-FFF2-40B4-BE49-F238E27FC236}">
                <a16:creationId xmlns:a16="http://schemas.microsoft.com/office/drawing/2014/main" id="{FDEA59AF-0F38-4BCA-B66F-9A397B3F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2432"/>
            <a:ext cx="905256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Le système est prêt pour un </a:t>
            </a: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pilote métier interne protégé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, pas pour une exposition publique directe.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2" name="Google Shape;732;p43">
            <a:extLst xmlns:a="http://schemas.openxmlformats.org/drawingml/2006/main">
              <a:ext uri="{FF2B5EF4-FFF2-40B4-BE49-F238E27FC236}">
                <a16:creationId xmlns:a16="http://schemas.microsoft.com/office/drawing/2014/main" id="{DEC7E304-6728-4F31-B0E5-BE748927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LIMITES ET PROCHAINES 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ÉTAPES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3" name="Google Shape;733;p43">
            <a:extLst xmlns:a="http://schemas.openxmlformats.org/drawingml/2006/main">
              <a:ext uri="{FF2B5EF4-FFF2-40B4-BE49-F238E27FC236}">
                <a16:creationId xmlns:a16="http://schemas.microsoft.com/office/drawing/2014/main" id="{08DD0BB9-2F36-4DC4-92E7-247E2CE2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6793618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9" name="Google Shape;739;p44">
            <a:extLst xmlns:a="http://schemas.openxmlformats.org/drawingml/2006/main">
              <a:ext uri="{FF2B5EF4-FFF2-40B4-BE49-F238E27FC236}">
                <a16:creationId xmlns:a16="http://schemas.microsoft.com/office/drawing/2014/main" id="{B6297FD4-DFEB-4BDB-A05D-82E801E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905256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Le garde-fou humain devient ciblé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0" name="Google Shape;740;p44">
            <a:extLst xmlns:a="http://schemas.openxmlformats.org/drawingml/2006/main">
              <a:ext uri="{FF2B5EF4-FFF2-40B4-BE49-F238E27FC236}">
                <a16:creationId xmlns:a16="http://schemas.microsoft.com/office/drawing/2014/main" id="{61D21397-B6E1-422A-9292-7AFBE3ED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061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1" name="Google Shape;741;p44">
            <a:extLst xmlns:a="http://schemas.openxmlformats.org/drawingml/2006/main">
              <a:ext uri="{FF2B5EF4-FFF2-40B4-BE49-F238E27FC236}">
                <a16:creationId xmlns:a16="http://schemas.microsoft.com/office/drawing/2014/main" id="{146FC8E8-F792-4C9A-8E3E-6D2DD765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4606" y="2264807"/>
            <a:ext cx="1189038" cy="23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900"/>
              <a:buFont typeface="Arial"/>
              <a:buNone/>
            </a:pPr>
            <a:r>
              <a:rPr sz="9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RISQUE MÉTIER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2" name="Google Shape;742;p44">
            <a:extLst xmlns:a="http://schemas.openxmlformats.org/drawingml/2006/main">
              <a:ext uri="{FF2B5EF4-FFF2-40B4-BE49-F238E27FC236}">
                <a16:creationId xmlns:a16="http://schemas.microsoft.com/office/drawing/2014/main" id="{DA057873-1683-41DC-900D-F172F082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1585"/>
            <a:ext cx="7829550" cy="1959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3" name="Google Shape;743;p44">
            <a:extLst xmlns:a="http://schemas.openxmlformats.org/drawingml/2006/main">
              <a:ext uri="{FF2B5EF4-FFF2-40B4-BE49-F238E27FC236}">
                <a16:creationId xmlns:a16="http://schemas.microsoft.com/office/drawing/2014/main" id="{5E80FCF4-49E4-49A0-A47A-8B1C130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61110"/>
            <a:ext cx="3905250" cy="988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9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4" name="Google Shape;744;p44">
            <a:extLst xmlns:a="http://schemas.openxmlformats.org/drawingml/2006/main">
              <a:ext uri="{FF2B5EF4-FFF2-40B4-BE49-F238E27FC236}">
                <a16:creationId xmlns:a16="http://schemas.microsoft.com/office/drawing/2014/main" id="{4EBF659C-BC45-4202-9DB1-1A2E3FEC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39804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5" name="Google Shape;745;p44">
            <a:extLst xmlns:a="http://schemas.openxmlformats.org/drawingml/2006/main">
              <a:ext uri="{FF2B5EF4-FFF2-40B4-BE49-F238E27FC236}">
                <a16:creationId xmlns:a16="http://schemas.microsoft.com/office/drawing/2014/main" id="{BF397F36-526F-4A77-AA87-198111F6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61110"/>
            <a:ext cx="9525" cy="988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6" name="Google Shape;746;p44">
            <a:extLst xmlns:a="http://schemas.openxmlformats.org/drawingml/2006/main">
              <a:ext uri="{FF2B5EF4-FFF2-40B4-BE49-F238E27FC236}">
                <a16:creationId xmlns:a16="http://schemas.microsoft.com/office/drawing/2014/main" id="{AF294B30-40AA-4D15-8DDC-23BB4536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23035"/>
            <a:ext cx="3950018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Zone de danger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7" name="Google Shape;747;p44">
            <a:extLst xmlns:a="http://schemas.openxmlformats.org/drawingml/2006/main">
              <a:ext uri="{FF2B5EF4-FFF2-40B4-BE49-F238E27FC236}">
                <a16:creationId xmlns:a16="http://schemas.microsoft.com/office/drawing/2014/main" id="{9ABB95E0-7447-42A6-B808-54F4C070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731169"/>
            <a:ext cx="369865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Risque élevé, confiance basse : automatiser ici expose directement le client.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8" name="Google Shape;748;p44">
            <a:extLst xmlns:a="http://schemas.openxmlformats.org/drawingml/2006/main">
              <a:ext uri="{FF2B5EF4-FFF2-40B4-BE49-F238E27FC236}">
                <a16:creationId xmlns:a16="http://schemas.microsoft.com/office/drawing/2014/main" id="{6ECADE5E-1532-416A-9D69-CBF9D0B6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39804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9" name="Google Shape;749;p44">
            <a:extLst xmlns:a="http://schemas.openxmlformats.org/drawingml/2006/main">
              <a:ext uri="{FF2B5EF4-FFF2-40B4-BE49-F238E27FC236}">
                <a16:creationId xmlns:a16="http://schemas.microsoft.com/office/drawing/2014/main" id="{37E9C8FE-36E4-4BF1-B6C7-5CAB76AD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423035"/>
            <a:ext cx="3960495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300"/>
              <a:buFont typeface="Arial"/>
              <a:buNone/>
            </a:pPr>
            <a:r>
              <a:rPr sz="1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Automatisation contrôlée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0" name="Google Shape;750;p44">
            <a:extLst xmlns:a="http://schemas.openxmlformats.org/drawingml/2006/main">
              <a:ext uri="{FF2B5EF4-FFF2-40B4-BE49-F238E27FC236}">
                <a16:creationId xmlns:a16="http://schemas.microsoft.com/office/drawing/2014/main" id="{E1FAABB5-3DD3-4175-BB5D-EF9FBC90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731169"/>
            <a:ext cx="370846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Risque élevé mais confiance haute : décision automatique tracée.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1" name="Google Shape;751;p44">
            <a:extLst xmlns:a="http://schemas.openxmlformats.org/drawingml/2006/main">
              <a:ext uri="{FF2B5EF4-FFF2-40B4-BE49-F238E27FC236}">
                <a16:creationId xmlns:a16="http://schemas.microsoft.com/office/drawing/2014/main" id="{6D48E2AD-AE95-4060-8625-F302413C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49329"/>
            <a:ext cx="390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01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2" name="Google Shape;752;p44">
            <a:extLst xmlns:a="http://schemas.openxmlformats.org/drawingml/2006/main">
              <a:ext uri="{FF2B5EF4-FFF2-40B4-BE49-F238E27FC236}">
                <a16:creationId xmlns:a16="http://schemas.microsoft.com/office/drawing/2014/main" id="{8E18A41B-9D4A-4025-B467-5C09E7EA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9329"/>
            <a:ext cx="95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3" name="Google Shape;753;p44">
            <a:extLst xmlns:a="http://schemas.openxmlformats.org/drawingml/2006/main">
              <a:ext uri="{FF2B5EF4-FFF2-40B4-BE49-F238E27FC236}">
                <a16:creationId xmlns:a16="http://schemas.microsoft.com/office/drawing/2014/main" id="{53788E2B-2F0B-4042-9429-693F33B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11254"/>
            <a:ext cx="3950018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300"/>
              <a:buFont typeface="Arial"/>
              <a:buNone/>
            </a:pPr>
            <a:r>
              <a:rPr sz="1300" b="1">
                <a:solidFill>
                  <a:srgbClr val="F3F2F2"/>
                </a:solidFill>
                <a:latin typeface="Arial"/>
                <a:ea typeface="Arial"/>
                <a:cs typeface="Arial"/>
              </a:rPr>
              <a:t>Revue humaine — état actuel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4" name="Google Shape;754;p44">
            <a:extLst xmlns:a="http://schemas.openxmlformats.org/drawingml/2006/main">
              <a:ext uri="{FF2B5EF4-FFF2-40B4-BE49-F238E27FC236}">
                <a16:creationId xmlns:a16="http://schemas.microsoft.com/office/drawing/2014/main" id="{78873E93-0043-4094-80A3-23C4E1D6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19388"/>
            <a:ext cx="3950018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000"/>
              <a:buFont typeface="Arial"/>
              <a:buNone/>
            </a:pPr>
            <a:r>
              <a:rPr sz="1000">
                <a:solidFill>
                  <a:srgbClr val="F3F2F2"/>
                </a:solidFill>
                <a:latin typeface="Arial"/>
                <a:ea typeface="Arial"/>
                <a:cs typeface="Arial"/>
              </a:rPr>
              <a:t>4 % des avis aveugles sont escaladés avant décision.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5" name="Google Shape;755;p44">
            <a:extLst xmlns:a="http://schemas.openxmlformats.org/drawingml/2006/main">
              <a:ext uri="{FF2B5EF4-FFF2-40B4-BE49-F238E27FC236}">
                <a16:creationId xmlns:a16="http://schemas.microsoft.com/office/drawing/2014/main" id="{0271AC9A-5860-46D5-8D52-950B0912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411254"/>
            <a:ext cx="3960495" cy="27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792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300"/>
              <a:buFont typeface="Arial"/>
              <a:buNone/>
            </a:pPr>
            <a:r>
              <a:rPr sz="13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Automatisation totale — cible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6" name="Google Shape;756;p44">
            <a:extLst xmlns:a="http://schemas.openxmlformats.org/drawingml/2006/main">
              <a:ext uri="{FF2B5EF4-FFF2-40B4-BE49-F238E27FC236}">
                <a16:creationId xmlns:a16="http://schemas.microsoft.com/office/drawing/2014/main" id="{2B01CA72-DEE7-48EE-8B78-7CD59B48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19388"/>
            <a:ext cx="396049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7D7979"/>
              </a:buClr>
              <a:buSzPts val="1000"/>
              <a:buFont typeface="Arial"/>
              <a:buNone/>
            </a:pPr>
            <a:r>
              <a:rPr sz="1000">
                <a:solidFill>
                  <a:srgbClr val="7D7979"/>
                </a:solidFill>
                <a:latin typeface="Arial"/>
                <a:ea typeface="Arial"/>
                <a:cs typeface="Arial"/>
              </a:rPr>
              <a:t>À étendre seulement après validation sur les feedbacks du pilote.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7" name="Google Shape;757;p44">
            <a:extLst xmlns:a="http://schemas.openxmlformats.org/drawingml/2006/main">
              <a:ext uri="{FF2B5EF4-FFF2-40B4-BE49-F238E27FC236}">
                <a16:creationId xmlns:a16="http://schemas.microsoft.com/office/drawing/2014/main" id="{66D4B469-08BA-4A62-93F8-7C22EE51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" y="3297079"/>
            <a:ext cx="8612505" cy="21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605D5D"/>
              </a:buClr>
              <a:buSzPts val="1000"/>
              <a:buFont typeface="Arial"/>
              <a:buNone/>
            </a:pPr>
            <a:r>
              <a:rPr sz="1000" b="1">
                <a:solidFill>
                  <a:srgbClr val="605D5D"/>
                </a:solidFill>
                <a:latin typeface="Arial"/>
                <a:ea typeface="Arial"/>
                <a:cs typeface="Arial"/>
              </a:rPr>
              <a:t>CONFIANCE DU MODÈLE →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8" name="Google Shape;758;p44">
            <a:extLst xmlns:a="http://schemas.openxmlformats.org/drawingml/2006/main">
              <a:ext uri="{FF2B5EF4-FFF2-40B4-BE49-F238E27FC236}">
                <a16:creationId xmlns:a16="http://schemas.microsoft.com/office/drawing/2014/main" id="{26E35B78-0187-414F-9FA5-FA81A650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3307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9" name="Google Shape;759;p44">
            <a:extLst xmlns:a="http://schemas.openxmlformats.org/drawingml/2006/main">
              <a:ext uri="{FF2B5EF4-FFF2-40B4-BE49-F238E27FC236}">
                <a16:creationId xmlns:a16="http://schemas.microsoft.com/office/drawing/2014/main" id="{E6D10CE5-F375-4AE2-B213-84C44BF9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6657"/>
            <a:ext cx="7946708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Le sas de revue humaine reste un investissement : il protège les cas ambigus aujourd’hui et produit les labels propres du prochain cycle.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0" name="Google Shape;760;p44">
            <a:extLst xmlns:a="http://schemas.openxmlformats.org/drawingml/2006/main">
              <a:ext uri="{FF2B5EF4-FFF2-40B4-BE49-F238E27FC236}">
                <a16:creationId xmlns:a16="http://schemas.microsoft.com/office/drawing/2014/main" id="{F99B1698-D0C8-4EEE-AB63-124B62FE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LIMITES ET PROCHAINES 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ÉTAPES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1" name="Google Shape;761;p44">
            <a:extLst xmlns:a="http://schemas.openxmlformats.org/drawingml/2006/main">
              <a:ext uri="{FF2B5EF4-FFF2-40B4-BE49-F238E27FC236}">
                <a16:creationId xmlns:a16="http://schemas.microsoft.com/office/drawing/2014/main" id="{C780AD0B-C954-4016-B3F1-97C208A6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7431044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3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7" name="Google Shape;767;p45">
            <a:extLst xmlns:a="http://schemas.openxmlformats.org/drawingml/2006/main">
              <a:ext uri="{FF2B5EF4-FFF2-40B4-BE49-F238E27FC236}">
                <a16:creationId xmlns:a16="http://schemas.microsoft.com/office/drawing/2014/main" id="{2E6FC671-BB3A-45AA-90FE-9F38859D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"/>
            <a:ext cx="6965469" cy="62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511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Arial"/>
              <a:buNone/>
            </a:pPr>
            <a:r>
              <a:rPr sz="23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Cible d'industrialisation : même logique, sécurisée et répliquée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8" name="Google Shape;768;p45">
            <a:extLst xmlns:a="http://schemas.openxmlformats.org/drawingml/2006/main">
              <a:ext uri="{FF2B5EF4-FFF2-40B4-BE49-F238E27FC236}">
                <a16:creationId xmlns:a16="http://schemas.microsoft.com/office/drawing/2014/main" id="{B0604582-00B7-4A87-8431-FD196CA0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3505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E1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9" name="Google Shape;769;p45">
            <a:extLst xmlns:a="http://schemas.openxmlformats.org/drawingml/2006/main">
              <a:ext uri="{FF2B5EF4-FFF2-40B4-BE49-F238E27FC236}">
                <a16:creationId xmlns:a16="http://schemas.microsoft.com/office/drawing/2014/main" id="{612D8372-9596-4FA8-BD66-A5AF05CB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1957388" cy="1709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0" name="Google Shape;770;p45">
            <a:extLst xmlns:a="http://schemas.openxmlformats.org/drawingml/2006/main">
              <a:ext uri="{FF2B5EF4-FFF2-40B4-BE49-F238E27FC236}">
                <a16:creationId xmlns:a16="http://schemas.microsoft.com/office/drawing/2014/main" id="{FBD5AD99-448C-43B9-94C2-F20CA11E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87830"/>
            <a:ext cx="1880712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Exposition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1" name="Google Shape;771;p45">
            <a:extLst xmlns:a="http://schemas.openxmlformats.org/drawingml/2006/main">
              <a:ext uri="{FF2B5EF4-FFF2-40B4-BE49-F238E27FC236}">
                <a16:creationId xmlns:a16="http://schemas.microsoft.com/office/drawing/2014/main" id="{52B2F174-C1A9-4F16-AA56-7A395A7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75961"/>
            <a:ext cx="1761029" cy="5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API Gateway + WAF : routing, TLS, rate limiting, anti-bot, logs.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2" name="Google Shape;772;p45">
            <a:extLst xmlns:a="http://schemas.openxmlformats.org/drawingml/2006/main">
              <a:ext uri="{FF2B5EF4-FFF2-40B4-BE49-F238E27FC236}">
                <a16:creationId xmlns:a16="http://schemas.microsoft.com/office/drawing/2014/main" id="{601D8753-8955-4673-B2BE-38FCBDA7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62701"/>
            <a:ext cx="1761029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OIDC / OAuth2 et gestion des secrets avec rotation.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3" name="Google Shape;773;p45">
            <a:extLst xmlns:a="http://schemas.openxmlformats.org/drawingml/2006/main">
              <a:ext uri="{FF2B5EF4-FFF2-40B4-BE49-F238E27FC236}">
                <a16:creationId xmlns:a16="http://schemas.microsoft.com/office/drawing/2014/main" id="{41EE4C2D-9F5A-4141-A22B-B292F835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8" y="1554480"/>
            <a:ext cx="1957388" cy="1709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4" name="Google Shape;774;p45">
            <a:extLst xmlns:a="http://schemas.openxmlformats.org/drawingml/2006/main">
              <a:ext uri="{FF2B5EF4-FFF2-40B4-BE49-F238E27FC236}">
                <a16:creationId xmlns:a16="http://schemas.microsoft.com/office/drawing/2014/main" id="{48734F14-1872-4847-AC08-22048162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687830"/>
            <a:ext cx="1880712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Plan applicatif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5" name="Google Shape;775;p45">
            <a:extLst xmlns:a="http://schemas.openxmlformats.org/drawingml/2006/main">
              <a:ext uri="{FF2B5EF4-FFF2-40B4-BE49-F238E27FC236}">
                <a16:creationId xmlns:a16="http://schemas.microsoft.com/office/drawing/2014/main" id="{9FBE8255-0F28-4CFD-9DAE-704D2B78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975961"/>
            <a:ext cx="1761029" cy="5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Streamlit, FastAPI, data service et monitoring répliqués.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6" name="Google Shape;776;p45">
            <a:extLst xmlns:a="http://schemas.openxmlformats.org/drawingml/2006/main">
              <a:ext uri="{FF2B5EF4-FFF2-40B4-BE49-F238E27FC236}">
                <a16:creationId xmlns:a16="http://schemas.microsoft.com/office/drawing/2014/main" id="{DE54E893-3C63-461D-AFD1-084BD80D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562701"/>
            <a:ext cx="1761029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Autoscaling, health checks, rolling updates.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7" name="Google Shape;777;p45">
            <a:extLst xmlns:a="http://schemas.openxmlformats.org/drawingml/2006/main">
              <a:ext uri="{FF2B5EF4-FFF2-40B4-BE49-F238E27FC236}">
                <a16:creationId xmlns:a16="http://schemas.microsoft.com/office/drawing/2014/main" id="{3FB2E16C-CEB8-4B26-9C10-A0F5339B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54480"/>
            <a:ext cx="1957388" cy="1709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8" name="Google Shape;778;p45">
            <a:extLst xmlns:a="http://schemas.openxmlformats.org/drawingml/2006/main">
              <a:ext uri="{FF2B5EF4-FFF2-40B4-BE49-F238E27FC236}">
                <a16:creationId xmlns:a16="http://schemas.microsoft.com/office/drawing/2014/main" id="{45E72084-910E-4BE8-8F7A-C1C239E7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87830"/>
            <a:ext cx="1761029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Orchestration &amp; gouvernance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9" name="Google Shape;779;p45">
            <a:extLst xmlns:a="http://schemas.openxmlformats.org/drawingml/2006/main">
              <a:ext uri="{FF2B5EF4-FFF2-40B4-BE49-F238E27FC236}">
                <a16:creationId xmlns:a16="http://schemas.microsoft.com/office/drawing/2014/main" id="{8E2647ED-BE53-416B-A887-8E21FBEC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7418"/>
            <a:ext cx="1761029" cy="5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Dagster et PostgreSQL managés pour les métadonnées d'exécution.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0" name="Google Shape;780;p45">
            <a:extLst xmlns:a="http://schemas.openxmlformats.org/drawingml/2006/main">
              <a:ext uri="{FF2B5EF4-FFF2-40B4-BE49-F238E27FC236}">
                <a16:creationId xmlns:a16="http://schemas.microsoft.com/office/drawing/2014/main" id="{A0D64704-8E39-450E-9F26-5C0920EB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4158"/>
            <a:ext cx="1761029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MLflow candidate / champion : versioning, lineage, métriques.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1" name="Google Shape;781;p45">
            <a:extLst xmlns:a="http://schemas.openxmlformats.org/drawingml/2006/main">
              <a:ext uri="{FF2B5EF4-FFF2-40B4-BE49-F238E27FC236}">
                <a16:creationId xmlns:a16="http://schemas.microsoft.com/office/drawing/2014/main" id="{889E4FB2-7E61-47C9-94B6-717FCCAD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1554480"/>
            <a:ext cx="1957388" cy="1709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2" name="Google Shape;782;p45">
            <a:extLst xmlns:a="http://schemas.openxmlformats.org/drawingml/2006/main">
              <a:ext uri="{FF2B5EF4-FFF2-40B4-BE49-F238E27FC236}">
                <a16:creationId xmlns:a16="http://schemas.microsoft.com/office/drawing/2014/main" id="{2BC694EE-AFD3-4D3E-AC87-AE1016AC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238" y="1687830"/>
            <a:ext cx="1880712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98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Données &amp; plateforme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3" name="Google Shape;783;p45">
            <a:extLst xmlns:a="http://schemas.openxmlformats.org/drawingml/2006/main">
              <a:ext uri="{FF2B5EF4-FFF2-40B4-BE49-F238E27FC236}">
                <a16:creationId xmlns:a16="http://schemas.microsoft.com/office/drawing/2014/main" id="{911464E5-B8D9-48D5-A79F-9B69C58F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238" y="1975961"/>
            <a:ext cx="1761029" cy="5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Base managée concurrente, stockage objet, sauvegardes testées.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4" name="Google Shape;784;p45">
            <a:extLst xmlns:a="http://schemas.openxmlformats.org/drawingml/2006/main">
              <a:ext uri="{FF2B5EF4-FFF2-40B4-BE49-F238E27FC236}">
                <a16:creationId xmlns:a16="http://schemas.microsoft.com/office/drawing/2014/main" id="{389003D2-B435-47FF-AB7F-D94D79C4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238" y="2562701"/>
            <a:ext cx="1761029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444141"/>
              </a:buClr>
              <a:buSzPts val="1000"/>
              <a:buFont typeface="Arial"/>
              <a:buNone/>
            </a:pPr>
            <a:r>
              <a:rPr sz="1000">
                <a:solidFill>
                  <a:srgbClr val="444141"/>
                </a:solidFill>
                <a:latin typeface="Arial"/>
                <a:ea typeface="Arial"/>
                <a:cs typeface="Arial"/>
              </a:rPr>
              <a:t>Chiffrement, KMS, RPO/RTO définis, purge RGPD vérifiable.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5" name="Google Shape;785;p45">
            <a:extLst xmlns:a="http://schemas.openxmlformats.org/drawingml/2006/main">
              <a:ext uri="{FF2B5EF4-FFF2-40B4-BE49-F238E27FC236}">
                <a16:creationId xmlns:a16="http://schemas.microsoft.com/office/drawing/2014/main" id="{69EB470E-CAC8-4905-AC7A-6FFD18AC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7568"/>
            <a:ext cx="4048125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9E9"/>
          </a:solidFill>
          <a:ln xmlns:a="http://schemas.openxmlformats.org/drawingml/2006/main" w="19050" cmpd="sng">
            <a:solidFill>
              <a:srgbClr val="201E1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6" name="Google Shape;786;p45">
            <a:extLst xmlns:a="http://schemas.openxmlformats.org/drawingml/2006/main">
              <a:ext uri="{FF2B5EF4-FFF2-40B4-BE49-F238E27FC236}">
                <a16:creationId xmlns:a16="http://schemas.microsoft.com/office/drawing/2014/main" id="{39FD21A6-8779-471E-ACB7-BB650660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1393"/>
            <a:ext cx="3894868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Arial"/>
              <a:buNone/>
            </a:pPr>
            <a:r>
              <a:rPr sz="1100" b="1">
                <a:solidFill>
                  <a:srgbClr val="201E1D"/>
                </a:solidFill>
                <a:latin typeface="Arial"/>
                <a:ea typeface="Arial"/>
                <a:cs typeface="Arial"/>
              </a:rPr>
              <a:t>Déploiement : </a:t>
            </a:r>
            <a:r>
              <a:rPr sz="1100">
                <a:solidFill>
                  <a:srgbClr val="201E1D"/>
                </a:solidFill>
                <a:latin typeface="Arial"/>
                <a:ea typeface="Arial"/>
                <a:cs typeface="Arial"/>
              </a:rPr>
              <a:t>Kubernetes ou services managés — HA multi-zone, rolling updates, auto-réparation.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7" name="Google Shape;787;p45">
            <a:extLst xmlns:a="http://schemas.openxmlformats.org/drawingml/2006/main">
              <a:ext uri="{FF2B5EF4-FFF2-40B4-BE49-F238E27FC236}">
                <a16:creationId xmlns:a16="http://schemas.microsoft.com/office/drawing/2014/main" id="{4B112EB3-9AC1-417C-AEDF-8A79FF92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97568"/>
            <a:ext cx="40481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EC301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8" name="Google Shape;788;p45">
            <a:extLst xmlns:a="http://schemas.openxmlformats.org/drawingml/2006/main">
              <a:ext uri="{FF2B5EF4-FFF2-40B4-BE49-F238E27FC236}">
                <a16:creationId xmlns:a16="http://schemas.microsoft.com/office/drawing/2014/main" id="{D3A3C2A4-BEA9-4D62-94B5-71CCE6C7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21393"/>
            <a:ext cx="3894868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1800"/>
              </a:buClr>
              <a:buSzPts val="1100"/>
              <a:buFont typeface="Arial"/>
              <a:buNone/>
            </a:pPr>
            <a:r>
              <a:rPr sz="1100" b="1">
                <a:solidFill>
                  <a:srgbClr val="AE1800"/>
                </a:solidFill>
                <a:latin typeface="Arial"/>
                <a:ea typeface="Arial"/>
                <a:cs typeface="Arial"/>
              </a:rPr>
              <a:t>Invariant : </a:t>
            </a:r>
            <a:r>
              <a:rPr sz="1100">
                <a:solidFill>
                  <a:srgbClr val="AE1800"/>
                </a:solidFill>
                <a:latin typeface="Arial"/>
                <a:ea typeface="Arial"/>
                <a:cs typeface="Arial"/>
              </a:rPr>
              <a:t>la dérive reste un signal d'investigation, jamais un déclencheur de réentraînement.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9" name="Google Shape;789;p45">
            <a:extLst xmlns:a="http://schemas.openxmlformats.org/drawingml/2006/main">
              <a:ext uri="{FF2B5EF4-FFF2-40B4-BE49-F238E27FC236}">
                <a16:creationId xmlns:a16="http://schemas.microsoft.com/office/drawing/2014/main" id="{B97BEF72-C989-4441-9FED-339C719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" y="204615"/>
            <a:ext cx="4823896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2C16"/>
                </a:solidFill>
                <a:latin typeface="Arial"/>
                <a:ea typeface="Arial"/>
                <a:cs typeface="Arial"/>
              </a:rPr>
              <a:t>LIMITES ET PROCHAINES </a:t>
            </a:r>
            <a:r>
              <a:rPr sz="1200" b="1">
                <a:solidFill>
                  <a:srgbClr val="EC3013"/>
                </a:solidFill>
                <a:latin typeface="Arial"/>
                <a:ea typeface="Arial"/>
                <a:cs typeface="Arial"/>
              </a:rPr>
              <a:t>ÉTAPES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0" name="Google Shape;790;p45">
            <a:extLst xmlns:a="http://schemas.openxmlformats.org/drawingml/2006/main">
              <a:ext uri="{FF2B5EF4-FFF2-40B4-BE49-F238E27FC236}">
                <a16:creationId xmlns:a16="http://schemas.microsoft.com/office/drawing/2014/main" id="{EC5715E3-8124-4D5A-AAFE-884A29DF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82243"/>
            <a:ext cx="282121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22850" rIns="45725" bIns="228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LIORA · Soutenance de fin d’année · </a:t>
            </a:r>
            <a:r>
              <a:rPr sz="800" b="1" i="1">
                <a:solidFill>
                  <a:srgbClr val="918B85"/>
                </a:solidFill>
                <a:latin typeface="Arial"/>
                <a:ea typeface="Arial"/>
                <a:cs typeface="Arial"/>
              </a:rPr>
              <a:t>Août 2026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9113461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2026-08-20T12:05:31.3120000Z</dcterms:created>
  <dcterms:modified xsi:type="dcterms:W3CDTF">2026-08-20T12:05:31.3120000Z</dcterms:modified>
</coreProperties>
</file>