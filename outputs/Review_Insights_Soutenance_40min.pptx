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c6f4e5d0544bf9" /><Relationship Type="http://schemas.openxmlformats.org/officeDocument/2006/relationships/extended-properties" Target="/docProps/app.xml" Id="Re91691384de64413" /><Relationship Type="http://schemas.openxmlformats.org/officeDocument/2006/relationships/officeDocument" Target="/ppt/presentation.xml" Id="Ra40d20e4db054c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5a5819b36747db"/>
  </p:sldMasterIdLst>
  <p:notesMasterIdLst>
    <p:notesMasterId xmlns:r="http://schemas.openxmlformats.org/officeDocument/2006/relationships" r:id="R61ad9eb2b31c4ac8"/>
  </p:notesMasterIdLst>
  <p:sldIdLst>
    <p:sldId xmlns:r="http://schemas.openxmlformats.org/officeDocument/2006/relationships" id="256" r:id="R3cbbd5d20e8947d3"/>
    <p:sldId xmlns:r="http://schemas.openxmlformats.org/officeDocument/2006/relationships" id="257" r:id="R43ba67e745c94e80"/>
    <p:sldId xmlns:r="http://schemas.openxmlformats.org/officeDocument/2006/relationships" id="258" r:id="R374b193ee1414a5b"/>
    <p:sldId xmlns:r="http://schemas.openxmlformats.org/officeDocument/2006/relationships" id="259" r:id="Rb1b9dd27bf5d4df5"/>
    <p:sldId xmlns:r="http://schemas.openxmlformats.org/officeDocument/2006/relationships" id="260" r:id="Rb79eccabcab94b63"/>
    <p:sldId xmlns:r="http://schemas.openxmlformats.org/officeDocument/2006/relationships" id="261" r:id="Rc4044d72db344595"/>
    <p:sldId xmlns:r="http://schemas.openxmlformats.org/officeDocument/2006/relationships" id="262" r:id="R043940a61a6c4b25"/>
    <p:sldId xmlns:r="http://schemas.openxmlformats.org/officeDocument/2006/relationships" id="263" r:id="R51e0793d68c0415c"/>
    <p:sldId xmlns:r="http://schemas.openxmlformats.org/officeDocument/2006/relationships" id="264" r:id="Raee99654ecf04b7a"/>
    <p:sldId xmlns:r="http://schemas.openxmlformats.org/officeDocument/2006/relationships" id="265" r:id="R126db62cf0b64e23"/>
    <p:sldId xmlns:r="http://schemas.openxmlformats.org/officeDocument/2006/relationships" id="266" r:id="Rd2fb25bcd34847b1"/>
    <p:sldId xmlns:r="http://schemas.openxmlformats.org/officeDocument/2006/relationships" id="267" r:id="R9a003920a6c44f09"/>
    <p:sldId xmlns:r="http://schemas.openxmlformats.org/officeDocument/2006/relationships" id="268" r:id="R02d0fa0680044fd6"/>
    <p:sldId xmlns:r="http://schemas.openxmlformats.org/officeDocument/2006/relationships" id="269" r:id="R17721e82078241e3"/>
    <p:sldId xmlns:r="http://schemas.openxmlformats.org/officeDocument/2006/relationships" id="270" r:id="Rda51cddba9ed4892"/>
    <p:sldId xmlns:r="http://schemas.openxmlformats.org/officeDocument/2006/relationships" id="271" r:id="R84f3da469fd04055"/>
    <p:sldId xmlns:r="http://schemas.openxmlformats.org/officeDocument/2006/relationships" id="272" r:id="Rbaa13f891f4f44d9"/>
    <p:sldId xmlns:r="http://schemas.openxmlformats.org/officeDocument/2006/relationships" id="273" r:id="R696657ddc6a8431e"/>
    <p:sldId xmlns:r="http://schemas.openxmlformats.org/officeDocument/2006/relationships" id="274" r:id="R4ad1307bfe604ff9"/>
    <p:sldId xmlns:r="http://schemas.openxmlformats.org/officeDocument/2006/relationships" id="275" r:id="R7da33cb78bc242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d3c563cb744f7b" /><Relationship Type="http://schemas.openxmlformats.org/officeDocument/2006/relationships/slideMaster" Target="/ppt/slideMasters/slideMaster1.xml" Id="R335a5819b36747db" /><Relationship Type="http://schemas.openxmlformats.org/officeDocument/2006/relationships/notesMaster" Target="/ppt/notesMasters/notesMaster1.xml" Id="R61ad9eb2b31c4ac8" /><Relationship Type="http://schemas.openxmlformats.org/officeDocument/2006/relationships/presProps" Target="/ppt/presProps.xml" Id="Ra8148ceee22e4317" /><Relationship Type="http://schemas.openxmlformats.org/officeDocument/2006/relationships/tableStyles" Target="/ppt/tableStyles.xml" Id="R71ed1898dcc741b1" /><Relationship Type="http://schemas.openxmlformats.org/officeDocument/2006/relationships/slide" Target="/ppt/slides/slide1.xml" Id="R3cbbd5d20e8947d3" /><Relationship Type="http://schemas.openxmlformats.org/officeDocument/2006/relationships/slide" Target="/ppt/slides/slide2.xml" Id="R43ba67e745c94e80" /><Relationship Type="http://schemas.openxmlformats.org/officeDocument/2006/relationships/slide" Target="/ppt/slides/slide3.xml" Id="R374b193ee1414a5b" /><Relationship Type="http://schemas.openxmlformats.org/officeDocument/2006/relationships/slide" Target="/ppt/slides/slide4.xml" Id="Rb1b9dd27bf5d4df5" /><Relationship Type="http://schemas.openxmlformats.org/officeDocument/2006/relationships/slide" Target="/ppt/slides/slide5.xml" Id="Rb79eccabcab94b63" /><Relationship Type="http://schemas.openxmlformats.org/officeDocument/2006/relationships/slide" Target="/ppt/slides/slide6.xml" Id="Rc4044d72db344595" /><Relationship Type="http://schemas.openxmlformats.org/officeDocument/2006/relationships/slide" Target="/ppt/slides/slide7.xml" Id="R043940a61a6c4b25" /><Relationship Type="http://schemas.openxmlformats.org/officeDocument/2006/relationships/slide" Target="/ppt/slides/slide8.xml" Id="R51e0793d68c0415c" /><Relationship Type="http://schemas.openxmlformats.org/officeDocument/2006/relationships/slide" Target="/ppt/slides/slide9.xml" Id="Raee99654ecf04b7a" /><Relationship Type="http://schemas.openxmlformats.org/officeDocument/2006/relationships/slide" Target="/ppt/slides/slide10.xml" Id="R126db62cf0b64e23" /><Relationship Type="http://schemas.openxmlformats.org/officeDocument/2006/relationships/slide" Target="/ppt/slides/slide11.xml" Id="Rd2fb25bcd34847b1" /><Relationship Type="http://schemas.openxmlformats.org/officeDocument/2006/relationships/slide" Target="/ppt/slides/slide12.xml" Id="R9a003920a6c44f09" /><Relationship Type="http://schemas.openxmlformats.org/officeDocument/2006/relationships/slide" Target="/ppt/slides/slide13.xml" Id="R02d0fa0680044fd6" /><Relationship Type="http://schemas.openxmlformats.org/officeDocument/2006/relationships/slide" Target="/ppt/slides/slide14.xml" Id="R17721e82078241e3" /><Relationship Type="http://schemas.openxmlformats.org/officeDocument/2006/relationships/slide" Target="/ppt/slides/slide15.xml" Id="Rda51cddba9ed4892" /><Relationship Type="http://schemas.openxmlformats.org/officeDocument/2006/relationships/slide" Target="/ppt/slides/slide16.xml" Id="R84f3da469fd04055" /><Relationship Type="http://schemas.openxmlformats.org/officeDocument/2006/relationships/slide" Target="/ppt/slides/slide17.xml" Id="Rbaa13f891f4f44d9" /><Relationship Type="http://schemas.openxmlformats.org/officeDocument/2006/relationships/slide" Target="/ppt/slides/slide18.xml" Id="R696657ddc6a8431e" /><Relationship Type="http://schemas.openxmlformats.org/officeDocument/2006/relationships/slide" Target="/ppt/slides/slide19.xml" Id="R4ad1307bfe604ff9" /><Relationship Type="http://schemas.openxmlformats.org/officeDocument/2006/relationships/slide" Target="/ppt/slides/slide20.xml" Id="R7da33cb78bc242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969190090149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4e988b04444fda" /><Relationship Type="http://schemas.openxmlformats.org/officeDocument/2006/relationships/notesMaster" Target="/ppt/notesMasters/notesMaster1.xml" Id="R788ae27522f243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03832018bf4f2b" /><Relationship Type="http://schemas.openxmlformats.org/officeDocument/2006/relationships/notesMaster" Target="/ppt/notesMasters/notesMaster1.xml" Id="R35888553104446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4946d3622549dc" /><Relationship Type="http://schemas.openxmlformats.org/officeDocument/2006/relationships/notesMaster" Target="/ppt/notesMasters/notesMaster1.xml" Id="R512f0b247e8146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70892940a7467b" /><Relationship Type="http://schemas.openxmlformats.org/officeDocument/2006/relationships/notesMaster" Target="/ppt/notesMasters/notesMaster1.xml" Id="Rb305f782c1a040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9e8e23bb174262" /><Relationship Type="http://schemas.openxmlformats.org/officeDocument/2006/relationships/notesMaster" Target="/ppt/notesMasters/notesMaster1.xml" Id="R32e6c20d0aff43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d36f4e7eb0442e" /><Relationship Type="http://schemas.openxmlformats.org/officeDocument/2006/relationships/notesMaster" Target="/ppt/notesMasters/notesMaster1.xml" Id="Ra5eaf30a8a1741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59653154ce4514" /><Relationship Type="http://schemas.openxmlformats.org/officeDocument/2006/relationships/notesMaster" Target="/ppt/notesMasters/notesMaster1.xml" Id="Rff1265216c434c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40f79770d64df6" /><Relationship Type="http://schemas.openxmlformats.org/officeDocument/2006/relationships/notesMaster" Target="/ppt/notesMasters/notesMaster1.xml" Id="R791291f9f8f644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007a8aa6f14bcd" /><Relationship Type="http://schemas.openxmlformats.org/officeDocument/2006/relationships/notesMaster" Target="/ppt/notesMasters/notesMaster1.xml" Id="R86f16a0a7b654d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202d73bfda45d8" /><Relationship Type="http://schemas.openxmlformats.org/officeDocument/2006/relationships/notesMaster" Target="/ppt/notesMasters/notesMaster1.xml" Id="Rb13464f2c07b494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7a89bc56e549da" /><Relationship Type="http://schemas.openxmlformats.org/officeDocument/2006/relationships/notesMaster" Target="/ppt/notesMasters/notesMaster1.xml" Id="Rf444fc71690c4bd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c26b5c2bb82473d" /><Relationship Type="http://schemas.openxmlformats.org/officeDocument/2006/relationships/notesMaster" Target="/ppt/notesMasters/notesMaster1.xml" Id="Rf9ce1aafa335408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c8b377dee6047b8" /><Relationship Type="http://schemas.openxmlformats.org/officeDocument/2006/relationships/notesMaster" Target="/ppt/notesMasters/notesMaster1.xml" Id="R6684fb6468fd4c2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437b4b497d94096" /><Relationship Type="http://schemas.openxmlformats.org/officeDocument/2006/relationships/notesMaster" Target="/ppt/notesMasters/notesMaster1.xml" Id="R5dcf42b3c785443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bde4541cd70440f" /><Relationship Type="http://schemas.openxmlformats.org/officeDocument/2006/relationships/notesMaster" Target="/ppt/notesMasters/notesMaster1.xml" Id="R33de1057fa1b461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3d614096dd945cb" /><Relationship Type="http://schemas.openxmlformats.org/officeDocument/2006/relationships/notesMaster" Target="/ppt/notesMasters/notesMaster1.xml" Id="R48ffd172a03442b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51fa659e7cf4913" /><Relationship Type="http://schemas.openxmlformats.org/officeDocument/2006/relationships/notesMaster" Target="/ppt/notesMasters/notesMaster1.xml" Id="R38331d5a6ab048a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552e5893ca74ba9" /><Relationship Type="http://schemas.openxmlformats.org/officeDocument/2006/relationships/notesMaster" Target="/ppt/notesMasters/notesMaster1.xml" Id="R145d00cd4d744aa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d4abcbed59e431a" /><Relationship Type="http://schemas.openxmlformats.org/officeDocument/2006/relationships/notesMaster" Target="/ppt/notesMasters/notesMaster1.xml" Id="R20f9fa3e096b406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aa46824db544480" /><Relationship Type="http://schemas.openxmlformats.org/officeDocument/2006/relationships/notesMaster" Target="/ppt/notesMasters/notesMaster1.xml" Id="R6a7be0f463744f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TEMPS CIBLE : 0:45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Ouvrir par la promesse métier, pas par les outils.</a:t>
            </a:r>
          </a:p>
          <a:p xmlns:a="http://schemas.openxmlformats.org/drawingml/2006/main">
            <a:r>
              <a:t>Message central : le projet ne se contente pas de prédire ; il sait mesurer son état et encadrer sa propre évolution.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TEMPS CIBLE : 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Donner un exemple concret : 10 000 avis ne deviennent utiles que lorsqu’on peut les trier et les relier à une action.</a:t>
            </a:r>
          </a:p>
          <a:p xmlns:a="http://schemas.openxmlformats.org/drawingml/2006/main">
            <a:r>
              <a:t>Insister : l’objectif n’est pas de remplacer l’expert métier.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TEMPS CIBLE : 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Montrer que l’interface expose la confiance et la revue humaine, pas seulement une étiquette.</a:t>
            </a:r>
          </a:p>
          <a:p xmlns:a="http://schemas.openxmlformats.org/drawingml/2006/main">
            <a:r>
              <a:t>Le périmètre linguistique actuel est l’anglais ; le multilingue appartient à la roadmap.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TEMPS CIBLE : 2:00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Expliquer le flux sans détailler les classes Python.</a:t>
            </a:r>
          </a:p>
          <a:p xmlns:a="http://schemas.openxmlformats.org/drawingml/2006/main">
            <a:r>
              <a:t>Point clé : le feedback libre sert au monitoring ; seul un feedback étiqueté et validé peut nourrir un réentraînement.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TEMPS CIBLE : 2:00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Dire clairement : ce n’est plus un notebook, mais ce n’est pas encore un service public cloud.</a:t>
            </a:r>
          </a:p>
          <a:p xmlns:a="http://schemas.openxmlformats.org/drawingml/2006/main">
            <a:r>
              <a:t>Relier chaque brique à un besoin : servir, orchestrer, tracer, observer.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TEMPS CIBLE : 2:00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Mettre l’accent sur la séparation des responsabilités.</a:t>
            </a:r>
          </a:p>
          <a:p xmlns:a="http://schemas.openxmlformats.org/drawingml/2006/main">
            <a:r>
              <a:t>Le modèle candidat est comparé à des seuils absolus et au champion ; la promotion et le rollback sont auditables.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TEMPS CIBLE : 2:15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Être très transparent sur le 100 % synthétique ; cette honnêteté désamorce une question probable du jury.</a:t>
            </a:r>
          </a:p>
          <a:p xmlns:a="http://schemas.openxmlformats.org/drawingml/2006/main">
            <a:r>
              <a:t>Positionner le POC comme une preuve de système et une base d’amélioration du modèle.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TEMPS CIBLE : 1:45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Préciser que les alertes visibles sont attendues : le test injecte une dégradation contrôlée.</a:t>
            </a:r>
          </a:p>
          <a:p xmlns:a="http://schemas.openxmlformats.org/drawingml/2006/main">
            <a:r>
              <a:t>Le sensor ignore les datasets déjà ingérés pour éviter les boucles et les retrainings dupliqués.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TEMPS CIBLE : 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 pas réciter tous les chiffres : conclure qu’ils couvrent code, runtime et monitoring.</a:t>
            </a:r>
          </a:p>
          <a:p xmlns:a="http://schemas.openxmlformats.org/drawingml/2006/main">
            <a:r>
              <a:t>Les quatre skips dépendent de l’absence de Dagster dans le Python hôte ; les jobs sont validés dans le conteneur de référence.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TEMPS CIBLE : 1:45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 pas présenter l’API key simple comme une solution B2C finale.</a:t>
            </a:r>
          </a:p>
          <a:p xmlns:a="http://schemas.openxmlformats.org/drawingml/2006/main">
            <a:r>
              <a:t>Expliquer la différence entre mécanismes applicatifs présents et dispositif d’exploitation complet.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TEMPS CIBLE : 2:15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Présenter l’architecture comme une cible logique, pas comme un choix AWS/Azure/GCP déjà arrêté.</a:t>
            </a:r>
          </a:p>
          <a:p xmlns:a="http://schemas.openxmlformats.org/drawingml/2006/main">
            <a:r>
              <a:t>Le pipeline data place validation, pseudonymisation, versionnement et quality gates avant l’entraînement.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TEMPS CIBLE : 2:30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Formuler cette slide comme une trajectoire de conformité, pas comme une conformité déjà acquise.</a:t>
            </a:r>
          </a:p>
          <a:p xmlns:a="http://schemas.openxmlformats.org/drawingml/2006/main">
            <a:r>
              <a:t>La pseudonymisation ne sort pas les données du champ RGPD ; l’anonymisation robuste, elle, peut le faire.</a:t>
            </a:r>
          </a:p>
          <a:p xmlns:a="http://schemas.openxmlformats.org/drawingml/2006/main">
            <a:r>
              <a:t>Une AIPD est à évaluer avec le DPO lorsque le traitement est susceptible d’engendrer un risque élevé.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:</a:t>
            </a:r>
          </a:p>
          <a:p xmlns:a="http://schemas.openxmlformats.org/drawingml/2006/main">
            <a:r>
              <a:t>https://eur-lex.europa.eu/legal-content/FR/TXT/?uri=CELEX:32016R0679</a:t>
            </a:r>
          </a:p>
          <a:p xmlns:a="http://schemas.openxmlformats.org/drawingml/2006/main">
            <a:r>
              <a:t>https://www.cnil.fr/fr/comprendre-le-rgpd/les-six-grands-principes-du-rgpd</a:t>
            </a:r>
          </a:p>
          <a:p xmlns:a="http://schemas.openxmlformats.org/drawingml/2006/main">
            <a:r>
              <a:t>https://www.cnil.fr/fr/ce-quil-faut-savoir-sur-lanalyse-dimpact-relative-la-protection-des-donnees-aipd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TEMPS CIBLE : 2:00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roadmap doit être séquentielle : une infrastructure plus grande ne corrige pas un modèle insuffisamment validé.</a:t>
            </a:r>
          </a:p>
          <a:p xmlns:a="http://schemas.openxmlformats.org/drawingml/2006/main">
            <a:r>
              <a:t>Proposer des critères de sortie pour chaque étape lors des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TEMPS CIBLE : 10:30 démo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Ordre conseillé : Streamlit 4 min, Dagster + MLflow 3 min, monitoring + Grafana 3 min, marge 30 s.</a:t>
            </a:r>
          </a:p>
          <a:p xmlns:a="http://schemas.openxmlformats.org/drawingml/2006/main">
            <a:r>
              <a:t>Préouvrir tous les onglets. Ne jamais relancer un build pendant la soutenance.</a:t>
            </a:r>
          </a:p>
          <a:p xmlns:a="http://schemas.openxmlformats.org/drawingml/2006/main">
            <a:r>
              <a:t>Si une interface est lente, basculer immédiatement sur les captures de l’annexe.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TEMPS CIBLE : 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Revenir exactement à la promesse d’ouverture.</a:t>
            </a:r>
          </a:p>
          <a:p xmlns:a="http://schemas.openxmlformats.org/drawingml/2006/main">
            <a:r>
              <a:t>Phrase finale : Review Insights+ ne prédit pas seulement ; il rend visible quand sa décision doit être contrôlée et quand son modèle doit évoluer.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TEMPS CIBLE : Annexe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Utiliser si le jury demande : comment savez-vous que cela fonctionne 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TEMPS CIBLE : Annexe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Réponses courtes : répondre, fournir une preuve, reconnaître la limite, donner l’étape suivante.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TEMPS CIBLE : Annexe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 jamais répondre ‘oui, conforme’ uniquement sur la base du code.</a:t>
            </a:r>
          </a:p>
          <a:p xmlns:a="http://schemas.openxmlformats.org/drawingml/2006/main">
            <a:r>
              <a:t>La conformité dépend aussi de la finalité, des acteurs, des contrats, de l’information et des procédures de droits.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:</a:t>
            </a:r>
          </a:p>
          <a:p xmlns:a="http://schemas.openxmlformats.org/drawingml/2006/main">
            <a:r>
              <a:t>https://www.cnil.fr/fr/ce-quil-faut-savoir-sur-lanalyse-dimpact-relative-la-protection-des-donnees-aipd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TEMPS CIBLE : Annexe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Si le jury demande un coût, demander ou poser explicitement trois hypothèses : requêtes/jour, latence cible, rétention.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TEMPS CIBLE : Annexe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Utiliser cette slide si le jury demande : qu’est-ce qui vous empêcherait de passer en production demain 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6b473fb6d44b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351d6c0b9b49b0" /><Relationship Type="http://schemas.openxmlformats.org/officeDocument/2006/relationships/slideLayout" Target="/ppt/slideLayouts/slideLayout1.xml" Id="R5175448a5c9f44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75448a5c9f44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80494e0994bed" /><Relationship Type="http://schemas.openxmlformats.org/officeDocument/2006/relationships/image" Target="/ppt/media/image.png" Id="R570d679f5fdb4d19" /><Relationship Type="http://schemas.openxmlformats.org/officeDocument/2006/relationships/notesSlide" Target="/ppt/notesSlides/notesSlide1.xml" Id="R4889d92214da41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a1f6cec1e456d" /><Relationship Type="http://schemas.openxmlformats.org/officeDocument/2006/relationships/notesSlide" Target="/ppt/notesSlides/notesSlide2.xml" Id="Rd70c5e7ff0f644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c229a12954a14" /><Relationship Type="http://schemas.openxmlformats.org/officeDocument/2006/relationships/image" Target="/ppt/media/image.jpeg" Id="R49ee89c839a54959" /><Relationship Type="http://schemas.openxmlformats.org/officeDocument/2006/relationships/notesSlide" Target="/ppt/notesSlides/notesSlide3.xml" Id="R08f9051051ae4d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aa1072a784837" /><Relationship Type="http://schemas.openxmlformats.org/officeDocument/2006/relationships/notesSlide" Target="/ppt/notesSlides/notesSlide4.xml" Id="R4dada9b306fc41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468a82b764d07" /><Relationship Type="http://schemas.openxmlformats.org/officeDocument/2006/relationships/notesSlide" Target="/ppt/notesSlides/notesSlide5.xml" Id="R9a8288e3f7ed4c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2047347254674" /><Relationship Type="http://schemas.openxmlformats.org/officeDocument/2006/relationships/notesSlide" Target="/ppt/notesSlides/notesSlide6.xml" Id="R838c8a3ffca642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c2c8a18ae431f" /><Relationship Type="http://schemas.openxmlformats.org/officeDocument/2006/relationships/notesSlide" Target="/ppt/notesSlides/notesSlide7.xml" Id="R7c0b990abe9147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d7567785e4d12" /><Relationship Type="http://schemas.openxmlformats.org/officeDocument/2006/relationships/image" Target="/ppt/media/image2.jpeg" Id="Ra6bd360e311144fe" /><Relationship Type="http://schemas.openxmlformats.org/officeDocument/2006/relationships/notesSlide" Target="/ppt/notesSlides/notesSlide8.xml" Id="R7e9632bd1a4749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09b66e5a945a1" /><Relationship Type="http://schemas.openxmlformats.org/officeDocument/2006/relationships/image" Target="/ppt/media/image3.jpeg" Id="R5ea98b06d5624ac5" /><Relationship Type="http://schemas.openxmlformats.org/officeDocument/2006/relationships/notesSlide" Target="/ppt/notesSlides/notesSlide9.xml" Id="R99bf7ad19fe04b9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9bceb3f724637" /><Relationship Type="http://schemas.openxmlformats.org/officeDocument/2006/relationships/notesSlide" Target="/ppt/notesSlides/notesSlide10.xml" Id="Re9c4449c7a294a0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4d990093b4fa2" /><Relationship Type="http://schemas.openxmlformats.org/officeDocument/2006/relationships/notesSlide" Target="/ppt/notesSlides/notesSlide11.xml" Id="R20ebf5c31aee4e9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cfe8a93264ff6" /><Relationship Type="http://schemas.openxmlformats.org/officeDocument/2006/relationships/notesSlide" Target="/ppt/notesSlides/notesSlide12.xml" Id="Re0f901d710fd42f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0405ce94a441d" /><Relationship Type="http://schemas.openxmlformats.org/officeDocument/2006/relationships/notesSlide" Target="/ppt/notesSlides/notesSlide13.xml" Id="R9e10ba8379b94b4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1cc8ed8794807" /><Relationship Type="http://schemas.openxmlformats.org/officeDocument/2006/relationships/notesSlide" Target="/ppt/notesSlides/notesSlide14.xml" Id="R865b96a7881a495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3e4d619a64cfb" /><Relationship Type="http://schemas.openxmlformats.org/officeDocument/2006/relationships/notesSlide" Target="/ppt/notesSlides/notesSlide15.xml" Id="R980e16c2739c498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3eb4dd7fa4641" /><Relationship Type="http://schemas.openxmlformats.org/officeDocument/2006/relationships/notesSlide" Target="/ppt/notesSlides/notesSlide16.xml" Id="R9e52f8e224cb445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187a3db59e47ba" /><Relationship Type="http://schemas.openxmlformats.org/officeDocument/2006/relationships/notesSlide" Target="/ppt/notesSlides/notesSlide17.xml" Id="R0465137679c140a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c25f48a9942de" /><Relationship Type="http://schemas.openxmlformats.org/officeDocument/2006/relationships/notesSlide" Target="/ppt/notesSlides/notesSlide18.xml" Id="R5fea39429fb2449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b41b240d3496b" /><Relationship Type="http://schemas.openxmlformats.org/officeDocument/2006/relationships/notesSlide" Target="/ppt/notesSlides/notesSlide19.xml" Id="R35ec62fbfcba456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298ae5c87f4a01" /><Relationship Type="http://schemas.openxmlformats.org/officeDocument/2006/relationships/notesSlide" Target="/ppt/notesSlides/notesSlide20.xml" Id="Re1e66134068f45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0d679f5fdb4d19"/>
          <a:srcRect xmlns:a="http://schemas.openxmlformats.org/drawingml/2006/main" l="29677" t="0" r="296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C2B630-CF23-45EA-9FFD-C42A62A9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34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6DA02-5CB4-4ACD-8729-41CA1A68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533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solidFill>
              <a:srgbClr val="22B8A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A7B45A-FCFC-4FA7-9538-2E2AEB9C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61912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08182F"/>
                </a:solidFill>
              </a:defRPr>
            </a:pPr>
            <a:r>
              <a:t>Review Insights+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07D51-088D-44B2-8B91-AA621B6E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5810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344054"/>
                </a:solidFill>
              </a:defRPr>
            </a:pPr>
            <a:r>
              <a:t>Des avis clients aux décisions, avec une chaîne MLOps gouvernée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5A05D8-31C7-453C-9623-6E24B149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0"/>
            <a:ext cx="5143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2B8A7"/>
                </a:solidFill>
              </a:defRPr>
            </a:pPr>
            <a:r>
              <a:t>POC / MVP NLP • Soutenance projet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C93B7-8DC2-4849-A525-8E48CAE0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76750"/>
            <a:ext cx="58102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1828"/>
                </a:solidFill>
              </a:defRPr>
            </a:pPr>
            <a:r>
              <a:t>Analyse • contrôle humain • monitoring • retraining maîtrisé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01D12-5940-4A88-BAB3-2AC75807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0"/>
            <a:ext cx="238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</a:defRPr>
            </a:pPr>
            <a:r>
              <a:t>Juillet 2026</a:t>
            </a:r>
          </a:p>
        </p:txBody>
      </p:sp>
    </p:spTree>
    <p:extLst>
      <p:ext uri="{BB962C8B-B14F-4D97-AF65-F5344CB8AC3E}">
        <p14:creationId xmlns:p14="http://schemas.microsoft.com/office/powerpoint/2010/main" val="17758029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E38FA9-DE61-4C5D-9FAA-2291DBE4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</a:defRPr>
            </a:pPr>
            <a:r>
              <a:t>CONTEXTE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5492F7-E79A-4BAD-B487-8FD40149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"/>
            <a:ext cx="108108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8182F"/>
                </a:solidFill>
              </a:defRPr>
            </a:pPr>
            <a:r>
              <a:t>Les avis sont nombreux, mais la décision reste lente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EFD48-19EF-4461-8F32-A8C34603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</a:defRPr>
            </a:pPr>
            <a: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085C5-5B74-4CCC-8F83-CA880D3E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62125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7A66"/>
                </a:solidFill>
              </a:defRPr>
            </a:pPr>
            <a:r>
              <a:t>LE PROBLÈME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03CFB-9841-4723-8082-4D937358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4333875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8182F"/>
                </a:solidFill>
              </a:defRPr>
            </a:pPr>
            <a:r>
              <a:t>Lire manuellement ne passe pas à l’échelle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67AA76-028B-4EA0-B0A3-05A3F726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95625"/>
            <a:ext cx="47625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44054"/>
                </a:solidFill>
              </a:defRPr>
            </a:pPr>
            <a:r>
              <a:t>• volume et verbatims non structurés
• priorités produit, livraison et SAV difficiles à objectiver
• risque de perdre les cas ambigus ou sensibles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966434-62AC-4F38-BB4E-14E76C30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3830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F2"/>
          </a:solidFill>
          <a:ln xmlns:a="http://schemas.openxmlformats.org/drawingml/2006/main" w="0">
            <a:solidFill>
              <a:srgbClr val="E7EB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E095DB-81E6-4F68-8868-9E7FC647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62125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2B8A7"/>
                </a:solidFill>
              </a:defRPr>
            </a:pPr>
            <a:r>
              <a:t>LA RÉPONSE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CF6C52-4C7C-46C5-8877-EE66A17A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95500"/>
            <a:ext cx="4762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8182F"/>
                </a:solidFill>
              </a:defRPr>
            </a:pPr>
            <a:r>
              <a:t>Structurer l’avis sans retirer le contrôle humain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FC4410-3CB7-4A7E-B830-06AEF6A2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95625"/>
            <a:ext cx="47625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44054"/>
                </a:solidFill>
              </a:defRPr>
            </a:pPr>
            <a:r>
              <a:t>• sentiment global et thèmes détectés
• confiance, preuves et action recommandée
• revue humaine quand le seuil de confiance l’exige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05EC45-45E6-4335-8F76-B46AAAA9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8165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</a:defRPr>
            </a:pPr>
            <a:r>
              <a:t>Valeur attendue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59FD6E-E47D-43C7-9DDA-556F930C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543550"/>
            <a:ext cx="7905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8182F"/>
                </a:solidFill>
              </a:defRPr>
            </a:pPr>
            <a:r>
              <a:t>prioriser plus vite, tout en gardant une décision explicable</a:t>
            </a:r>
          </a:p>
        </p:txBody>
      </p:sp>
    </p:spTree>
    <p:extLst>
      <p:ext uri="{BB962C8B-B14F-4D97-AF65-F5344CB8AC3E}">
        <p14:creationId xmlns:p14="http://schemas.microsoft.com/office/powerpoint/2010/main" val="6278928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ee89c839a54959"/>
          <a:stretch xmlns:a="http://schemas.openxmlformats.org/drawingml/2006/main"/>
        </p:blipFill>
        <p:spPr>
          <a:xfrm xmlns:a="http://schemas.openxmlformats.org/drawingml/2006/main">
            <a:off x="5543550" y="1915418"/>
            <a:ext cx="6143625" cy="345578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BE234-073F-4CDC-BB0F-48436157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</a:defRPr>
            </a:pPr>
            <a:r>
              <a:t>PRODUIT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A66E1-FDB2-42A4-8D12-4D2C2D37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"/>
            <a:ext cx="108108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8182F"/>
                </a:solidFill>
              </a:defRPr>
            </a:pPr>
            <a:r>
              <a:t>Une analyse devient un objet de décision exploitable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960B79-2606-407B-94E2-2A44C037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</a:defRPr>
            </a:pPr>
            <a: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338E73-4C66-4AE1-848A-9D8B5A6A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</a:defRPr>
            </a:pPr>
            <a:r>
              <a:t>Entrée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CBA14-9968-4DE3-926F-5BAC8EBF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38350"/>
            <a:ext cx="433387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8182F"/>
                </a:solidFill>
              </a:defRPr>
            </a:pPr>
            <a:r>
              <a:t>Un avis en anglais, unitaire ou batch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BF18DA-8138-4A59-B9A2-5CFBB8E1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05125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</a:defRPr>
            </a:pPr>
            <a:r>
              <a:t>Sortie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16AC9D-DEA5-42D3-BECC-1432F21F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0"/>
            <a:ext cx="4476750" cy="2266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44054"/>
                </a:solidFill>
              </a:defRPr>
            </a:pPr>
            <a:r>
              <a:t>• sentiment positif, neutre ou négatif
• thèmes livraison, SAV et produit
• sentiment par thème
• confiance et éléments de preuve
• action recommandée
• drapeau de revue humaine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1E50AB-3FDF-49D9-AACE-707268F8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381125"/>
            <a:ext cx="6143625" cy="4524375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E7EBF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951752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82F13A-8DCE-46DE-9B02-C80085AB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</a:defRPr>
            </a:pPr>
            <a:r>
              <a:t>LOGIQUE UTILISÉE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A08D33-EA4F-4763-A4E4-CFEE31CE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"/>
            <a:ext cx="108108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8182F"/>
                </a:solidFill>
              </a:defRPr>
            </a:pPr>
            <a:r>
              <a:t>La logique privilégie la traçabilité et l’escalade des cas ambigus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08C3C-BCD6-4502-9313-8BBCCACF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</a:defRPr>
            </a:pPr>
            <a: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011AA-88D7-47A4-8589-E833D44B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28950"/>
            <a:ext cx="6477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EBF2"/>
          </a:solidFill>
          <a:ln xmlns:a="http://schemas.openxmlformats.org/drawingml/2006/main" w="0">
            <a:solidFill>
              <a:srgbClr val="E7EB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BE88E-A9F2-4D93-B9D7-FDD33D81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28950"/>
            <a:ext cx="6477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EBF2"/>
          </a:solidFill>
          <a:ln xmlns:a="http://schemas.openxmlformats.org/drawingml/2006/main" w="0">
            <a:solidFill>
              <a:srgbClr val="E7EB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4537E-1A6D-4C27-A2C7-43AAEA35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28950"/>
            <a:ext cx="6477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EBF2"/>
          </a:solidFill>
          <a:ln xmlns:a="http://schemas.openxmlformats.org/drawingml/2006/main" w="0">
            <a:solidFill>
              <a:srgbClr val="E7EB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FA08B1-24F5-4DED-BF70-600F3E2C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28950"/>
            <a:ext cx="6477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EBF2"/>
          </a:solidFill>
          <a:ln xmlns:a="http://schemas.openxmlformats.org/drawingml/2006/main" w="0">
            <a:solidFill>
              <a:srgbClr val="E7EB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D12BA5-1F82-4BC3-A4EB-85D36B40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18288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B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F0595E-209D-4EA8-A76F-A7F635ED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7620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7CFF"/>
          </a:solidFill>
          <a:ln xmlns:a="http://schemas.openxmlformats.org/drawingml/2006/main" w="0">
            <a:solidFill>
              <a:srgbClr val="4F7C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184B9-7931-4FC0-856F-3B74126F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466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8182F"/>
                </a:solidFill>
              </a:defRPr>
            </a:pPr>
            <a:r>
              <a:t>1. Préparer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080001-89B1-47D7-AAFA-8E4900D4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81325"/>
            <a:ext cx="1466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t>normaliser et borner le texte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686F8D-2CFD-4F0C-BDF8-9E16CAAE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76500"/>
            <a:ext cx="18288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B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4BE2EF-B37B-4028-BB6A-DF46ACB1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76500"/>
            <a:ext cx="7620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7CFF"/>
          </a:solidFill>
          <a:ln xmlns:a="http://schemas.openxmlformats.org/drawingml/2006/main" w="0">
            <a:solidFill>
              <a:srgbClr val="4F7C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AB660D-3537-4773-8196-2F8A8C3D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47950"/>
            <a:ext cx="1466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8182F"/>
                </a:solidFill>
              </a:defRPr>
            </a:pPr>
            <a:r>
              <a:t>2. Prédire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81C5C7-6607-4AD6-8595-D74EB878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81325"/>
            <a:ext cx="1466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t>sentiment + thèmes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41E076-41BE-427B-8D17-E31A9E23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76500"/>
            <a:ext cx="18288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B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017B69-969A-44F0-91EA-A0D77A75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76500"/>
            <a:ext cx="7620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B8A7"/>
          </a:solidFill>
          <a:ln xmlns:a="http://schemas.openxmlformats.org/drawingml/2006/main" w="0">
            <a:solidFill>
              <a:srgbClr val="22B8A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E4CD88-FC8B-45BA-B179-115AAA60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47950"/>
            <a:ext cx="1466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8182F"/>
                </a:solidFill>
              </a:defRPr>
            </a:pPr>
            <a:r>
              <a:t>3. Expliquer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380838-66DF-4537-B54F-372B0B70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81325"/>
            <a:ext cx="1466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t>scores, preuves, 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E67C18-D654-4F86-8CF6-49055BEE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18288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B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AD10FC-5CF2-4173-9D6E-A9D7702D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7620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11789D-BA7D-4005-AA76-33E20CA0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47950"/>
            <a:ext cx="1466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8182F"/>
                </a:solidFill>
              </a:defRPr>
            </a:pPr>
            <a:r>
              <a:t>4. Décider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D5EC18-34D0-4AF8-B063-F9C3FA68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81325"/>
            <a:ext cx="1466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t>seuils et contradictions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5B83BD-3F02-4F90-A208-15E1221B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76500"/>
            <a:ext cx="18288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B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A34CD0-3EE4-482E-AC4B-949EC61F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76500"/>
            <a:ext cx="7620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B984"/>
          </a:solidFill>
          <a:ln xmlns:a="http://schemas.openxmlformats.org/drawingml/2006/main" w="0">
            <a:solidFill>
              <a:srgbClr val="3FB98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0BC309-942A-46A5-B926-44EA3E99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47950"/>
            <a:ext cx="1466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8182F"/>
                </a:solidFill>
              </a:defRPr>
            </a:pPr>
            <a:r>
              <a:t>5. Apprendre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E1CBF5-12B1-4C2A-9917-F4950623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81325"/>
            <a:ext cx="1466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t>feedback étiqueté uniquement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B5FB3E-E5A7-485E-BB2D-3E6153B0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33875"/>
            <a:ext cx="4000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8182F"/>
                </a:solidFill>
              </a:defRPr>
            </a:pPr>
            <a:r>
              <a:t>Bonnes pratiques déjà appliquées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5B5080-89E4-4BEE-A225-C154CC80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0125"/>
            <a:ext cx="107632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44054"/>
                </a:solidFill>
              </a:defRPr>
            </a:pPr>
            <a:r>
              <a:t>• contrats d’entrée et limite de taille
• artefacts vérifiés par checksum
• fallback heuristique explicite
• aucun commentaire non étiqueté injecté automatiquement dans le training</a:t>
            </a:r>
          </a:p>
        </p:txBody>
      </p:sp>
    </p:spTree>
    <p:extLst>
      <p:ext uri="{BB962C8B-B14F-4D97-AF65-F5344CB8AC3E}">
        <p14:creationId xmlns:p14="http://schemas.microsoft.com/office/powerpoint/2010/main" val="13168374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A6A52D-C482-4324-B5FC-A2715CA9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</a:defRPr>
            </a:pPr>
            <a:r>
              <a:t>ARCHITECTURE ACTUELLE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39D5BA-2A1A-42DC-8531-4B38D1D1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"/>
            <a:ext cx="108108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8182F"/>
                </a:solidFill>
              </a:defRPr>
            </a:pPr>
            <a:r>
              <a:t>Aujourd’hui, le produit tourne comme une stack locale multi-services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56253D-3A6B-4B48-A67C-6CF5E827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</a:defRPr>
            </a:pPr>
            <a: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CD1B7-03A3-4128-B652-4C88A088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1000"/>
            <a:ext cx="2952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FB984"/>
          </a:solidFill>
          <a:ln xmlns:a="http://schemas.openxmlformats.org/drawingml/2006/main" w="0">
            <a:solidFill>
              <a:srgbClr val="3FB98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1FB5BA-0FF0-4534-976C-7CA9ACA5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3815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t>IMPLÉMENTÉ ET VALIDÉ EN LOCAL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C4CCD-9A63-41D8-AF0B-1E4CD424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028950"/>
            <a:ext cx="685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EBF2"/>
          </a:solidFill>
          <a:ln xmlns:a="http://schemas.openxmlformats.org/drawingml/2006/main" w="0">
            <a:solidFill>
              <a:srgbClr val="E7EB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0DCF8D-FA19-4331-B9E7-FEEBCAAD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28950"/>
            <a:ext cx="685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EBF2"/>
          </a:solidFill>
          <a:ln xmlns:a="http://schemas.openxmlformats.org/drawingml/2006/main" w="0">
            <a:solidFill>
              <a:srgbClr val="E7EB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97CF9C-6BCD-4CF6-9CB9-514366E2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28950"/>
            <a:ext cx="685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EBF2"/>
          </a:solidFill>
          <a:ln xmlns:a="http://schemas.openxmlformats.org/drawingml/2006/main" w="0">
            <a:solidFill>
              <a:srgbClr val="E7EB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70A98B-5D3C-400E-BF45-83522EC2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15621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9525">
            <a:solidFill>
              <a:srgbClr val="E7EB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E9E510-90C0-4E70-BCEC-927092A0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7620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7CFF"/>
          </a:solidFill>
          <a:ln xmlns:a="http://schemas.openxmlformats.org/drawingml/2006/main" w="0">
            <a:solidFill>
              <a:srgbClr val="4F7C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89D312-8E85-453A-8A94-68545B72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200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8182F"/>
                </a:solidFill>
              </a:defRPr>
            </a:pPr>
            <a:r>
              <a:t>Expérience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787574-8DCF-411A-92EA-95FB9ED9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6075"/>
            <a:ext cx="1200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t>Streamlit + frontend web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D84AEA-1C8D-4BCD-85AC-3AB4CE01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81250"/>
            <a:ext cx="1905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B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A761E5-7D0A-4D43-BADC-567959A3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81250"/>
            <a:ext cx="7620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B8A7"/>
          </a:solidFill>
          <a:ln xmlns:a="http://schemas.openxmlformats.org/drawingml/2006/main" w="0">
            <a:solidFill>
              <a:srgbClr val="22B8A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142837-B234-4DAB-A536-30D6C2EB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52700"/>
            <a:ext cx="1543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8182F"/>
                </a:solidFill>
              </a:defRPr>
            </a:pPr>
            <a:r>
              <a:t>Services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8087C2-C5FA-4A92-995E-269333BE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86075"/>
            <a:ext cx="1543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t>FastAPI inference, data, monitoring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1B80F0-CFA7-4E70-9F31-E223AF43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81250"/>
            <a:ext cx="1905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B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EA3F4B-5E39-46AA-86C2-8F7480DA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81250"/>
            <a:ext cx="7620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57103C-3336-4354-9885-D82A5B88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52700"/>
            <a:ext cx="1543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8182F"/>
                </a:solidFill>
              </a:defRPr>
            </a:pPr>
            <a:r>
              <a:t>Orchestration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45BC72-582D-476E-92D9-572EBC21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86075"/>
            <a:ext cx="1543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t>Dagster jobs, schedules, sensors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D3029D-34F5-4DAD-9CA7-D4DE5E56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81250"/>
            <a:ext cx="1905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B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46FA23-B5DF-46A9-B818-0FF61779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81250"/>
            <a:ext cx="7620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B984"/>
          </a:solidFill>
          <a:ln xmlns:a="http://schemas.openxmlformats.org/drawingml/2006/main" w="0">
            <a:solidFill>
              <a:srgbClr val="3FB98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2E4853-FE7A-45BA-BA53-3B71FFDD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52700"/>
            <a:ext cx="1543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8182F"/>
                </a:solidFill>
              </a:defRPr>
            </a:pPr>
            <a:r>
              <a:t>Gouvernance ML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1C3C0A-D359-49FC-80BA-5A4995F3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86075"/>
            <a:ext cx="1543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t>MLflow + PostgreSQL + MinIO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AFC21E-22DC-45B6-9112-E7249520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381250"/>
            <a:ext cx="1524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9525">
            <a:solidFill>
              <a:srgbClr val="E7EB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F82B84-1D82-4178-978D-05D39C19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381250"/>
            <a:ext cx="7620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66"/>
          </a:solidFill>
          <a:ln xmlns:a="http://schemas.openxmlformats.org/drawingml/2006/main" w="0">
            <a:solidFill>
              <a:srgbClr val="FF7A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8242B5-697C-4AAD-9566-BC87731D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552700"/>
            <a:ext cx="1162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8182F"/>
                </a:solidFill>
              </a:defRPr>
            </a:pPr>
            <a:r>
              <a:t>Observabilité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27B4EF-9108-4787-B1D3-B939996F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886075"/>
            <a:ext cx="1162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t>Prometheus + Alertmanager + Grafana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5F365C-F894-4F35-B7C5-5D09980A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8182F"/>
                </a:solidFill>
              </a:defRPr>
            </a:pPr>
            <a:r>
              <a:t>Docker Compose relie 17 services. L’API d’inférence est stateless ; les modèles restent montés localement.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3609FE-F5C1-4D7C-9AD5-27EA5B83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00625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44054"/>
                </a:solidFill>
              </a:defRPr>
            </a:pPr>
            <a:r>
              <a:t>Limite assumée : cette topologie prouve l’intégration, pas encore la haute disponibilité, le dimensionnement ni la reprise après sinistre.</a:t>
            </a:r>
          </a:p>
        </p:txBody>
      </p:sp>
    </p:spTree>
    <p:extLst>
      <p:ext uri="{BB962C8B-B14F-4D97-AF65-F5344CB8AC3E}">
        <p14:creationId xmlns:p14="http://schemas.microsoft.com/office/powerpoint/2010/main" val="8256021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8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E1F9A6-7567-4CDB-86B4-37792DD7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DF7F1"/>
                </a:solidFill>
              </a:defRPr>
            </a:pPr>
            <a:r>
              <a:t>CYCLE MLOPS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5927E6-E2F8-411C-9D2D-1810E612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"/>
            <a:ext cx="108108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</a:defRPr>
            </a:pPr>
            <a:r>
              <a:t>Chaque changement de données ou de modèle traverse des garde-fous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FF766-6BD3-4627-95A1-D215A5F2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E7EBF2"/>
                </a:solidFill>
              </a:defRPr>
            </a:pPr>
            <a: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8598BA-2241-441B-9677-D9B4351F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00400"/>
            <a:ext cx="914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solidFill>
              <a:srgbClr val="22B8A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C5BFC-04A0-4C57-A0CC-95149196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146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solidFill>
              <a:srgbClr val="4F7C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AFA69-EDCD-4AE0-AB31-D9C266AB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67050"/>
            <a:ext cx="6096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9E537-103F-41AB-BE90-81641F37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146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solidFill>
              <a:srgbClr val="4F7C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66D049-6AE3-4E29-B0B6-24355109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67050"/>
            <a:ext cx="6096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48A6F-33B4-4D2E-A85E-9462A484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146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solidFill>
              <a:srgbClr val="4F7C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795C23-D051-41A6-A315-39F01A8C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67050"/>
            <a:ext cx="6096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182E1C-00FC-4909-8B1E-297C05F6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146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solidFill>
              <a:srgbClr val="4F7C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DF2890-A97D-4658-9423-98FB39DF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67050"/>
            <a:ext cx="6096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B91F7B-4178-4372-9AA4-72C62E9F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146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B984"/>
          </a:solidFill>
          <a:ln xmlns:a="http://schemas.openxmlformats.org/drawingml/2006/main" w="0">
            <a:solidFill>
              <a:srgbClr val="3FB98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D0B9CB-156D-4D95-9579-04205EC9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67050"/>
            <a:ext cx="6096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B45261-6637-42FA-A84D-D4998160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2905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t>Ingestion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297C0B-FB1F-4D95-898C-B9E86814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29100"/>
            <a:ext cx="1905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E7EBF2"/>
                </a:solidFill>
              </a:defRPr>
            </a:pPr>
            <a:r>
              <a:t>contrat, PII screening, quarantaine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33907B-6B5A-48F8-9EDE-B0F79BBB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2905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t>Versionner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39C1EA-E9F8-4A83-BE15-ACBA9FF8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29100"/>
            <a:ext cx="1905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E7EBF2"/>
                </a:solidFill>
              </a:defRPr>
            </a:pPr>
            <a:r>
              <a:t>checksum, manifest, DVC, commit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7CEE1B-87C7-453E-A852-867D8F59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2905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t>Entraîner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3390B5-87F0-4645-B076-B77707D4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29100"/>
            <a:ext cx="1905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E7EBF2"/>
                </a:solidFill>
              </a:defRPr>
            </a:pPr>
            <a:r>
              <a:t>splits déterministes, run Dagster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EBC59C-A89A-4361-8D6D-33903B44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2905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t>Évaluer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85DD66-93A7-4700-BDA1-E48B2321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29100"/>
            <a:ext cx="1905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E7EBF2"/>
                </a:solidFill>
              </a:defRPr>
            </a:pPr>
            <a:r>
              <a:t>dataset indépendant, seuils de release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B48851-F357-4779-9DF2-9027372E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2905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t>Promouvoir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BCC248-A391-43CD-8DD0-67FC8897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29100"/>
            <a:ext cx="1905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E7EBF2"/>
                </a:solidFill>
              </a:defRPr>
            </a:pPr>
            <a:r>
              <a:t>candidate → champion, rollback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212B01-874C-4F4C-9DE0-B6AA9EA5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24500"/>
            <a:ext cx="9144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DDF7F1"/>
                </a:solidFill>
              </a:defRPr>
            </a:pPr>
            <a:r>
              <a:t>Le drift peut recommander un retraining ; il ne remplace jamais automatiquement le champion.</a:t>
            </a:r>
          </a:p>
        </p:txBody>
      </p:sp>
    </p:spTree>
    <p:extLst>
      <p:ext uri="{BB962C8B-B14F-4D97-AF65-F5344CB8AC3E}">
        <p14:creationId xmlns:p14="http://schemas.microsoft.com/office/powerpoint/2010/main" val="477201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440B3C-2FDF-44FD-82A7-4AC6A020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</a:defRPr>
            </a:pPr>
            <a:r>
              <a:t>ÉVALUATION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6747A-F2F8-4004-9F9A-AB8B35FE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"/>
            <a:ext cx="108108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8182F"/>
                </a:solidFill>
              </a:defRPr>
            </a:pPr>
            <a:r>
              <a:t>La plateforme est solide ; la qualité sentiment reste le principal chantier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8893D5-820C-4D91-A7A8-950AD997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</a:defRPr>
            </a:pPr>
            <a: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6192F-556C-43F6-8EEA-5854E457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51435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B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6EA2BB-2270-4A4E-9EEE-43ECB7DC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191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7085"/>
                </a:solidFill>
              </a:defRPr>
            </a:pPr>
            <a:r>
              <a:t>Référence indépendante — 40 avis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8B862-382A-4A18-819D-5C7F3EFD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2381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7A66"/>
                </a:solidFill>
              </a:defRPr>
            </a:pPr>
            <a:r>
              <a:t>57,5 %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BAAEA-26E7-4B78-BE69-3D5ACD19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67075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8182F"/>
                </a:solidFill>
              </a:defRPr>
            </a:pPr>
            <a:r>
              <a:t>accuracy sentiment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E64ABB-E5BA-4774-B5F6-24CF004D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71750"/>
            <a:ext cx="2190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22B8A7"/>
                </a:solidFill>
              </a:defRPr>
            </a:pPr>
            <a:r>
              <a:t>88,77 %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47B1DD-8B78-440E-86DC-C67A1516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67075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8182F"/>
                </a:solidFill>
              </a:defRPr>
            </a:pPr>
            <a:r>
              <a:t>F1 macro thèmes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F90411-160C-4062-96D9-767E2876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42862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44054"/>
                </a:solidFill>
              </a:defRPr>
            </a:pPr>
            <a:r>
              <a:t>Lecture : les thèmes sont déjà utiles ; le sentiment exige davantage de données réelles et de calibration.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A73EC-1928-47E1-BD9B-3C9D9D3F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55054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08182F"/>
          </a:solidFill>
          <a:ln xmlns:a="http://schemas.openxmlformats.org/drawingml/2006/main" w="0">
            <a:solidFill>
              <a:srgbClr val="08182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64E374-9FA2-4E79-BC93-8E9BCF08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4572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</a:defRPr>
            </a:pPr>
            <a:r>
              <a:t>Pourquoi le candidat affiche 100 % 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A00448-2B25-47AF-A253-002A1E85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4524375" cy="1285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E7EBF2"/>
                </a:solidFill>
              </a:defRPr>
            </a:pPr>
            <a:r>
              <a:t>Le score vient d’un petit dataset synthétique de validation. Il prouve que la chaîne technique fonctionne, pas que le modèle généralise.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593C99-EEC0-4123-9FB0-8BD9BA48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29125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2B8A7"/>
                </a:solidFill>
              </a:defRPr>
            </a:pPr>
            <a:r>
              <a:t>Best practice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DED7A1-DA2F-41DF-8992-A52A72D1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71975"/>
            <a:ext cx="3048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t>séparer preuve d’intégration et preuve de performance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617435-FAE6-44D6-8253-8CF69597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72125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8182F"/>
                </a:solidFill>
              </a:defRPr>
            </a:pPr>
            <a:r>
              <a:t>Décision actuelle : pas d’automatisation à impact client sans contrôle humain.</a:t>
            </a:r>
          </a:p>
        </p:txBody>
      </p:sp>
    </p:spTree>
    <p:extLst>
      <p:ext uri="{BB962C8B-B14F-4D97-AF65-F5344CB8AC3E}">
        <p14:creationId xmlns:p14="http://schemas.microsoft.com/office/powerpoint/2010/main" val="7740554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bd360e311144fe"/>
          <a:stretch xmlns:a="http://schemas.openxmlformats.org/drawingml/2006/main"/>
        </p:blipFill>
        <p:spPr>
          <a:xfrm xmlns:a="http://schemas.openxmlformats.org/drawingml/2006/main">
            <a:off x="6286500" y="2169319"/>
            <a:ext cx="5410200" cy="304323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96F1F-6385-4566-8F3A-FE99B316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</a:defRPr>
            </a:pPr>
            <a:r>
              <a:t>MONITORING MODÈLE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C99911-36D8-4E5A-9E8B-86D9F2B3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"/>
            <a:ext cx="108108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8182F"/>
                </a:solidFill>
              </a:defRPr>
            </a:pPr>
            <a:r>
              <a:t>Une dégradation devient un signal actionnable, pas un déploiement automatique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D79BCD-6C6F-4D21-BA5F-B454591A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</a:defRPr>
            </a:pPr>
            <a: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9F25EB-D051-4096-9051-880551BB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3714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7085"/>
                </a:solidFill>
              </a:defRPr>
            </a:pPr>
            <a:r>
              <a:t>Scénario de contrôle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3A9E2B-8963-4A1C-B011-E7431D4F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33625"/>
            <a:ext cx="114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4F7CFF"/>
                </a:solidFill>
              </a:defRPr>
            </a:pPr>
            <a:r>
              <a:t>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E144A9-98E7-4B44-850F-DE53D1A3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1460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182F"/>
                </a:solidFill>
              </a:defRPr>
            </a:pPr>
            <a:r>
              <a:t>prédictions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4AA86A-F524-4D7C-9800-C60829AB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95625"/>
            <a:ext cx="114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7A66"/>
                </a:solidFill>
              </a:defRPr>
            </a:pPr>
            <a: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C3910A-F148-4490-B228-34AB7CD5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76600"/>
            <a:ext cx="3429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182F"/>
                </a:solidFill>
              </a:defRPr>
            </a:pPr>
            <a:r>
              <a:t>feedbacks volontairement faux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676FD5-D212-4CC3-872F-4EC42165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0"/>
            <a:ext cx="114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D94E55"/>
                </a:solidFill>
              </a:defRPr>
            </a:pPr>
            <a:r>
              <a:t>0,09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C600A9-0D1A-4AE3-AAD6-3C5800B9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81475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182F"/>
                </a:solidFill>
              </a:defRPr>
            </a:pPr>
            <a:r>
              <a:t>accuracy feedback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CE7CCE-D97F-46F2-9C56-805BF431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05375"/>
            <a:ext cx="49530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</a:defRPr>
            </a:pPr>
            <a:r>
              <a:t>• drift calculé chaque heure
• alerte Prometheus déclenchée
• retraining recommandé
• nouveau CSV étiqueté requis avant relance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8880F-4B63-4B67-B66B-F2A90D88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54102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E7EBF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271635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a98b06d5624ac5"/>
          <a:stretch xmlns:a="http://schemas.openxmlformats.org/drawingml/2006/main"/>
        </p:blipFill>
        <p:spPr>
          <a:xfrm xmlns:a="http://schemas.openxmlformats.org/drawingml/2006/main">
            <a:off x="5810250" y="2081981"/>
            <a:ext cx="5886450" cy="3313164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F57EC-551F-4762-87B9-78359645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</a:defRPr>
            </a:pPr>
            <a:r>
              <a:t>ÉTAT ACTUEL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F3CE2-C318-4C1A-A072-4FEA2217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"/>
            <a:ext cx="108108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8182F"/>
                </a:solidFill>
              </a:defRPr>
            </a:pPr>
            <a:r>
              <a:t>Le POC est démontrable avec des preuves reproductibles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85BC1-09BC-460B-8DCA-A05B3689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</a:defRPr>
            </a:pPr>
            <a: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0CDFBB-92EB-4D52-A8B6-37D85F38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14287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4F7CFF"/>
                </a:solidFill>
              </a:defRPr>
            </a:pPr>
            <a:r>
              <a:t>113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8C283-8CDD-4944-ACA8-9DDC46CF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28825"/>
            <a:ext cx="2000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8182F"/>
                </a:solidFill>
              </a:defRPr>
            </a:pPr>
            <a:r>
              <a:t>tests passés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FB683-4B1E-422E-9579-D90A4065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14625"/>
            <a:ext cx="1905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22B8A7"/>
                </a:solidFill>
              </a:defRPr>
            </a:pPr>
            <a:r>
              <a:t>71,15 %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AF147B-A9A0-4966-983F-68833D90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93370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8182F"/>
                </a:solidFill>
              </a:defRPr>
            </a:pPr>
            <a:r>
              <a:t>couverture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A2FFE8-489B-443E-9B56-FD3AD12E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0"/>
            <a:ext cx="1524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3FB984"/>
                </a:solidFill>
              </a:defRPr>
            </a:pPr>
            <a:r>
              <a:t>10/10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09292F-B646-4A73-AD23-B5A29D7A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38575"/>
            <a:ext cx="2000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8182F"/>
                </a:solidFill>
              </a:defRPr>
            </a:pPr>
            <a:r>
              <a:t>smoke checks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6B39CC-2774-4AE1-ABF2-6D5BADE4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24375"/>
            <a:ext cx="1524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2B84B"/>
                </a:solidFill>
              </a:defRPr>
            </a:pPr>
            <a:r>
              <a:t>13/13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B2B368-CB72-4DAC-9DFC-8505E531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434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8182F"/>
                </a:solidFill>
              </a:defRPr>
            </a:pPr>
            <a:r>
              <a:t>targets Prometheus 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2B5F4C-7824-4DD3-AFE6-8FD61AE3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81650"/>
            <a:ext cx="4762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44054"/>
                </a:solidFill>
              </a:defRPr>
            </a:pPr>
            <a:r>
              <a:t>17 services actifs • 11/11 endpoints critiques • Ruff propre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D73E68-E59A-4CA7-A17C-F1F62E27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66875"/>
            <a:ext cx="5886450" cy="4143375"/>
          </a:xfrm>
          <a:prstGeom xmlns:a="http://schemas.openxmlformats.org/drawingml/2006/main" prst="roundRect">
            <a:avLst>
              <a:gd name="adj" fmla="val 1839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E7EBF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460351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BB91E8-14FB-40FB-9698-830C1251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</a:defRPr>
            </a:pPr>
            <a:r>
              <a:t>SÉCURITÉ AUJOURD’HUI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6CC2E-2094-43F9-846B-0E811A46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"/>
            <a:ext cx="108108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8182F"/>
                </a:solidFill>
              </a:defRPr>
            </a:pPr>
            <a:r>
              <a:t>La sécurité actuelle est adaptée au POC local, pas encore au B2C public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30F7D-2A0E-4486-ABF2-41BB4000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</a:defRPr>
            </a:pPr>
            <a: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D4AAF-D922-4AB2-A351-20D7C7BE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1625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FB984"/>
          </a:solidFill>
          <a:ln xmlns:a="http://schemas.openxmlformats.org/drawingml/2006/main" w="0">
            <a:solidFill>
              <a:srgbClr val="3FB98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C6982D-6349-40C6-8EE5-5FF3E478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28775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t>IMPLÉMENTÉ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93D076-654B-484B-A175-C901940A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4905375" cy="2524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44054"/>
                </a:solidFill>
              </a:defRPr>
            </a:pPr>
            <a:r>
              <a:t>• clé API optionnelle sur les endpoints sensibles
• CORS et Trusted Hosts configurables
• headers HTTP de sécurité
• taille d’entrée bornée et comparaison constante
• checksums SHA-256 des modèles
• healthcheck avec profil et avertissements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7B02AA-8BAD-402C-80EF-C5CF4090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71625"/>
            <a:ext cx="190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F2"/>
          </a:solidFill>
          <a:ln xmlns:a="http://schemas.openxmlformats.org/drawingml/2006/main" w="0">
            <a:solidFill>
              <a:srgbClr val="E7EB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7DEE8E-913B-4116-BBB4-7A2DC091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7162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7A66"/>
          </a:solidFill>
          <a:ln xmlns:a="http://schemas.openxmlformats.org/drawingml/2006/main" w="0">
            <a:solidFill>
              <a:srgbClr val="FF7A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4287AB-D4D2-47C0-867E-69C55040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28775"/>
            <a:ext cx="190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t>À INDUSTRIALISER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832358-1211-4A37-AFCC-3CF63551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95500"/>
            <a:ext cx="4762500" cy="2524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44054"/>
                </a:solidFill>
              </a:defRPr>
            </a:pPr>
            <a:r>
              <a:t>• secrets réels et rotation
• authentification utilisateurs et rôles
• rate limiting au niveau passerelle
• chiffrement et gestion de clés
• retention, sauvegarde et restauration
• tests de charge, haute disponibilité et PRA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B30EAE-9FB3-4BF0-B472-46939F87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86375"/>
            <a:ext cx="1081087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0">
            <a:solidFill>
              <a:srgbClr val="E9F0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185C49-F5BC-4AB3-A0C5-453A65FA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3346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8182F"/>
                </a:solidFill>
              </a:defRPr>
            </a:pPr>
            <a:r>
              <a:t>Conclusion : le code possède les crochets de sécurité ; le durcissement dépend du futur environnement d’exploitation.</a:t>
            </a:r>
          </a:p>
        </p:txBody>
      </p:sp>
    </p:spTree>
    <p:extLst>
      <p:ext uri="{BB962C8B-B14F-4D97-AF65-F5344CB8AC3E}">
        <p14:creationId xmlns:p14="http://schemas.microsoft.com/office/powerpoint/2010/main" val="20796760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905D67-59D0-4D0E-88B4-5CC67A05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</a:defRPr>
            </a:pPr>
            <a:r>
              <a:t>ARCHITECTURE CIBLE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F2F97-7870-4A1C-8C75-DD971A3B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"/>
            <a:ext cx="108108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8182F"/>
                </a:solidFill>
              </a:defRPr>
            </a:pPr>
            <a:r>
              <a:t>La cible cloud sépare exposition B2C, données, ML et exploitation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2EF655-B5A7-4954-8C35-D335663C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</a:defRPr>
            </a:pPr>
            <a: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3C4385-9481-49A1-B811-86190A7B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000"/>
            <a:ext cx="26193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7A66"/>
          </a:solidFill>
          <a:ln xmlns:a="http://schemas.openxmlformats.org/drawingml/2006/main" w="0">
            <a:solidFill>
              <a:srgbClr val="FF7A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3F23F-B8F8-4597-9346-C865706C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8150"/>
            <a:ext cx="2428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t>CIBLE — NON DÉPLOYÉE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414011-247F-4F14-9291-5DC6A80C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00375"/>
            <a:ext cx="571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EBF2"/>
          </a:solidFill>
          <a:ln xmlns:a="http://schemas.openxmlformats.org/drawingml/2006/main" w="0">
            <a:solidFill>
              <a:srgbClr val="E7EB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95972-EF5A-4780-A157-4C156AEF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571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EBF2"/>
          </a:solidFill>
          <a:ln xmlns:a="http://schemas.openxmlformats.org/drawingml/2006/main" w="0">
            <a:solidFill>
              <a:srgbClr val="E7EB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16B890-12A2-499A-BBF1-1F9E5AC7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00375"/>
            <a:ext cx="571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EBF2"/>
          </a:solidFill>
          <a:ln xmlns:a="http://schemas.openxmlformats.org/drawingml/2006/main" w="0">
            <a:solidFill>
              <a:srgbClr val="E7EB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98E368-0748-4098-A900-F4960AF5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00375"/>
            <a:ext cx="571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EBF2"/>
          </a:solidFill>
          <a:ln xmlns:a="http://schemas.openxmlformats.org/drawingml/2006/main" w="0">
            <a:solidFill>
              <a:srgbClr val="E7EB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876E0A-B310-4CEE-B0B7-EF32C369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17526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B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322402-9E72-4025-9D39-72FD810F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7620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7CFF"/>
          </a:solidFill>
          <a:ln xmlns:a="http://schemas.openxmlformats.org/drawingml/2006/main" w="0">
            <a:solidFill>
              <a:srgbClr val="4F7C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B31575-92DF-4503-A261-8E81E1C9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390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8182F"/>
                </a:solidFill>
              </a:defRPr>
            </a:pPr>
            <a:r>
              <a:t>Canaux B2C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DA0F12-F1DE-4705-9A4C-EEA3D8FD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6075"/>
            <a:ext cx="13906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t>web, batch, partenaires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27D990-57A1-40C6-9ED0-E7292141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81250"/>
            <a:ext cx="17335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9525">
            <a:solidFill>
              <a:srgbClr val="E7EB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D134E3-87AB-48DE-8DF5-7B384ED3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81250"/>
            <a:ext cx="7620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66"/>
          </a:solidFill>
          <a:ln xmlns:a="http://schemas.openxmlformats.org/drawingml/2006/main" w="0">
            <a:solidFill>
              <a:srgbClr val="FF7A6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7F9179-3230-4FFF-A53D-D9D8ECDD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52700"/>
            <a:ext cx="137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8182F"/>
                </a:solidFill>
              </a:defRPr>
            </a:pPr>
            <a:r>
              <a:t>Edge sécurisé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C1D96F-D5BA-47FD-A658-6D0E4CAD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86075"/>
            <a:ext cx="137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t>CDN/WAF, API Gateway, OIDC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4FA44E-BC72-4B07-8864-5AFB1881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81250"/>
            <a:ext cx="17335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B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2C9968-38C5-4A9D-9514-C70F71BF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81250"/>
            <a:ext cx="7620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B8A7"/>
          </a:solidFill>
          <a:ln xmlns:a="http://schemas.openxmlformats.org/drawingml/2006/main" w="0">
            <a:solidFill>
              <a:srgbClr val="22B8A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03196E-D63E-4DD3-A982-E3EB9E69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52700"/>
            <a:ext cx="137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8182F"/>
                </a:solidFill>
              </a:defRPr>
            </a:pPr>
            <a:r>
              <a:t>Services privés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AFCE6E-A8E7-492F-962D-657F33B4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886075"/>
            <a:ext cx="137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t>API autoscalée + files de tâches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451DF7-CD8D-431E-8321-1F15D0C9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0"/>
            <a:ext cx="17335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DF7F1"/>
          </a:solidFill>
          <a:ln xmlns:a="http://schemas.openxmlformats.org/drawingml/2006/main" w="9525">
            <a:solidFill>
              <a:srgbClr val="E7EB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F7059C-8B3A-4627-AFC9-F6C36084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0"/>
            <a:ext cx="7620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B984"/>
          </a:solidFill>
          <a:ln xmlns:a="http://schemas.openxmlformats.org/drawingml/2006/main" w="0">
            <a:solidFill>
              <a:srgbClr val="3FB98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E8B031-DCA9-4126-BD45-0CFA768F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52700"/>
            <a:ext cx="137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8182F"/>
                </a:solidFill>
              </a:defRPr>
            </a:pPr>
            <a:r>
              <a:t>Data &amp; ML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1F3B39-D328-4069-93C0-9CCB571E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86075"/>
            <a:ext cx="137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t>object storage, pipeline, registry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BCC615-960A-4780-89B0-F82C1650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81250"/>
            <a:ext cx="19621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B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155956-F533-4A5E-857B-E2BA12B8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81250"/>
            <a:ext cx="7620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F0E696-655C-4E49-8C1D-4B8DC2B5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552700"/>
            <a:ext cx="1600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8182F"/>
                </a:solidFill>
              </a:defRPr>
            </a:pPr>
            <a:r>
              <a:t>Opérations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229ED8-4200-4E7A-B73E-5E9AE192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86075"/>
            <a:ext cx="1600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t>logs, métriques, alertes, SIEM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4171E8-BA7C-4E71-A257-8C2F7E94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266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8182F"/>
                </a:solidFill>
              </a:defRPr>
            </a:pPr>
            <a:r>
              <a:t>Contrôles transverses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141BE6-7D90-414C-A8BC-250EE3CA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52950"/>
            <a:ext cx="10820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8182F"/>
          </a:solidFill>
          <a:ln xmlns:a="http://schemas.openxmlformats.org/drawingml/2006/main" w="0">
            <a:solidFill>
              <a:srgbClr val="08182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7C8718-EB35-4711-B21A-20049549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57750"/>
            <a:ext cx="2190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t>IAM moindre privilège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3DD1D7-5F52-498C-888D-355CC5AD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57750"/>
            <a:ext cx="2286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t>Secrets manager + KMS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E7DFD0-830A-48B8-BC7C-60B534B1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857750"/>
            <a:ext cx="1905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t>réseau privé + TLS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7D0A44-95CE-4AF3-B425-B64994B0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57750"/>
            <a:ext cx="1905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t>audit + sauvegardes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980705-3383-4BD8-A1CF-A2AE1912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57750"/>
            <a:ext cx="13811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t>politiques de rétention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1319ED-0411-4652-97A5-70657C57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0"/>
            <a:ext cx="108108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344054"/>
                </a:solidFill>
              </a:defRPr>
            </a:pPr>
            <a:r>
              <a:t>Le fournisseur cloud reste un choix d’implémentation ; les responsabilités et les flux restent les mêmes.</a:t>
            </a:r>
          </a:p>
        </p:txBody>
      </p:sp>
    </p:spTree>
    <p:extLst>
      <p:ext uri="{BB962C8B-B14F-4D97-AF65-F5344CB8AC3E}">
        <p14:creationId xmlns:p14="http://schemas.microsoft.com/office/powerpoint/2010/main" val="12661848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8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D26C6C-1794-419D-9161-9AE5C763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DF7F1"/>
                </a:solidFill>
              </a:defRPr>
            </a:pPr>
            <a:r>
              <a:t>SÉCURITÉ &amp; RGPD CIBLE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A58B1-4F72-4316-BAB7-12600F26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"/>
            <a:ext cx="108108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</a:defRPr>
            </a:pPr>
            <a:r>
              <a:t>En B2C, la conformité se conçoit dans le flux de données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B8628-0AE5-4FC9-B68A-23C09DFE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E7EBF2"/>
                </a:solidFill>
              </a:defRPr>
            </a:pPr>
            <a: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CF8762-33C7-4DC3-BA35-71FD7E79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1000"/>
            <a:ext cx="2286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7A66"/>
          </a:solidFill>
          <a:ln xmlns:a="http://schemas.openxmlformats.org/drawingml/2006/main" w="0">
            <a:solidFill>
              <a:srgbClr val="FF7A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E7EE37-42EC-42AE-8CC0-D608F043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381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t>PROCHAINES ÉTAPES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EA7EAF-7C1B-4176-AA16-135FD4F6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2571750" cy="3333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42844"/>
          </a:solidFill>
          <a:ln xmlns:a="http://schemas.openxmlformats.org/drawingml/2006/main" w="0">
            <a:solidFill>
              <a:srgbClr val="1428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3B091-8A89-4BC8-9AFB-AF771336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3333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2B8A7"/>
                </a:solidFill>
              </a:defRPr>
            </a:pPr>
            <a: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7973E6-6110-4753-A5D4-E02D1816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</a:defRPr>
            </a:pPr>
            <a:r>
              <a:t>Minimiser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F3326E-9DBA-40B0-8C51-68E9B8D4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19375"/>
            <a:ext cx="2047875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7EBF2"/>
                </a:solidFill>
              </a:defRPr>
            </a:pPr>
            <a:r>
              <a:t>Collecter le texte strictement nécessaire. Détecter et retirer les identifiants avant stockage ou training.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E58344-C096-4B5F-9289-59D5C1EB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09750"/>
            <a:ext cx="2571750" cy="3333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42844"/>
          </a:solidFill>
          <a:ln xmlns:a="http://schemas.openxmlformats.org/drawingml/2006/main" w="0">
            <a:solidFill>
              <a:srgbClr val="1428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3C1D1C-2D54-4285-AEBB-B14FC3D9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47875"/>
            <a:ext cx="3333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2B8A7"/>
                </a:solidFill>
              </a:defRPr>
            </a:pPr>
            <a: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487322-F5FC-40A2-BD78-AF34F409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047875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</a:defRPr>
            </a:pPr>
            <a:r>
              <a:t>Protéger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19BD06-3113-474F-AC82-D3009F70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19375"/>
            <a:ext cx="2047875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7EBF2"/>
                </a:solidFill>
              </a:defRPr>
            </a:pPr>
            <a:r>
              <a:t>Chiffrer en transit et au repos. Pseudonymiser. Séparer les clés. Limiter les rôles et tracer les accès.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3AC251-DDC7-4BE4-A6F0-E6807973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09750"/>
            <a:ext cx="2571750" cy="3333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42844"/>
          </a:solidFill>
          <a:ln xmlns:a="http://schemas.openxmlformats.org/drawingml/2006/main" w="0">
            <a:solidFill>
              <a:srgbClr val="14284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87091F-36E6-4E7F-87D1-83DA8BD7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47875"/>
            <a:ext cx="3333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2B8A7"/>
                </a:solidFill>
              </a:defRPr>
            </a:pPr>
            <a: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D85F1B-A6A6-4F2B-A699-042CDD33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47875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</a:defRPr>
            </a:pPr>
            <a:r>
              <a:t>Limiter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0D0679-CB12-4069-8391-4D0229E9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19375"/>
            <a:ext cx="2047875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7EBF2"/>
                </a:solidFill>
              </a:defRPr>
            </a:pPr>
            <a:r>
              <a:t>Définir finalité, base légale et durées. Automatiser purge, export, rectification et suppression jusque dans les datasets dérivés.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D0EECA-2DA7-4F3F-87F6-B5832630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09750"/>
            <a:ext cx="2857500" cy="3333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42844"/>
          </a:solidFill>
          <a:ln xmlns:a="http://schemas.openxmlformats.org/drawingml/2006/main" w="0">
            <a:solidFill>
              <a:srgbClr val="1428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4DE128-5F66-48DF-A192-F7FDE95D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47875"/>
            <a:ext cx="3333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2B8A7"/>
                </a:solidFill>
              </a:defRPr>
            </a:pPr>
            <a: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BD097C-4B7C-4C34-8F88-DBCD288E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47875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</a:defRPr>
            </a:pPr>
            <a:r>
              <a:t>Démontrer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AFF9F5-13AC-45D9-97EB-373443A2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19375"/>
            <a:ext cx="2238375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7EBF2"/>
                </a:solidFill>
              </a:defRPr>
            </a:pPr>
            <a:r>
              <a:t>Registre des traitements, journal d’audit, contrats sous-traitants et AIPD si le traitement présente un risque élevé.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8BAA5E-D473-4AE1-BC9B-4A6A96D1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72125"/>
            <a:ext cx="10810875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DDF7F1"/>
                </a:solidFill>
              </a:defRPr>
            </a:pPr>
            <a:r>
              <a:t>API cible : OIDC/OAuth2, scopes, WAF, rate limiting, anti-abus, secrets manager, rotation et mTLS entre services si nécessaire.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112094-64D3-4DED-836F-FEA96EAC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0"/>
            <a:ext cx="857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E7EBF2"/>
                </a:solidFill>
              </a:defRPr>
            </a:pPr>
            <a:r>
              <a:t>Sources : RGPD art. 25 et 32 • CNIL, principes RGPD et AIPD</a:t>
            </a:r>
          </a:p>
        </p:txBody>
      </p:sp>
    </p:spTree>
    <p:extLst>
      <p:ext uri="{BB962C8B-B14F-4D97-AF65-F5344CB8AC3E}">
        <p14:creationId xmlns:p14="http://schemas.microsoft.com/office/powerpoint/2010/main" val="10932661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4AD324-C40D-48DA-9857-20B8705D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</a:defRPr>
            </a:pPr>
            <a:r>
              <a:t>PROCHAINES ÉTAPES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E1CB6-2959-4E70-8A8C-E4A29E5A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"/>
            <a:ext cx="108108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8182F"/>
                </a:solidFill>
              </a:defRPr>
            </a:pPr>
            <a:r>
              <a:t>La roadmap réduit d’abord le risque modèle, puis le risque d’exploitation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E7BD1-2BA0-4299-861D-C38A2866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</a:defRPr>
            </a:pPr>
            <a: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C96D25-1A9C-481E-A8E8-D5EDE3F8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24050"/>
            <a:ext cx="3333750" cy="3714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B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8D4021-A248-44FF-9B44-836D87C3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666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4F7CFF"/>
                </a:solidFill>
              </a:defRPr>
            </a:pPr>
            <a: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35B017-DD46-48AD-B2A5-FA106880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9875"/>
            <a:ext cx="2667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8182F"/>
                </a:solidFill>
              </a:defRPr>
            </a:pPr>
            <a:r>
              <a:t>Fiabiliser le pilote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862033-1761-489F-B704-E0D06FB5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2619375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</a:defRPr>
            </a:pPr>
            <a:r>
              <a:t>• dataset réel plus large
• annotation métier
• calibration des seuils
• mesure biais et sous-groupes
• receiver d’alerte réel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E95E0-64FE-4794-8BEC-93FDF7CC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24050"/>
            <a:ext cx="3333750" cy="3714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B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F73EAE-F58D-4562-A534-5522FCC2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90750"/>
            <a:ext cx="666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2B8A7"/>
                </a:solidFill>
              </a:defRPr>
            </a:pPr>
            <a: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2C3870-1FA0-4AB0-AAA2-A791DBE4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09875"/>
            <a:ext cx="2667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8182F"/>
                </a:solidFill>
              </a:defRPr>
            </a:pPr>
            <a:r>
              <a:t>Sécuriser le B2C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E1C334-FF79-4496-AE69-00615EAF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381375"/>
            <a:ext cx="2619375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</a:defRPr>
            </a:pPr>
            <a:r>
              <a:t>• architecture cloud et IaC
• IAM, OIDC et secrets
• pseudonymisation et purge
• rétention et sauvegardes
• tests sécurité et charge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0471C4-AF85-485A-B86E-A823D6E9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24050"/>
            <a:ext cx="3333750" cy="3714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B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3412B7-8419-4C31-97ED-8E55776B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90750"/>
            <a:ext cx="666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7A66"/>
                </a:solidFill>
              </a:defRPr>
            </a:pPr>
            <a: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C20BCA-418F-484E-9157-F2E14A9C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09875"/>
            <a:ext cx="2667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8182F"/>
                </a:solidFill>
              </a:defRPr>
            </a:pPr>
            <a:r>
              <a:t>Passer à l’échelle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C53D4A-B523-4DEA-A98C-A6648146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81375"/>
            <a:ext cx="2619375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</a:defRPr>
            </a:pPr>
            <a:r>
              <a:t>• autoscaling et files de tâches
• SLO, PRA et haute disponibilité
• canary / blue-green
• optimisation coût-latence
• extension multilingue validée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DFFBA9-E4C6-4138-9473-55389800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53125"/>
            <a:ext cx="10820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8182F"/>
                </a:solidFill>
              </a:defRPr>
            </a:pPr>
            <a:r>
              <a:t>Priorité recommandée : améliorer la donnée et la qualité sentiment avant d’augmenter l’autonomie du système.</a:t>
            </a:r>
          </a:p>
        </p:txBody>
      </p:sp>
    </p:spTree>
    <p:extLst>
      <p:ext uri="{BB962C8B-B14F-4D97-AF65-F5344CB8AC3E}">
        <p14:creationId xmlns:p14="http://schemas.microsoft.com/office/powerpoint/2010/main" val="18338907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68F216-4553-461A-8AF1-A56268D6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</a:defRPr>
            </a:pPr>
            <a:r>
              <a:t>DÉMONSTRATION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47EB3-D621-4A45-9B89-867786D4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"/>
            <a:ext cx="108108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8182F"/>
                </a:solidFill>
              </a:defRPr>
            </a:pPr>
            <a:r>
              <a:t>La démo vérifie trois promesses en direct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35388-D37B-41B4-A61A-3DC5D2C3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</a:defRPr>
            </a:pPr>
            <a: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CA28F-B4A3-4347-BAB2-308022C1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57375"/>
            <a:ext cx="3314700" cy="34290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0">
            <a:solidFill>
              <a:srgbClr val="E9F0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B27620-D005-4220-818C-AECAE2A2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714375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4F7CFF"/>
                </a:solidFill>
              </a:defRPr>
            </a:pPr>
            <a: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FD0FBA-8CDA-4267-9AF7-F57BF0EB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2476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8182F"/>
                </a:solidFill>
              </a:defRPr>
            </a:pPr>
            <a:r>
              <a:t>Analyser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FCCCF-3514-4023-BABB-1E944EDC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2476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44054"/>
                </a:solidFill>
              </a:defRPr>
            </a:pPr>
            <a:r>
              <a:t>un avis négatif SAV, puis un cas ambigu avec revue humaine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9C621E-55D4-4989-B54B-69537B51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57375"/>
            <a:ext cx="3314700" cy="34290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DDF7F1"/>
          </a:solidFill>
          <a:ln xmlns:a="http://schemas.openxmlformats.org/drawingml/2006/main" w="0">
            <a:solidFill>
              <a:srgbClr val="DDF7F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852E0E-1514-41F2-AA1C-46104396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90750"/>
            <a:ext cx="714375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22B8A7"/>
                </a:solidFill>
              </a:defRPr>
            </a:pPr>
            <a: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B8C2C8-E568-4AEF-971D-E31A12CA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43250"/>
            <a:ext cx="2476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8182F"/>
                </a:solidFill>
              </a:defRPr>
            </a:pPr>
            <a:r>
              <a:t>Tracer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F51012-192A-4A6D-A489-2554EC79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667125"/>
            <a:ext cx="2476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44054"/>
                </a:solidFill>
              </a:defRPr>
            </a:pPr>
            <a:r>
              <a:t>le run Dagster et le candidat enregistré dans MLflow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20184-CDD4-4EE6-8C07-21F4DC89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57375"/>
            <a:ext cx="3314700" cy="34290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solidFill>
              <a:srgbClr val="FFF0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CACDCC-0DCB-4666-88B2-878A739C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90750"/>
            <a:ext cx="714375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F7A66"/>
                </a:solidFill>
              </a:defRPr>
            </a:pPr>
            <a: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192303-FEBA-4676-A153-D509923A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43250"/>
            <a:ext cx="2476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8182F"/>
                </a:solidFill>
              </a:defRPr>
            </a:pPr>
            <a:r>
              <a:t>Détecter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F02E12-5CDA-4662-A02A-325494D6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67125"/>
            <a:ext cx="2476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44054"/>
                </a:solidFill>
              </a:defRPr>
            </a:pPr>
            <a:r>
              <a:t>la dérive, l’alerte et la recommandation sans promotion automatique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036AD7-E898-4C90-B821-595A0031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0"/>
            <a:ext cx="10820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667085"/>
                </a:solidFill>
              </a:defRPr>
            </a:pPr>
            <a:r>
              <a:t>Plan B si le live échoue : captures de validation horodatées et résultats machine-readables.</a:t>
            </a:r>
          </a:p>
        </p:txBody>
      </p:sp>
    </p:spTree>
    <p:extLst>
      <p:ext uri="{BB962C8B-B14F-4D97-AF65-F5344CB8AC3E}">
        <p14:creationId xmlns:p14="http://schemas.microsoft.com/office/powerpoint/2010/main" val="12622092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18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41EE77-4C9C-4C2C-A7FE-5D239771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228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</a:defRPr>
            </a:pPr>
            <a: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8A6128-1539-4507-8D37-9FC784B7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95375"/>
            <a:ext cx="10620375" cy="1190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FFFFF"/>
                </a:solidFill>
              </a:defRPr>
            </a:pPr>
            <a:r>
              <a:t>Le POC sait analyser, se surveiller et encadrer son évolution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CCF7E5-B7BC-483F-8210-4249590B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B8A7"/>
                </a:solidFill>
              </a:defRPr>
            </a:pPr>
            <a:r>
              <a:t>Aujourd’hui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A228F0-8FFA-4DB4-82FA-1F61B51E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71875"/>
            <a:ext cx="3048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t>une chaîne locale complète, testée et gouvernée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69454D-B9B4-418C-822F-1DADCF80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4325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2B84B"/>
                </a:solidFill>
              </a:defRPr>
            </a:pPr>
            <a:r>
              <a:t>Limite assumée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D690D0-C010-4B4D-87B7-AC7C15F9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71875"/>
            <a:ext cx="3381375" cy="1190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t>la qualité sentiment et le durcissement B2C ne sont pas encore au niveau production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895664-A50C-4973-9AAE-B9B38266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7A66"/>
                </a:solidFill>
              </a:defRPr>
            </a:pPr>
            <a:r>
              <a:t>Prochaine décision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EAD0EA-0685-46C8-9355-EFBFCB0D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71875"/>
            <a:ext cx="2857500" cy="1190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t>valider un pilote sur données réelles avant tout passage à l’échelle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6860CC-03C4-4073-A275-AEF1FE0E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solidFill>
              <a:srgbClr val="22B8A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45AB22-D158-402E-98A8-65B30540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108204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DDF7F1"/>
                </a:solidFill>
              </a:defRPr>
            </a:pPr>
            <a:r>
              <a:t>Questions du jury</a:t>
            </a:r>
          </a:p>
        </p:txBody>
      </p:sp>
    </p:spTree>
    <p:extLst>
      <p:ext uri="{BB962C8B-B14F-4D97-AF65-F5344CB8AC3E}">
        <p14:creationId xmlns:p14="http://schemas.microsoft.com/office/powerpoint/2010/main" val="194756265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86CB06-3351-4305-B6E3-60F41A76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</a:defRPr>
            </a:pPr>
            <a:r>
              <a:t>Q&amp;A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79F4B6-EE64-45BA-95DE-A0523909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"/>
            <a:ext cx="108108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8182F"/>
                </a:solidFill>
              </a:defRPr>
            </a:pPr>
            <a:r>
              <a:t>Annexe — preuves de validation finale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096A33-3630-4511-BBCE-06CB09A5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</a:defRPr>
            </a:pPr>
            <a: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CE220F-A4A7-4ED7-87CE-41A4A30F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62125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4F7CFF"/>
                </a:solidFill>
              </a:defRPr>
            </a:pPr>
            <a:r>
              <a:t>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5DC1BD-C535-4222-A381-EDAC1BC2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49530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8182F"/>
                </a:solidFill>
              </a:defRPr>
            </a:pPr>
            <a:r>
              <a:t>113 tests • 71,15 % couverture • Ruff propre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175229-9375-41BE-8008-D3E4D109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B8A7"/>
                </a:solidFill>
              </a:defRPr>
            </a:pPr>
            <a:r>
              <a:t>Runtime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533613-BA92-44D4-BB2E-839C5D15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71875"/>
            <a:ext cx="49530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8182F"/>
                </a:solidFill>
              </a:defRPr>
            </a:pPr>
            <a:r>
              <a:t>17 services • 11/11 endpoints • 10/10 smoke checks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F4D7B3-4A07-4B2D-B375-665D2A36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24375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2B84B"/>
                </a:solidFill>
              </a:defRPr>
            </a:pPr>
            <a:r>
              <a:t>Observabilité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1908A8-5597-41D0-B867-2C39AE18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0"/>
            <a:ext cx="49530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8182F"/>
                </a:solidFill>
              </a:defRPr>
            </a:pPr>
            <a:r>
              <a:t>13/13 targets UP • alertes de drift actives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F92378-9EFA-4477-BBAA-CCAE8D4E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1244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B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873125-AA30-435E-A358-EFB50518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000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8182F"/>
                </a:solidFill>
              </a:defRPr>
            </a:pPr>
            <a:r>
              <a:t>Reproductibilité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12CEE9-228A-4FA4-B8EA-E15374C2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40957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44054"/>
                </a:solidFill>
              </a:defRPr>
            </a:pPr>
            <a:r>
              <a:t>• commit enregistré dans le manifest
• checksums et splits déterministes
• CI, Docker Compose et scripts de smoke test
• captures et JSON de validation datés du 25 juillet 2026</a:t>
            </a:r>
          </a:p>
        </p:txBody>
      </p:sp>
    </p:spTree>
    <p:extLst>
      <p:ext uri="{BB962C8B-B14F-4D97-AF65-F5344CB8AC3E}">
        <p14:creationId xmlns:p14="http://schemas.microsoft.com/office/powerpoint/2010/main" val="17604142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39F78B-5162-42B0-AE87-6A2A373E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</a:defRPr>
            </a:pPr>
            <a:r>
              <a:t>QUESTIONS PROBABLES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9873C7-D995-487B-8EA4-6661669A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"/>
            <a:ext cx="108108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8182F"/>
                </a:solidFill>
              </a:defRPr>
            </a:pPr>
            <a:r>
              <a:t>Annexe — modèle, données et choix NLP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F4348-BC7B-4D7F-B590-89FDA3E6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</a:defRPr>
            </a:pPr>
            <a: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7EC7F-C362-4F66-B785-2B4A2F12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500062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7A66"/>
                </a:solidFill>
              </a:defRPr>
            </a:pPr>
            <a:r>
              <a:t>Pourquoi ne pas croire le score à 100 % 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02CB0E-0437-4C41-B191-49CB11BF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50006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44054"/>
                </a:solidFill>
              </a:defRPr>
            </a:pPr>
            <a:r>
              <a:t>Parce qu’il vient d’un petit jeu synthétique. La mesure de référence indépendante reste 57,5 % en sentiment.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DD5A8-8070-4CF7-A05E-E67BDC2B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0"/>
            <a:ext cx="500062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F7CFF"/>
                </a:solidFill>
              </a:defRPr>
            </a:pPr>
            <a:r>
              <a:t>Pourquoi l’anglais 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B5E45F-10F8-4831-B7F4-662C4738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5000625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44054"/>
                </a:solidFill>
              </a:defRPr>
            </a:pPr>
            <a:r>
              <a:t>Le périmètre de données et de modèles est calibré en anglais. Le multilingue nécessite des datasets et une validation dédiés.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2CBEB4-FF66-471D-8E07-9CA900C3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500062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B8A7"/>
                </a:solidFill>
              </a:defRPr>
            </a:pPr>
            <a:r>
              <a:t>Pourquoi pas directement un LLM 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9AF2DE-4217-4F9F-A885-F1B6AF41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5000625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44054"/>
                </a:solidFill>
              </a:defRPr>
            </a:pPr>
            <a:r>
              <a:t>Le POC privilégie coût, latence, contrôle et reproductibilité. Un LLM peut être comparé ensuite sur un protocole identique.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132230-6B8F-4B18-B5F1-D0C0CCFE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0"/>
            <a:ext cx="500062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2B84B"/>
                </a:solidFill>
              </a:defRPr>
            </a:pPr>
            <a:r>
              <a:t>Comment éviter un mauvais retraining 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068E94-B31D-4222-97BD-0F6A4A2B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5000625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44054"/>
                </a:solidFill>
              </a:defRPr>
            </a:pPr>
            <a:r>
              <a:t>Nouveau dataset étiqueté, quality gates, candidat séparé, comparaison au champion, promotion contrôlée et rollback.</a:t>
            </a:r>
          </a:p>
        </p:txBody>
      </p:sp>
    </p:spTree>
    <p:extLst>
      <p:ext uri="{BB962C8B-B14F-4D97-AF65-F5344CB8AC3E}">
        <p14:creationId xmlns:p14="http://schemas.microsoft.com/office/powerpoint/2010/main" val="1342405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629A45-0A59-4D57-9FDB-83421148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</a:defRPr>
            </a:pPr>
            <a:r>
              <a:t>QUESTIONS PROBABLES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5A45F-DEDD-4B7D-9CA6-D502CAE6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"/>
            <a:ext cx="108108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8182F"/>
                </a:solidFill>
              </a:defRPr>
            </a:pPr>
            <a:r>
              <a:t>Annexe — sécurité API, données B2C et RGPD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25AC78-D58D-4F93-8A6D-A12EBEE9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</a:defRPr>
            </a:pPr>
            <a: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881A70-96AD-4446-835F-3210A72C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500062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7A66"/>
                </a:solidFill>
              </a:defRPr>
            </a:pPr>
            <a:r>
              <a:t>L’API key actuelle suffit-elle 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AD1BDF-21E6-4D9C-A032-F1C7916F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5000625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44054"/>
                </a:solidFill>
              </a:defRPr>
            </a:pPr>
            <a:r>
              <a:t>Non pour du B2C public. La cible ajoute OIDC/OAuth2, rôles, passerelle, WAF, rate limiting et rotation des secrets.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315A9-2A73-4064-8F98-07E5639E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0"/>
            <a:ext cx="500062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F7CFF"/>
                </a:solidFill>
              </a:defRPr>
            </a:pPr>
            <a:r>
              <a:t>Comment supprimer une donnée d’un modèle 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A1F45B-A190-443E-A324-4F50D12F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50006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44054"/>
                </a:solidFill>
              </a:defRPr>
            </a:pPr>
            <a:r>
              <a:t>Tracer la lignée, supprimer des stores et datasets dérivés, puis évaluer si un réentraînement sans la donnée est requis.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5A7C59-BE29-43DC-8A0E-080D34FD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500062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B8A7"/>
                </a:solidFill>
              </a:defRPr>
            </a:pPr>
            <a:r>
              <a:t>Êtes-vous conforme au RGPD 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D1128C-D3D0-4E76-974F-A40EEAAE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5000625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44054"/>
                </a:solidFill>
              </a:defRPr>
            </a:pPr>
            <a:r>
              <a:t>Le POC applique des principes techniques, mais la conformité finale exige finalité, base légale, information, droits, contrats et gouvernance DPO.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798A0B-4C16-4709-91E6-0854DB3E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500062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2B84B"/>
                </a:solidFill>
              </a:defRPr>
            </a:pPr>
            <a:r>
              <a:t>Faut-il une AIPD 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740AA8-B0A7-40AD-B9DC-AEA99DCC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86250"/>
            <a:ext cx="50006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44054"/>
                </a:solidFill>
              </a:defRPr>
            </a:pPr>
            <a:r>
              <a:t>À évaluer avant le pilote ; elle devient obligatoire si le traitement est susceptible d’engendrer un risque élevé.</a:t>
            </a:r>
          </a:p>
        </p:txBody>
      </p:sp>
    </p:spTree>
    <p:extLst>
      <p:ext uri="{BB962C8B-B14F-4D97-AF65-F5344CB8AC3E}">
        <p14:creationId xmlns:p14="http://schemas.microsoft.com/office/powerpoint/2010/main" val="173614927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66E74A-4EE7-4712-B0D8-360EDAD0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</a:defRPr>
            </a:pPr>
            <a:r>
              <a:t>QUESTIONS PROBABLES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DE2B7-5659-42D1-B21F-E629C182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"/>
            <a:ext cx="108108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8182F"/>
                </a:solidFill>
              </a:defRPr>
            </a:pPr>
            <a:r>
              <a:t>Annexe — passage à l’échelle et coût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B9AD6-BFE4-48D0-B9B6-9C2DF79D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</a:defRPr>
            </a:pPr>
            <a: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DCD350-66D5-4F70-9155-5D27A005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62125"/>
            <a:ext cx="3048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4F7CFF"/>
                </a:solidFill>
              </a:defRPr>
            </a:pPr>
            <a:r>
              <a:t>Scalabilité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CB476D-625F-42F3-B210-2DC19B57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33625"/>
            <a:ext cx="447675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44054"/>
                </a:solidFill>
              </a:defRPr>
            </a:pPr>
            <a:r>
              <a:t>• API stateless réplicable
• autoscaling horizontal
• file asynchrone pour le batch
• cache et modèles chargés au démarrage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A5A0EC-4C50-4373-A1AD-2AD37E67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24375"/>
            <a:ext cx="3048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2B8A7"/>
                </a:solidFill>
              </a:defRPr>
            </a:pPr>
            <a:r>
              <a:t>Résilience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99D49D-A7D9-4350-ACFB-8488F9B3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00625"/>
            <a:ext cx="447675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44054"/>
                </a:solidFill>
              </a:defRPr>
            </a:pPr>
            <a:r>
              <a:t>multi-zone, sauvegardes testées, PRA, SLO et déploiement canary restent à construire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1DF85-96E5-49FC-BB1C-005EA373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1244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08182F"/>
          </a:solidFill>
          <a:ln xmlns:a="http://schemas.openxmlformats.org/drawingml/2006/main" w="0">
            <a:solidFill>
              <a:srgbClr val="08182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71A9F-C199-4872-BFA0-1C7940D8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4286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</a:defRPr>
            </a:pPr>
            <a:r>
              <a:t>Comment estimer le coût 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CC50F6-297E-4CF5-B3A1-990E316A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409575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E7EBF2"/>
                </a:solidFill>
              </a:defRPr>
            </a:pPr>
            <a:r>
              <a:t>Le dépôt ne contient pas encore de profil de charge réel. Le bon ordre est : mesurer volume, latence et taille batch sur un pilote, puis dimensionner compute, stockage, observabilité et trafic.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7F5F84-73CC-4C2F-9EF0-E8E90C75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05375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2B8A7"/>
                </a:solidFill>
              </a:defRPr>
            </a:pPr>
            <a:r>
              <a:t>Réponse honnête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79AC08-C6C0-4944-A4E9-09D5E97A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57750"/>
            <a:ext cx="2667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t>pas de chiffre sans hypothèses de trafic</a:t>
            </a:r>
          </a:p>
        </p:txBody>
      </p:sp>
    </p:spTree>
    <p:extLst>
      <p:ext uri="{BB962C8B-B14F-4D97-AF65-F5344CB8AC3E}">
        <p14:creationId xmlns:p14="http://schemas.microsoft.com/office/powerpoint/2010/main" val="137410621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D195E7-16AC-4D7E-A5E8-FF82207B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</a:defRPr>
            </a:pPr>
            <a:r>
              <a:t>DÉCISION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8B0CA1-24C7-4D81-8CA9-895F046A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"/>
            <a:ext cx="108108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8182F"/>
                </a:solidFill>
              </a:defRPr>
            </a:pPr>
            <a:r>
              <a:t>Annexe — risques principaux et critères de sortie du pilote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40D9A-23D4-441A-9BC9-C17E5678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</a:defRPr>
            </a:pPr>
            <a: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DE131-3649-4804-808F-E15A3D26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66875"/>
            <a:ext cx="2190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085"/>
                </a:solidFill>
              </a:defRPr>
            </a:pPr>
            <a:r>
              <a:t>Risque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2A334F-B8D7-4AC8-AB36-AA829787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66875"/>
            <a:ext cx="400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085"/>
                </a:solidFill>
              </a:defRPr>
            </a:pPr>
            <a:r>
              <a:t>Réduction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F79866-0D1C-45C3-A981-AAB239F5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66875"/>
            <a:ext cx="27146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085"/>
                </a:solidFill>
              </a:defRPr>
            </a:pPr>
            <a:r>
              <a:t>Critère de sortie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7E3B87-2F7F-41BB-9FE9-DEA565A1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F2"/>
          </a:solidFill>
          <a:ln xmlns:a="http://schemas.openxmlformats.org/drawingml/2006/main" w="0">
            <a:solidFill>
              <a:srgbClr val="E7EB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9F7619-A76A-4931-B646-99F02687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0"/>
            <a:ext cx="285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7A66"/>
                </a:solidFill>
              </a:defRPr>
            </a:pPr>
            <a:r>
              <a:t>Sentiment insuffisant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98F4E-5C72-4555-88FD-180C0EE0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86000"/>
            <a:ext cx="4000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44054"/>
                </a:solidFill>
              </a:defRPr>
            </a:pPr>
            <a:r>
              <a:t>dataset réel, annotation, calibration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0DC815-516C-49FE-90AD-439470E1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0"/>
            <a:ext cx="261937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182F"/>
                </a:solidFill>
              </a:defRPr>
            </a:pPr>
            <a:r>
              <a:t>seuil validé par cas d’usage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1C5C9D-C80A-4C7E-817E-D407B1AB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F2"/>
          </a:solidFill>
          <a:ln xmlns:a="http://schemas.openxmlformats.org/drawingml/2006/main" w="0">
            <a:solidFill>
              <a:srgbClr val="E7EB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5CD8F0-F9CD-494E-B234-057D8B53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62300"/>
            <a:ext cx="285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4F7CFF"/>
                </a:solidFill>
              </a:defRPr>
            </a:pPr>
            <a:r>
              <a:t>Données personnelles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AAEAA0-0C32-4A9D-9FFD-9148B994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62300"/>
            <a:ext cx="4000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44054"/>
                </a:solidFill>
              </a:defRPr>
            </a:pPr>
            <a:r>
              <a:t>minimisation, pseudonymisation, purge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F9BBFB-ED7F-485A-A222-F8D26554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62300"/>
            <a:ext cx="261937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182F"/>
                </a:solidFill>
              </a:defRPr>
            </a:pPr>
            <a:r>
              <a:t>registre + tests des droits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1D2D2F-2646-4C1A-8611-57AFD6D8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29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F2"/>
          </a:solidFill>
          <a:ln xmlns:a="http://schemas.openxmlformats.org/drawingml/2006/main" w="0">
            <a:solidFill>
              <a:srgbClr val="E7EB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BD9020-AD9D-461A-8CB2-A9401C20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38600"/>
            <a:ext cx="285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B8A7"/>
                </a:solidFill>
              </a:defRPr>
            </a:pPr>
            <a:r>
              <a:t>API exposée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C19700-FBA8-4F9D-BD5D-6EF528E7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38600"/>
            <a:ext cx="4000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44054"/>
                </a:solidFill>
              </a:defRPr>
            </a:pPr>
            <a:r>
              <a:t>gateway, OIDC, WAF, rate limits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977A3F-7BA8-40DC-A5A3-AC5FD896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38600"/>
            <a:ext cx="2619375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182F"/>
                </a:solidFill>
              </a:defRPr>
            </a:pPr>
            <a:r>
              <a:t>audit sécurité sans critique majeure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6C3DC2-2F81-4E47-A30C-FC5789C5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05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F2"/>
          </a:solidFill>
          <a:ln xmlns:a="http://schemas.openxmlformats.org/drawingml/2006/main" w="0">
            <a:solidFill>
              <a:srgbClr val="E7EB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89FD80-5C73-4737-B453-8B40A0FB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14900"/>
            <a:ext cx="285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2B84B"/>
                </a:solidFill>
              </a:defRPr>
            </a:pPr>
            <a:r>
              <a:t>Exploitation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D60AB5-6F9A-4D5D-BCB6-30926137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14900"/>
            <a:ext cx="4000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44054"/>
                </a:solidFill>
              </a:defRPr>
            </a:pPr>
            <a:r>
              <a:t>SLO, alertes, backups, PRA, charge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B70D38-433D-4FD1-A6B1-AF775176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14900"/>
            <a:ext cx="2619375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182F"/>
                </a:solidFill>
              </a:defRPr>
            </a:pPr>
            <a:r>
              <a:t>test de restauration + charge cible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85E16E-B088-49A0-81A7-A02A2010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53125"/>
            <a:ext cx="10820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F"/>
                </a:solidFill>
              </a:defRPr>
            </a:pPr>
            <a:r>
              <a:t>Décision proposée : lancer un pilote borné uniquement lorsque ces quatre gates ont un propriétaire et une preuve.</a:t>
            </a:r>
          </a:p>
        </p:txBody>
      </p:sp>
    </p:spTree>
    <p:extLst>
      <p:ext uri="{BB962C8B-B14F-4D97-AF65-F5344CB8AC3E}">
        <p14:creationId xmlns:p14="http://schemas.microsoft.com/office/powerpoint/2010/main" val="20770374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2026-07-25T13:11:57.5440000Z</dcterms:created>
  <dcterms:modified xsi:type="dcterms:W3CDTF">2026-07-25T13:11:57.5440000Z</dcterms:modified>
</coreProperties>
</file>